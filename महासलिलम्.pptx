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2" r:id="rId1"/>
  </p:sldMasterIdLst>
  <p:notesMasterIdLst>
    <p:notesMasterId r:id="rId118"/>
  </p:notesMasterIdLst>
  <p:handoutMasterIdLst>
    <p:handoutMasterId r:id="rId119"/>
  </p:handoutMasterIdLst>
  <p:sldIdLst>
    <p:sldId id="261" r:id="rId2"/>
    <p:sldId id="262" r:id="rId3"/>
    <p:sldId id="263" r:id="rId4"/>
    <p:sldId id="297" r:id="rId5"/>
    <p:sldId id="277" r:id="rId6"/>
    <p:sldId id="296" r:id="rId7"/>
    <p:sldId id="278" r:id="rId8"/>
    <p:sldId id="284" r:id="rId9"/>
    <p:sldId id="285" r:id="rId10"/>
    <p:sldId id="286" r:id="rId11"/>
    <p:sldId id="289" r:id="rId12"/>
    <p:sldId id="290" r:id="rId13"/>
    <p:sldId id="291" r:id="rId14"/>
    <p:sldId id="293" r:id="rId15"/>
    <p:sldId id="294" r:id="rId16"/>
    <p:sldId id="299" r:id="rId17"/>
    <p:sldId id="442" r:id="rId18"/>
    <p:sldId id="300" r:id="rId19"/>
    <p:sldId id="311" r:id="rId20"/>
    <p:sldId id="301" r:id="rId21"/>
    <p:sldId id="312" r:id="rId22"/>
    <p:sldId id="302" r:id="rId23"/>
    <p:sldId id="313" r:id="rId24"/>
    <p:sldId id="303" r:id="rId25"/>
    <p:sldId id="314" r:id="rId26"/>
    <p:sldId id="443" r:id="rId27"/>
    <p:sldId id="304" r:id="rId28"/>
    <p:sldId id="315" r:id="rId29"/>
    <p:sldId id="305" r:id="rId30"/>
    <p:sldId id="316" r:id="rId31"/>
    <p:sldId id="306" r:id="rId32"/>
    <p:sldId id="357" r:id="rId33"/>
    <p:sldId id="445" r:id="rId34"/>
    <p:sldId id="358" r:id="rId35"/>
    <p:sldId id="359" r:id="rId36"/>
    <p:sldId id="360" r:id="rId37"/>
    <p:sldId id="361" r:id="rId38"/>
    <p:sldId id="362" r:id="rId39"/>
    <p:sldId id="363" r:id="rId40"/>
    <p:sldId id="373" r:id="rId41"/>
    <p:sldId id="375" r:id="rId42"/>
    <p:sldId id="367" r:id="rId43"/>
    <p:sldId id="374" r:id="rId44"/>
    <p:sldId id="376" r:id="rId45"/>
    <p:sldId id="378" r:id="rId46"/>
    <p:sldId id="444" r:id="rId47"/>
    <p:sldId id="377" r:id="rId48"/>
    <p:sldId id="379" r:id="rId49"/>
    <p:sldId id="369" r:id="rId50"/>
    <p:sldId id="380" r:id="rId51"/>
    <p:sldId id="371" r:id="rId52"/>
    <p:sldId id="381" r:id="rId53"/>
    <p:sldId id="268" r:id="rId54"/>
    <p:sldId id="384" r:id="rId55"/>
    <p:sldId id="386" r:id="rId56"/>
    <p:sldId id="269" r:id="rId57"/>
    <p:sldId id="385" r:id="rId58"/>
    <p:sldId id="387" r:id="rId59"/>
    <p:sldId id="388" r:id="rId60"/>
    <p:sldId id="389" r:id="rId61"/>
    <p:sldId id="391" r:id="rId62"/>
    <p:sldId id="390" r:id="rId63"/>
    <p:sldId id="392" r:id="rId64"/>
    <p:sldId id="393" r:id="rId65"/>
    <p:sldId id="394" r:id="rId66"/>
    <p:sldId id="395" r:id="rId67"/>
    <p:sldId id="446" r:id="rId68"/>
    <p:sldId id="397" r:id="rId69"/>
    <p:sldId id="396" r:id="rId70"/>
    <p:sldId id="398" r:id="rId71"/>
    <p:sldId id="399" r:id="rId72"/>
    <p:sldId id="400" r:id="rId73"/>
    <p:sldId id="401" r:id="rId74"/>
    <p:sldId id="402" r:id="rId75"/>
    <p:sldId id="403" r:id="rId76"/>
    <p:sldId id="404" r:id="rId77"/>
    <p:sldId id="405" r:id="rId78"/>
    <p:sldId id="406" r:id="rId79"/>
    <p:sldId id="407" r:id="rId80"/>
    <p:sldId id="408" r:id="rId81"/>
    <p:sldId id="409" r:id="rId82"/>
    <p:sldId id="410" r:id="rId83"/>
    <p:sldId id="411" r:id="rId84"/>
    <p:sldId id="447" r:id="rId85"/>
    <p:sldId id="412" r:id="rId86"/>
    <p:sldId id="413" r:id="rId87"/>
    <p:sldId id="414" r:id="rId88"/>
    <p:sldId id="415" r:id="rId89"/>
    <p:sldId id="416" r:id="rId90"/>
    <p:sldId id="421" r:id="rId91"/>
    <p:sldId id="417" r:id="rId92"/>
    <p:sldId id="422" r:id="rId93"/>
    <p:sldId id="425" r:id="rId94"/>
    <p:sldId id="423" r:id="rId95"/>
    <p:sldId id="419" r:id="rId96"/>
    <p:sldId id="426" r:id="rId97"/>
    <p:sldId id="424" r:id="rId98"/>
    <p:sldId id="427" r:id="rId99"/>
    <p:sldId id="420" r:id="rId100"/>
    <p:sldId id="428" r:id="rId101"/>
    <p:sldId id="429" r:id="rId102"/>
    <p:sldId id="430" r:id="rId103"/>
    <p:sldId id="431" r:id="rId104"/>
    <p:sldId id="432" r:id="rId105"/>
    <p:sldId id="433" r:id="rId106"/>
    <p:sldId id="438" r:id="rId107"/>
    <p:sldId id="448" r:id="rId108"/>
    <p:sldId id="434" r:id="rId109"/>
    <p:sldId id="439" r:id="rId110"/>
    <p:sldId id="435" r:id="rId111"/>
    <p:sldId id="440" r:id="rId112"/>
    <p:sldId id="271" r:id="rId113"/>
    <p:sldId id="265" r:id="rId114"/>
    <p:sldId id="266" r:id="rId115"/>
    <p:sldId id="436" r:id="rId116"/>
    <p:sldId id="449" r:id="rId1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handoutMaster" Target="handoutMasters/handout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E75C41A-1985-FB81-64EF-3B158808CE4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92CF4886-590E-7377-30C4-E6DC91B543D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5CC1458-76D9-42DB-BC9B-EAED3B462704}" type="datetimeFigureOut">
              <a:rPr lang="en-IN" smtClean="0"/>
              <a:t>05-04-2025</a:t>
            </a:fld>
            <a:endParaRPr lang="en-IN"/>
          </a:p>
        </p:txBody>
      </p:sp>
      <p:sp>
        <p:nvSpPr>
          <p:cNvPr id="4" name="Footer Placeholder 3">
            <a:extLst>
              <a:ext uri="{FF2B5EF4-FFF2-40B4-BE49-F238E27FC236}">
                <a16:creationId xmlns:a16="http://schemas.microsoft.com/office/drawing/2014/main" id="{91DD5467-ACC8-AF23-99C2-E866E3BE4D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hi-IN"/>
              <a:t>दीप्ति </a:t>
            </a:r>
            <a:endParaRPr lang="en-IN"/>
          </a:p>
        </p:txBody>
      </p:sp>
      <p:sp>
        <p:nvSpPr>
          <p:cNvPr id="5" name="Slide Number Placeholder 4">
            <a:extLst>
              <a:ext uri="{FF2B5EF4-FFF2-40B4-BE49-F238E27FC236}">
                <a16:creationId xmlns:a16="http://schemas.microsoft.com/office/drawing/2014/main" id="{719B3B60-F6A9-B7D7-AA40-085FE2250D9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8D3F25-809F-42B6-87C9-55B22F14867E}" type="slidenum">
              <a:rPr lang="en-IN" smtClean="0"/>
              <a:t>‹#›</a:t>
            </a:fld>
            <a:endParaRPr lang="en-IN"/>
          </a:p>
        </p:txBody>
      </p:sp>
    </p:spTree>
    <p:extLst>
      <p:ext uri="{BB962C8B-B14F-4D97-AF65-F5344CB8AC3E}">
        <p14:creationId xmlns:p14="http://schemas.microsoft.com/office/powerpoint/2010/main" val="185057098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B7DA66-BCEA-4169-9030-CD9139A1EAFE}" type="datetimeFigureOut">
              <a:rPr lang="en-IN" smtClean="0"/>
              <a:t>05-04-2025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hi-IN"/>
              <a:t>दीप्ति </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DB14E4-8D14-4D3E-A50B-F0CC35493552}" type="slidenum">
              <a:rPr lang="en-IN" smtClean="0"/>
              <a:t>‹#›</a:t>
            </a:fld>
            <a:endParaRPr lang="en-IN"/>
          </a:p>
        </p:txBody>
      </p:sp>
    </p:spTree>
    <p:extLst>
      <p:ext uri="{BB962C8B-B14F-4D97-AF65-F5344CB8AC3E}">
        <p14:creationId xmlns:p14="http://schemas.microsoft.com/office/powerpoint/2010/main" val="30530672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Title 7">
            <a:extLst>
              <a:ext uri="{FF2B5EF4-FFF2-40B4-BE49-F238E27FC236}">
                <a16:creationId xmlns:a16="http://schemas.microsoft.com/office/drawing/2014/main" id="{4DB041FC-B93F-B7E1-8AAD-63939FC80AAC}"/>
              </a:ext>
            </a:extLst>
          </p:cNvPr>
          <p:cNvSpPr>
            <a:spLocks noGrp="1"/>
          </p:cNvSpPr>
          <p:nvPr>
            <p:ph type="title"/>
          </p:nvPr>
        </p:nvSpPr>
        <p:spPr/>
        <p:txBody>
          <a:bodyPr/>
          <a:lstStyle/>
          <a:p>
            <a:r>
              <a:rPr lang="en-US"/>
              <a:t>Click to edit Master title style</a:t>
            </a:r>
            <a:endParaRPr lang="en-IN"/>
          </a:p>
        </p:txBody>
      </p:sp>
      <p:sp>
        <p:nvSpPr>
          <p:cNvPr id="11" name="Footer Placeholder 10">
            <a:extLst>
              <a:ext uri="{FF2B5EF4-FFF2-40B4-BE49-F238E27FC236}">
                <a16:creationId xmlns:a16="http://schemas.microsoft.com/office/drawing/2014/main" id="{A035FB5E-EBCA-4683-C05C-A7CAC1292364}"/>
              </a:ext>
            </a:extLst>
          </p:cNvPr>
          <p:cNvSpPr>
            <a:spLocks noGrp="1"/>
          </p:cNvSpPr>
          <p:nvPr>
            <p:ph type="ftr" sz="quarter" idx="11"/>
          </p:nvPr>
        </p:nvSpPr>
        <p:spPr>
          <a:xfrm>
            <a:off x="0" y="6492875"/>
            <a:ext cx="7772400" cy="365125"/>
          </a:xfrm>
        </p:spPr>
        <p:txBody>
          <a:bodyPr/>
          <a:lstStyle/>
          <a:p>
            <a:r>
              <a:rPr lang="en-IN"/>
              <a:t>महासलिलम् </a:t>
            </a:r>
            <a:r>
              <a:rPr lang="en-IN" sz="1400"/>
              <a:t>(</a:t>
            </a:r>
            <a:r>
              <a:rPr lang="hi-IN" sz="1400"/>
              <a:t>दीप्ति हरिहरण्</a:t>
            </a:r>
            <a:r>
              <a:rPr lang="en-IN" sz="1400"/>
              <a:t>)</a:t>
            </a:r>
          </a:p>
        </p:txBody>
      </p:sp>
      <p:sp>
        <p:nvSpPr>
          <p:cNvPr id="12" name="Slide Number Placeholder 11">
            <a:extLst>
              <a:ext uri="{FF2B5EF4-FFF2-40B4-BE49-F238E27FC236}">
                <a16:creationId xmlns:a16="http://schemas.microsoft.com/office/drawing/2014/main" id="{306A8009-F52F-791E-DA2C-15B999EAD2B0}"/>
              </a:ext>
            </a:extLst>
          </p:cNvPr>
          <p:cNvSpPr>
            <a:spLocks noGrp="1"/>
          </p:cNvSpPr>
          <p:nvPr>
            <p:ph type="sldNum" sz="quarter" idx="12"/>
          </p:nvPr>
        </p:nvSpPr>
        <p:spPr>
          <a:xfrm>
            <a:off x="9448800" y="6486172"/>
            <a:ext cx="2743200" cy="365125"/>
          </a:xfrm>
        </p:spPr>
        <p:txBody>
          <a:bodyPr/>
          <a:lstStyle/>
          <a:p>
            <a:fld id="{5AFE2CDC-18D4-4E7A-A4BC-D5EDA5D6481E}" type="slidenum">
              <a:rPr lang="en-IN" smtClean="0"/>
              <a:t>‹#›</a:t>
            </a:fld>
            <a:endParaRPr lang="en-IN"/>
          </a:p>
        </p:txBody>
      </p:sp>
    </p:spTree>
    <p:extLst>
      <p:ext uri="{BB962C8B-B14F-4D97-AF65-F5344CB8AC3E}">
        <p14:creationId xmlns:p14="http://schemas.microsoft.com/office/powerpoint/2010/main" val="607091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595360" y="6356350"/>
            <a:ext cx="2910840" cy="365125"/>
          </a:xfrm>
          <a:prstGeom prst="rect">
            <a:avLst/>
          </a:prstGeom>
        </p:spPr>
        <p:txBody>
          <a:bodyPr/>
          <a:lstStyle/>
          <a:p>
            <a:endParaRPr lang="en-IN"/>
          </a:p>
        </p:txBody>
      </p:sp>
      <p:sp>
        <p:nvSpPr>
          <p:cNvPr id="5" name="Footer Placeholder 4"/>
          <p:cNvSpPr>
            <a:spLocks noGrp="1"/>
          </p:cNvSpPr>
          <p:nvPr>
            <p:ph type="ftr" sz="quarter" idx="11"/>
          </p:nvPr>
        </p:nvSpPr>
        <p:spPr/>
        <p:txBody>
          <a:bodyPr/>
          <a:lstStyle>
            <a:lvl1pPr>
              <a:defRPr sz="2000"/>
            </a:lvl1pPr>
          </a:lstStyle>
          <a:p>
            <a:r>
              <a:rPr lang="en-IN"/>
              <a:t>महासलिलम् </a:t>
            </a:r>
            <a:r>
              <a:rPr lang="en-IN" sz="1400"/>
              <a:t>(</a:t>
            </a:r>
            <a:r>
              <a:rPr lang="hi-IN" sz="1400"/>
              <a:t>दीप्ति हरिहरण्</a:t>
            </a:r>
            <a:r>
              <a:rPr lang="en-IN" sz="1400"/>
              <a:t>)</a:t>
            </a:r>
          </a:p>
        </p:txBody>
      </p:sp>
      <p:sp>
        <p:nvSpPr>
          <p:cNvPr id="6" name="Slide Number Placeholder 5"/>
          <p:cNvSpPr>
            <a:spLocks noGrp="1"/>
          </p:cNvSpPr>
          <p:nvPr>
            <p:ph type="sldNum" sz="quarter" idx="12"/>
          </p:nvPr>
        </p:nvSpPr>
        <p:spPr/>
        <p:txBody>
          <a:bodyPr/>
          <a:lstStyle>
            <a:lvl1pPr>
              <a:defRPr sz="2000"/>
            </a:lvl1pPr>
          </a:lstStyle>
          <a:p>
            <a:fld id="{5AFE2CDC-18D4-4E7A-A4BC-D5EDA5D6481E}" type="slidenum">
              <a:rPr lang="en-IN" smtClean="0"/>
              <a:pPr/>
              <a:t>‹#›</a:t>
            </a:fld>
            <a:endParaRPr lang="en-IN"/>
          </a:p>
        </p:txBody>
      </p:sp>
    </p:spTree>
    <p:extLst>
      <p:ext uri="{BB962C8B-B14F-4D97-AF65-F5344CB8AC3E}">
        <p14:creationId xmlns:p14="http://schemas.microsoft.com/office/powerpoint/2010/main" val="2482677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0" y="753533"/>
            <a:ext cx="12192000" cy="2801935"/>
          </a:xfrm>
        </p:spPr>
        <p:txBody>
          <a:bodyPr anchor="b">
            <a:normAutofit/>
          </a:bodyPr>
          <a:lstStyle>
            <a:lvl1pPr algn="r">
              <a:defRPr sz="4000"/>
            </a:lvl1pPr>
          </a:lstStyle>
          <a:p>
            <a:r>
              <a:rPr lang="en-US"/>
              <a:t>Click to edit Master title style</a:t>
            </a:r>
            <a:endParaRPr lang="en-US" dirty="0"/>
          </a:p>
        </p:txBody>
      </p:sp>
      <p:sp>
        <p:nvSpPr>
          <p:cNvPr id="6" name="Slide Number Placeholder 5"/>
          <p:cNvSpPr>
            <a:spLocks noGrp="1"/>
          </p:cNvSpPr>
          <p:nvPr>
            <p:ph type="sldNum" sz="quarter" idx="12"/>
          </p:nvPr>
        </p:nvSpPr>
        <p:spPr>
          <a:xfrm>
            <a:off x="11548252" y="6492875"/>
            <a:ext cx="643748" cy="365125"/>
          </a:xfrm>
        </p:spPr>
        <p:txBody>
          <a:bodyPr/>
          <a:lstStyle/>
          <a:p>
            <a:fld id="{5AFE2CDC-18D4-4E7A-A4BC-D5EDA5D6481E}" type="slidenum">
              <a:rPr lang="en-IN" smtClean="0"/>
              <a:t>‹#›</a:t>
            </a:fld>
            <a:endParaRPr lang="en-IN"/>
          </a:p>
        </p:txBody>
      </p:sp>
      <p:sp>
        <p:nvSpPr>
          <p:cNvPr id="7" name="Footer Placeholder 4">
            <a:extLst>
              <a:ext uri="{FF2B5EF4-FFF2-40B4-BE49-F238E27FC236}">
                <a16:creationId xmlns:a16="http://schemas.microsoft.com/office/drawing/2014/main" id="{632A9E48-91ED-316B-055B-85D51CBE3183}"/>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22911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595360" y="6356350"/>
            <a:ext cx="291084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5AFE2CDC-18D4-4E7A-A4BC-D5EDA5D6481E}" type="slidenum">
              <a:rPr lang="en-IN" smtClean="0"/>
              <a:t>‹#›</a:t>
            </a:fld>
            <a:endParaRPr lang="en-IN"/>
          </a:p>
        </p:txBody>
      </p:sp>
      <p:sp>
        <p:nvSpPr>
          <p:cNvPr id="8" name="Footer Placeholder 4">
            <a:extLst>
              <a:ext uri="{FF2B5EF4-FFF2-40B4-BE49-F238E27FC236}">
                <a16:creationId xmlns:a16="http://schemas.microsoft.com/office/drawing/2014/main" id="{A14D3CD4-3E62-DBCD-7961-38307BAC8DF6}"/>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3910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595360" y="6356350"/>
            <a:ext cx="2910840" cy="365125"/>
          </a:xfrm>
          <a:prstGeom prst="rect">
            <a:avLst/>
          </a:prstGeom>
        </p:spPr>
        <p:txBody>
          <a:bodyPr/>
          <a:lstStyle/>
          <a:p>
            <a:endParaRPr lang="en-IN"/>
          </a:p>
        </p:txBody>
      </p:sp>
      <p:sp>
        <p:nvSpPr>
          <p:cNvPr id="9" name="Slide Number Placeholder 8"/>
          <p:cNvSpPr>
            <a:spLocks noGrp="1"/>
          </p:cNvSpPr>
          <p:nvPr>
            <p:ph type="sldNum" sz="quarter" idx="12"/>
          </p:nvPr>
        </p:nvSpPr>
        <p:spPr/>
        <p:txBody>
          <a:bodyPr/>
          <a:lstStyle/>
          <a:p>
            <a:fld id="{5AFE2CDC-18D4-4E7A-A4BC-D5EDA5D6481E}" type="slidenum">
              <a:rPr lang="en-IN" smtClean="0"/>
              <a:t>‹#›</a:t>
            </a:fld>
            <a:endParaRPr lang="en-IN"/>
          </a:p>
        </p:txBody>
      </p:sp>
      <p:sp>
        <p:nvSpPr>
          <p:cNvPr id="10" name="Footer Placeholder 4">
            <a:extLst>
              <a:ext uri="{FF2B5EF4-FFF2-40B4-BE49-F238E27FC236}">
                <a16:creationId xmlns:a16="http://schemas.microsoft.com/office/drawing/2014/main" id="{C87B79B8-30FD-9753-57DF-65665133F23E}"/>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332227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8595360" y="6356350"/>
            <a:ext cx="2910840" cy="365125"/>
          </a:xfrm>
          <a:prstGeom prst="rect">
            <a:avLst/>
          </a:prstGeom>
        </p:spPr>
        <p:txBody>
          <a:bodyPr/>
          <a:lstStyle/>
          <a:p>
            <a:endParaRPr lang="en-IN"/>
          </a:p>
        </p:txBody>
      </p:sp>
      <p:sp>
        <p:nvSpPr>
          <p:cNvPr id="5" name="Slide Number Placeholder 4"/>
          <p:cNvSpPr>
            <a:spLocks noGrp="1"/>
          </p:cNvSpPr>
          <p:nvPr>
            <p:ph type="sldNum" sz="quarter" idx="12"/>
          </p:nvPr>
        </p:nvSpPr>
        <p:spPr/>
        <p:txBody>
          <a:bodyPr/>
          <a:lstStyle/>
          <a:p>
            <a:fld id="{5AFE2CDC-18D4-4E7A-A4BC-D5EDA5D6481E}" type="slidenum">
              <a:rPr lang="en-IN" smtClean="0"/>
              <a:t>‹#›</a:t>
            </a:fld>
            <a:endParaRPr lang="en-IN"/>
          </a:p>
        </p:txBody>
      </p:sp>
      <p:sp>
        <p:nvSpPr>
          <p:cNvPr id="6" name="Footer Placeholder 4">
            <a:extLst>
              <a:ext uri="{FF2B5EF4-FFF2-40B4-BE49-F238E27FC236}">
                <a16:creationId xmlns:a16="http://schemas.microsoft.com/office/drawing/2014/main" id="{920FF40B-4B71-7DAE-3119-9B5E788EA181}"/>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691907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595360" y="6356350"/>
            <a:ext cx="2910840" cy="365125"/>
          </a:xfrm>
          <a:prstGeom prst="rect">
            <a:avLst/>
          </a:prstGeom>
        </p:spPr>
        <p:txBody>
          <a:bodyPr/>
          <a:lstStyle/>
          <a:p>
            <a:endParaRPr lang="en-IN"/>
          </a:p>
        </p:txBody>
      </p:sp>
      <p:sp>
        <p:nvSpPr>
          <p:cNvPr id="4" name="Slide Number Placeholder 3"/>
          <p:cNvSpPr>
            <a:spLocks noGrp="1"/>
          </p:cNvSpPr>
          <p:nvPr>
            <p:ph type="sldNum" sz="quarter" idx="12"/>
          </p:nvPr>
        </p:nvSpPr>
        <p:spPr/>
        <p:txBody>
          <a:bodyPr/>
          <a:lstStyle/>
          <a:p>
            <a:fld id="{5AFE2CDC-18D4-4E7A-A4BC-D5EDA5D6481E}" type="slidenum">
              <a:rPr lang="en-IN" smtClean="0"/>
              <a:t>‹#›</a:t>
            </a:fld>
            <a:endParaRPr lang="en-IN"/>
          </a:p>
        </p:txBody>
      </p:sp>
      <p:sp>
        <p:nvSpPr>
          <p:cNvPr id="5" name="Footer Placeholder 4">
            <a:extLst>
              <a:ext uri="{FF2B5EF4-FFF2-40B4-BE49-F238E27FC236}">
                <a16:creationId xmlns:a16="http://schemas.microsoft.com/office/drawing/2014/main" id="{E074FAEB-FE05-E97A-030C-49C297A28FEE}"/>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153830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595360" y="6356350"/>
            <a:ext cx="291084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5AFE2CDC-18D4-4E7A-A4BC-D5EDA5D6481E}" type="slidenum">
              <a:rPr lang="en-IN" smtClean="0"/>
              <a:t>‹#›</a:t>
            </a:fld>
            <a:endParaRPr lang="en-IN"/>
          </a:p>
        </p:txBody>
      </p:sp>
      <p:sp>
        <p:nvSpPr>
          <p:cNvPr id="8" name="Footer Placeholder 4">
            <a:extLst>
              <a:ext uri="{FF2B5EF4-FFF2-40B4-BE49-F238E27FC236}">
                <a16:creationId xmlns:a16="http://schemas.microsoft.com/office/drawing/2014/main" id="{1D2B15D5-794A-99AD-0EBD-87887AFDF5E4}"/>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4210924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595360" y="6356350"/>
            <a:ext cx="291084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5AFE2CDC-18D4-4E7A-A4BC-D5EDA5D6481E}" type="slidenum">
              <a:rPr lang="en-IN" smtClean="0"/>
              <a:t>‹#›</a:t>
            </a:fld>
            <a:endParaRPr lang="en-IN"/>
          </a:p>
        </p:txBody>
      </p:sp>
      <p:sp>
        <p:nvSpPr>
          <p:cNvPr id="8" name="Footer Placeholder 4">
            <a:extLst>
              <a:ext uri="{FF2B5EF4-FFF2-40B4-BE49-F238E27FC236}">
                <a16:creationId xmlns:a16="http://schemas.microsoft.com/office/drawing/2014/main" id="{F4658ED9-6EA9-6C17-E061-BEC519A43BB9}"/>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681599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595360" y="6356350"/>
            <a:ext cx="291084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5AFE2CDC-18D4-4E7A-A4BC-D5EDA5D6481E}" type="slidenum">
              <a:rPr lang="en-IN" smtClean="0"/>
              <a:t>‹#›</a:t>
            </a:fld>
            <a:endParaRPr lang="en-IN"/>
          </a:p>
        </p:txBody>
      </p:sp>
      <p:sp>
        <p:nvSpPr>
          <p:cNvPr id="8" name="Footer Placeholder 4">
            <a:extLst>
              <a:ext uri="{FF2B5EF4-FFF2-40B4-BE49-F238E27FC236}">
                <a16:creationId xmlns:a16="http://schemas.microsoft.com/office/drawing/2014/main" id="{FCE46821-1ADA-0E17-019A-8721F330E2DA}"/>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130106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a:xfrm>
            <a:off x="11548252" y="6484888"/>
            <a:ext cx="643748" cy="365125"/>
          </a:xfrm>
        </p:spPr>
        <p:txBody>
          <a:bodyPr/>
          <a:lstStyle/>
          <a:p>
            <a:fld id="{5AFE2CDC-18D4-4E7A-A4BC-D5EDA5D6481E}" type="slidenum">
              <a:rPr lang="en-IN" smtClean="0"/>
              <a:t>‹#›</a:t>
            </a:fld>
            <a:endParaRPr lang="en-IN"/>
          </a:p>
        </p:txBody>
      </p:sp>
      <p:sp>
        <p:nvSpPr>
          <p:cNvPr id="3" name="Footer Placeholder 4">
            <a:extLst>
              <a:ext uri="{FF2B5EF4-FFF2-40B4-BE49-F238E27FC236}">
                <a16:creationId xmlns:a16="http://schemas.microsoft.com/office/drawing/2014/main" id="{5052115D-BF0B-1CFE-B0C9-05E2135F1494}"/>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259094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a:xfrm>
            <a:off x="11548252" y="6492875"/>
            <a:ext cx="643748" cy="365125"/>
          </a:xfrm>
        </p:spPr>
        <p:txBody>
          <a:bodyPr/>
          <a:lstStyle/>
          <a:p>
            <a:fld id="{5AFE2CDC-18D4-4E7A-A4BC-D5EDA5D6481E}"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3" name="Footer Placeholder 4">
            <a:extLst>
              <a:ext uri="{FF2B5EF4-FFF2-40B4-BE49-F238E27FC236}">
                <a16:creationId xmlns:a16="http://schemas.microsoft.com/office/drawing/2014/main" id="{6A8998A6-9A8C-D808-2E70-63EB3E5C26F9}"/>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0340754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normAutofit/>
          </a:bodyPr>
          <a:lstStyle>
            <a:lvl1pPr algn="l">
              <a:defRPr sz="50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a:xfrm>
            <a:off x="11548252" y="6492875"/>
            <a:ext cx="643748" cy="365125"/>
          </a:xfrm>
        </p:spPr>
        <p:txBody>
          <a:bodyPr/>
          <a:lstStyle/>
          <a:p>
            <a:fld id="{5AFE2CDC-18D4-4E7A-A4BC-D5EDA5D6481E}" type="slidenum">
              <a:rPr lang="en-IN" smtClean="0"/>
              <a:t>‹#›</a:t>
            </a:fld>
            <a:endParaRPr lang="en-IN"/>
          </a:p>
        </p:txBody>
      </p:sp>
      <p:sp>
        <p:nvSpPr>
          <p:cNvPr id="3" name="Footer Placeholder 4">
            <a:extLst>
              <a:ext uri="{FF2B5EF4-FFF2-40B4-BE49-F238E27FC236}">
                <a16:creationId xmlns:a16="http://schemas.microsoft.com/office/drawing/2014/main" id="{A56247D5-9056-7402-B095-9E930205D3A2}"/>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3522873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8595360" y="6356350"/>
            <a:ext cx="2910840" cy="365125"/>
          </a:xfrm>
          <a:prstGeom prst="rect">
            <a:avLst/>
          </a:prstGeom>
        </p:spPr>
        <p:txBody>
          <a:bodyPr/>
          <a:lstStyle/>
          <a:p>
            <a:endParaRPr lang="en-IN"/>
          </a:p>
        </p:txBody>
      </p:sp>
      <p:sp>
        <p:nvSpPr>
          <p:cNvPr id="5" name="Slide Number Placeholder 4"/>
          <p:cNvSpPr>
            <a:spLocks noGrp="1"/>
          </p:cNvSpPr>
          <p:nvPr>
            <p:ph type="sldNum" sz="quarter" idx="12"/>
          </p:nvPr>
        </p:nvSpPr>
        <p:spPr/>
        <p:txBody>
          <a:bodyPr/>
          <a:lstStyle/>
          <a:p>
            <a:fld id="{5AFE2CDC-18D4-4E7A-A4BC-D5EDA5D6481E}" type="slidenum">
              <a:rPr lang="en-IN" smtClean="0"/>
              <a:t>‹#›</a:t>
            </a:fld>
            <a:endParaRPr lang="en-IN"/>
          </a:p>
        </p:txBody>
      </p:sp>
      <p:sp>
        <p:nvSpPr>
          <p:cNvPr id="2" name="Footer Placeholder 4">
            <a:extLst>
              <a:ext uri="{FF2B5EF4-FFF2-40B4-BE49-F238E27FC236}">
                <a16:creationId xmlns:a16="http://schemas.microsoft.com/office/drawing/2014/main" id="{A337C283-BA24-EB8C-36FB-B7EFB3B943EA}"/>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465914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8595360" y="6356350"/>
            <a:ext cx="2910840" cy="365125"/>
          </a:xfrm>
          <a:prstGeom prst="rect">
            <a:avLst/>
          </a:prstGeom>
        </p:spPr>
        <p:txBody>
          <a:bodyPr/>
          <a:lstStyle/>
          <a:p>
            <a:endParaRPr lang="en-IN"/>
          </a:p>
        </p:txBody>
      </p:sp>
      <p:sp>
        <p:nvSpPr>
          <p:cNvPr id="5" name="Slide Number Placeholder 4"/>
          <p:cNvSpPr>
            <a:spLocks noGrp="1"/>
          </p:cNvSpPr>
          <p:nvPr>
            <p:ph type="sldNum" sz="quarter" idx="12"/>
          </p:nvPr>
        </p:nvSpPr>
        <p:spPr/>
        <p:txBody>
          <a:bodyPr/>
          <a:lstStyle/>
          <a:p>
            <a:fld id="{5AFE2CDC-18D4-4E7A-A4BC-D5EDA5D6481E}" type="slidenum">
              <a:rPr lang="en-IN" smtClean="0"/>
              <a:t>‹#›</a:t>
            </a:fld>
            <a:endParaRPr lang="en-IN"/>
          </a:p>
        </p:txBody>
      </p:sp>
      <p:sp>
        <p:nvSpPr>
          <p:cNvPr id="2" name="Footer Placeholder 4">
            <a:extLst>
              <a:ext uri="{FF2B5EF4-FFF2-40B4-BE49-F238E27FC236}">
                <a16:creationId xmlns:a16="http://schemas.microsoft.com/office/drawing/2014/main" id="{985F9F9F-F3FB-05B8-C28E-6D28DFF362FF}"/>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922262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595360" y="6356350"/>
            <a:ext cx="291084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5AFE2CDC-18D4-4E7A-A4BC-D5EDA5D6481E}" type="slidenum">
              <a:rPr lang="en-IN" smtClean="0"/>
              <a:t>‹#›</a:t>
            </a:fld>
            <a:endParaRPr lang="en-IN"/>
          </a:p>
        </p:txBody>
      </p:sp>
      <p:sp>
        <p:nvSpPr>
          <p:cNvPr id="7" name="Footer Placeholder 4">
            <a:extLst>
              <a:ext uri="{FF2B5EF4-FFF2-40B4-BE49-F238E27FC236}">
                <a16:creationId xmlns:a16="http://schemas.microsoft.com/office/drawing/2014/main" id="{06160CD2-C4D1-3DCE-8100-59EA83B5436F}"/>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6130728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1548252" y="6492874"/>
            <a:ext cx="643748" cy="365125"/>
          </a:xfrm>
        </p:spPr>
        <p:txBody>
          <a:bodyPr/>
          <a:lstStyle/>
          <a:p>
            <a:fld id="{5AFE2CDC-18D4-4E7A-A4BC-D5EDA5D6481E}" type="slidenum">
              <a:rPr lang="en-IN" smtClean="0"/>
              <a:t>‹#›</a:t>
            </a:fld>
            <a:endParaRPr lang="en-IN"/>
          </a:p>
        </p:txBody>
      </p:sp>
      <p:sp>
        <p:nvSpPr>
          <p:cNvPr id="7" name="Footer Placeholder 4">
            <a:extLst>
              <a:ext uri="{FF2B5EF4-FFF2-40B4-BE49-F238E27FC236}">
                <a16:creationId xmlns:a16="http://schemas.microsoft.com/office/drawing/2014/main" id="{9EEAD7C0-B814-6A03-6CD0-B60DEE0E833F}"/>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4243438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0" y="6492875"/>
            <a:ext cx="7772400" cy="365125"/>
          </a:xfrm>
          <a:prstGeom prst="rect">
            <a:avLst/>
          </a:prstGeom>
        </p:spPr>
        <p:txBody>
          <a:bodyPr vert="horz" lIns="91440" tIns="45720" rIns="91440" bIns="45720" rtlCol="0" anchor="ctr"/>
          <a:lstStyle>
            <a:lvl1pPr algn="l">
              <a:defRPr sz="2000">
                <a:solidFill>
                  <a:schemeClr val="tx1">
                    <a:tint val="75000"/>
                  </a:schemeClr>
                </a:solidFill>
              </a:defRPr>
            </a:lvl1pPr>
          </a:lstStyle>
          <a:p>
            <a:r>
              <a:rPr lang="en-IN"/>
              <a:t>महासलिलम् </a:t>
            </a:r>
            <a:r>
              <a:rPr lang="en-IN" sz="1400"/>
              <a:t>(</a:t>
            </a:r>
            <a:r>
              <a:rPr lang="hi-IN" sz="1400"/>
              <a:t>दीप्ति हरिहरण्</a:t>
            </a:r>
            <a:r>
              <a:rPr lang="en-IN" sz="1400"/>
              <a:t>)</a:t>
            </a:r>
          </a:p>
        </p:txBody>
      </p:sp>
      <p:sp>
        <p:nvSpPr>
          <p:cNvPr id="6" name="Slide Number Placeholder 5"/>
          <p:cNvSpPr>
            <a:spLocks noGrp="1"/>
          </p:cNvSpPr>
          <p:nvPr>
            <p:ph type="sldNum" sz="quarter" idx="4"/>
          </p:nvPr>
        </p:nvSpPr>
        <p:spPr>
          <a:xfrm>
            <a:off x="9448800" y="6492874"/>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5AFE2CDC-18D4-4E7A-A4BC-D5EDA5D6481E}" type="slidenum">
              <a:rPr lang="en-IN" smtClean="0"/>
              <a:pPr/>
              <a:t>‹#›</a:t>
            </a:fld>
            <a:endParaRPr lang="en-IN"/>
          </a:p>
        </p:txBody>
      </p:sp>
    </p:spTree>
    <p:extLst>
      <p:ext uri="{BB962C8B-B14F-4D97-AF65-F5344CB8AC3E}">
        <p14:creationId xmlns:p14="http://schemas.microsoft.com/office/powerpoint/2010/main" val="1606561239"/>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hf hd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E20A7-FED4-5CAB-3BE2-AF8A5B1C88AA}"/>
              </a:ext>
            </a:extLst>
          </p:cNvPr>
          <p:cNvSpPr>
            <a:spLocks noGrp="1"/>
          </p:cNvSpPr>
          <p:nvPr>
            <p:ph type="ctrTitle"/>
          </p:nvPr>
        </p:nvSpPr>
        <p:spPr>
          <a:xfrm>
            <a:off x="1489587" y="1262631"/>
            <a:ext cx="9448800" cy="3093060"/>
          </a:xfrm>
        </p:spPr>
        <p:txBody>
          <a:bodyPr>
            <a:normAutofit/>
          </a:bodyPr>
          <a:lstStyle/>
          <a:p>
            <a:pPr algn="l"/>
            <a:r>
              <a:rPr lang="en-IN" sz="8800">
                <a:latin typeface="Sanskrit Text" panose="02020503050405020304" pitchFamily="18" charset="0"/>
                <a:cs typeface="Sanskrit Text" panose="02020503050405020304" pitchFamily="18" charset="0"/>
              </a:rPr>
              <a:t>महासलिलम्</a:t>
            </a:r>
          </a:p>
        </p:txBody>
      </p:sp>
      <p:sp>
        <p:nvSpPr>
          <p:cNvPr id="10" name="TextBox 9">
            <a:extLst>
              <a:ext uri="{FF2B5EF4-FFF2-40B4-BE49-F238E27FC236}">
                <a16:creationId xmlns:a16="http://schemas.microsoft.com/office/drawing/2014/main" id="{5F2568C4-A5D2-A4F1-94A4-69A4629BA1DE}"/>
              </a:ext>
            </a:extLst>
          </p:cNvPr>
          <p:cNvSpPr txBox="1"/>
          <p:nvPr/>
        </p:nvSpPr>
        <p:spPr>
          <a:xfrm>
            <a:off x="3106993" y="3429000"/>
            <a:ext cx="4798142" cy="1138773"/>
          </a:xfrm>
          <a:prstGeom prst="rect">
            <a:avLst/>
          </a:prstGeom>
          <a:noFill/>
        </p:spPr>
        <p:txBody>
          <a:bodyPr wrap="square" rtlCol="0">
            <a:spAutoFit/>
          </a:bodyPr>
          <a:lstStyle/>
          <a:p>
            <a:r>
              <a:rPr lang="en-IN" sz="3600">
                <a:latin typeface="Sanskrit Text" panose="02020503050405020304" pitchFamily="18" charset="0"/>
                <a:cs typeface="Sanskrit Text" panose="02020503050405020304" pitchFamily="18" charset="0"/>
              </a:rPr>
              <a:t>वेदाङ्गज्योतिषम्</a:t>
            </a:r>
            <a:br>
              <a:rPr lang="en-IN" sz="3200">
                <a:latin typeface="Sanskrit Text" panose="02020503050405020304" pitchFamily="18" charset="0"/>
                <a:cs typeface="Sanskrit Text" panose="02020503050405020304" pitchFamily="18" charset="0"/>
              </a:rPr>
            </a:br>
            <a:r>
              <a:rPr lang="en-IN" sz="3200">
                <a:latin typeface="Sanskrit Text" panose="02020503050405020304" pitchFamily="18" charset="0"/>
                <a:cs typeface="Sanskrit Text" panose="02020503050405020304" pitchFamily="18" charset="0"/>
              </a:rPr>
              <a:t>- </a:t>
            </a:r>
            <a:r>
              <a:rPr lang="en-IN" sz="2400">
                <a:latin typeface="Sanskrit Text" panose="02020503050405020304" pitchFamily="18" charset="0"/>
                <a:cs typeface="Sanskrit Text" panose="02020503050405020304" pitchFamily="18" charset="0"/>
              </a:rPr>
              <a:t>वृद्धगार्गीयज्योतिषे चतुर्विंशम् अङ्गम्</a:t>
            </a:r>
            <a:endParaRPr lang="en-IN" sz="2400"/>
          </a:p>
        </p:txBody>
      </p:sp>
      <p:sp>
        <p:nvSpPr>
          <p:cNvPr id="3" name="Footer Placeholder 4">
            <a:extLst>
              <a:ext uri="{FF2B5EF4-FFF2-40B4-BE49-F238E27FC236}">
                <a16:creationId xmlns:a16="http://schemas.microsoft.com/office/drawing/2014/main" id="{18EE9DEB-2A72-05E3-FDD9-D562FF8A398F}"/>
              </a:ext>
            </a:extLst>
          </p:cNvPr>
          <p:cNvSpPr>
            <a:spLocks noGrp="1"/>
          </p:cNvSpPr>
          <p:nvPr>
            <p:ph type="ftr" sz="quarter" idx="11"/>
          </p:nvPr>
        </p:nvSpPr>
        <p:spPr>
          <a:xfrm>
            <a:off x="0" y="6492875"/>
            <a:ext cx="7772400" cy="365125"/>
          </a:xfrm>
        </p:spPr>
        <p:txBody>
          <a:bodyPr/>
          <a:lstStyle>
            <a:lvl1pPr>
              <a:defRPr sz="2000"/>
            </a:lvl1pPr>
          </a:lstStyle>
          <a:p>
            <a:r>
              <a:rPr lang="hi-IN"/>
              <a:t>दीप्ति हरिहरण्</a:t>
            </a:r>
            <a:endParaRPr lang="en-IN"/>
          </a:p>
        </p:txBody>
      </p:sp>
    </p:spTree>
    <p:extLst>
      <p:ext uri="{BB962C8B-B14F-4D97-AF65-F5344CB8AC3E}">
        <p14:creationId xmlns:p14="http://schemas.microsoft.com/office/powerpoint/2010/main" val="1361104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270FB-2D28-7CED-4981-D0198BC2AC9E}"/>
              </a:ext>
            </a:extLst>
          </p:cNvPr>
          <p:cNvSpPr>
            <a:spLocks noGrp="1"/>
          </p:cNvSpPr>
          <p:nvPr>
            <p:ph type="title"/>
          </p:nvPr>
        </p:nvSpPr>
        <p:spPr/>
        <p:txBody>
          <a:bodyPr/>
          <a:lstStyle/>
          <a:p>
            <a:r>
              <a:rPr lang="en-IN"/>
              <a:t>ग्रन्थपरिचयः</a:t>
            </a:r>
          </a:p>
        </p:txBody>
      </p:sp>
      <p:sp>
        <p:nvSpPr>
          <p:cNvPr id="3" name="Content Placeholder 2">
            <a:extLst>
              <a:ext uri="{FF2B5EF4-FFF2-40B4-BE49-F238E27FC236}">
                <a16:creationId xmlns:a16="http://schemas.microsoft.com/office/drawing/2014/main" id="{338C21FF-DB8A-8CF7-22E9-9A5175289851}"/>
              </a:ext>
            </a:extLst>
          </p:cNvPr>
          <p:cNvSpPr>
            <a:spLocks noGrp="1"/>
          </p:cNvSpPr>
          <p:nvPr>
            <p:ph idx="1"/>
          </p:nvPr>
        </p:nvSpPr>
        <p:spPr>
          <a:xfrm>
            <a:off x="685800" y="2194560"/>
            <a:ext cx="8610600" cy="4024125"/>
          </a:xfrm>
        </p:spPr>
        <p:txBody>
          <a:bodyPr>
            <a:normAutofit fontScale="92500"/>
          </a:bodyPr>
          <a:lstStyle/>
          <a:p>
            <a:r>
              <a:rPr lang="en-IN"/>
              <a:t>अयं ग्रन्थं वेदाङ्गज्योतिषाङ्गम्।</a:t>
            </a:r>
          </a:p>
          <a:p>
            <a:pPr lvl="1"/>
            <a:r>
              <a:rPr lang="en-IN"/>
              <a:t>कालमाश्रित्य एवं वेदकार्याणि क्रियन्ते।</a:t>
            </a:r>
          </a:p>
          <a:p>
            <a:pPr lvl="1"/>
            <a:r>
              <a:rPr lang="en-IN"/>
              <a:t>कालं ऋतम् आश्रित्य भवति। ऋतञ्च ग्रहाणां चलनम् आश्रित्य भवति।</a:t>
            </a:r>
          </a:p>
          <a:p>
            <a:r>
              <a:rPr lang="en-IN"/>
              <a:t>वृद्धगर्गेण लिखितम्। </a:t>
            </a:r>
          </a:p>
          <a:p>
            <a:pPr lvl="1"/>
            <a:r>
              <a:rPr lang="en-IN"/>
              <a:t>आङ्गीरस-भारद्वाज-गोत्रः।</a:t>
            </a:r>
          </a:p>
          <a:p>
            <a:pPr lvl="1"/>
            <a:r>
              <a:rPr lang="en-IN"/>
              <a:t>तस्य आश्रमं भागीरथ्याः तीरे आसीत्।</a:t>
            </a:r>
          </a:p>
          <a:p>
            <a:r>
              <a:rPr lang="en-IN"/>
              <a:t>१३०० – १६०० </a:t>
            </a:r>
            <a:r>
              <a:rPr lang="en-IN" sz="1600"/>
              <a:t>BC</a:t>
            </a:r>
            <a:r>
              <a:rPr lang="en-IN"/>
              <a:t> शताब्दे मघादिकल्पे लिखितं ग्रन्थम्।</a:t>
            </a:r>
          </a:p>
          <a:p>
            <a:r>
              <a:rPr lang="en-IN" b="1">
                <a:solidFill>
                  <a:srgbClr val="FFFF00"/>
                </a:solidFill>
              </a:rPr>
              <a:t>सलिलम्</a:t>
            </a:r>
            <a:r>
              <a:rPr lang="en-IN"/>
              <a:t> – अन्धम्‌-तमः यस्मात् सृष्टिरभवत् </a:t>
            </a:r>
            <a:r>
              <a:rPr lang="en-IN" sz="1400" i="1"/>
              <a:t>(the primodial state of dark matter – Vedic ideation of the primodial sentient entity)</a:t>
            </a:r>
            <a:r>
              <a:rPr lang="en-IN"/>
              <a:t>।</a:t>
            </a:r>
          </a:p>
          <a:p>
            <a:r>
              <a:rPr lang="en-IN"/>
              <a:t>अयं ग्रन्थः सृष्टिविषयात् आरभ्य प्रपञ्चस्य निरीक्षणात्मकं वर्णनं करोति </a:t>
            </a:r>
            <a:r>
              <a:rPr lang="en-IN" sz="1400" i="1"/>
              <a:t>(observational cosmology)</a:t>
            </a:r>
            <a:r>
              <a:rPr lang="en-IN"/>
              <a:t>।</a:t>
            </a:r>
          </a:p>
          <a:p>
            <a:r>
              <a:rPr lang="en-IN"/>
              <a:t>अयं स्वातन्त्रिकः ब्राह्मणरीत्या लिखितः ग्रन्थः।</a:t>
            </a:r>
          </a:p>
        </p:txBody>
      </p:sp>
      <p:sp>
        <p:nvSpPr>
          <p:cNvPr id="9" name="Slide Number Placeholder 8">
            <a:extLst>
              <a:ext uri="{FF2B5EF4-FFF2-40B4-BE49-F238E27FC236}">
                <a16:creationId xmlns:a16="http://schemas.microsoft.com/office/drawing/2014/main" id="{4F10224F-9AB6-90BF-1CD1-A5D1418A0B41}"/>
              </a:ext>
            </a:extLst>
          </p:cNvPr>
          <p:cNvSpPr>
            <a:spLocks noGrp="1"/>
          </p:cNvSpPr>
          <p:nvPr>
            <p:ph type="sldNum" sz="quarter" idx="12"/>
          </p:nvPr>
        </p:nvSpPr>
        <p:spPr/>
        <p:txBody>
          <a:bodyPr/>
          <a:lstStyle/>
          <a:p>
            <a:fld id="{5AFE2CDC-18D4-4E7A-A4BC-D5EDA5D6481E}" type="slidenum">
              <a:rPr lang="en-IN" smtClean="0"/>
              <a:t>2</a:t>
            </a:fld>
            <a:endParaRPr lang="en-IN"/>
          </a:p>
        </p:txBody>
      </p:sp>
      <p:sp>
        <p:nvSpPr>
          <p:cNvPr id="4" name="Footer Placeholder 4">
            <a:extLst>
              <a:ext uri="{FF2B5EF4-FFF2-40B4-BE49-F238E27FC236}">
                <a16:creationId xmlns:a16="http://schemas.microsoft.com/office/drawing/2014/main" id="{EA8EEB0D-2AC7-421B-1AD4-ABFABE1A398D}"/>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pic>
        <p:nvPicPr>
          <p:cNvPr id="7" name="Picture 6">
            <a:extLst>
              <a:ext uri="{FF2B5EF4-FFF2-40B4-BE49-F238E27FC236}">
                <a16:creationId xmlns:a16="http://schemas.microsoft.com/office/drawing/2014/main" id="{808A7266-F17D-EE4A-2269-8F4AA43194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6400" y="1768656"/>
            <a:ext cx="2743199" cy="4324972"/>
          </a:xfrm>
          <a:prstGeom prst="rect">
            <a:avLst/>
          </a:prstGeom>
        </p:spPr>
      </p:pic>
    </p:spTree>
    <p:extLst>
      <p:ext uri="{BB962C8B-B14F-4D97-AF65-F5344CB8AC3E}">
        <p14:creationId xmlns:p14="http://schemas.microsoft.com/office/powerpoint/2010/main" val="3822317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26055-5FF3-6B99-9276-ED8208D919C3}"/>
              </a:ext>
            </a:extLst>
          </p:cNvPr>
          <p:cNvSpPr>
            <a:spLocks noGrp="1"/>
          </p:cNvSpPr>
          <p:nvPr>
            <p:ph type="title"/>
          </p:nvPr>
        </p:nvSpPr>
        <p:spPr/>
        <p:txBody>
          <a:bodyPr/>
          <a:lstStyle/>
          <a:p>
            <a:r>
              <a:rPr lang="en-IN"/>
              <a:t>मघादिकल्पः</a:t>
            </a:r>
          </a:p>
        </p:txBody>
      </p:sp>
      <p:sp>
        <p:nvSpPr>
          <p:cNvPr id="3" name="Content Placeholder 2">
            <a:extLst>
              <a:ext uri="{FF2B5EF4-FFF2-40B4-BE49-F238E27FC236}">
                <a16:creationId xmlns:a16="http://schemas.microsoft.com/office/drawing/2014/main" id="{4F73F851-611A-D74D-26E0-4FBD6288C384}"/>
              </a:ext>
            </a:extLst>
          </p:cNvPr>
          <p:cNvSpPr>
            <a:spLocks noGrp="1"/>
          </p:cNvSpPr>
          <p:nvPr>
            <p:ph idx="1"/>
          </p:nvPr>
        </p:nvSpPr>
        <p:spPr>
          <a:xfrm>
            <a:off x="685800" y="2194560"/>
            <a:ext cx="7268497" cy="4024125"/>
          </a:xfrm>
        </p:spPr>
        <p:txBody>
          <a:bodyPr>
            <a:normAutofit lnSpcReduction="10000"/>
          </a:bodyPr>
          <a:lstStyle/>
          <a:p>
            <a:r>
              <a:rPr lang="en-IN"/>
              <a:t>मघानक्षत्रं यदा अयननक्षत्रम् आसीत् सः मघादिकल्पः।</a:t>
            </a:r>
          </a:p>
          <a:p>
            <a:pPr lvl="1"/>
            <a:r>
              <a:rPr lang="en-IN"/>
              <a:t>~ १६०० – ११५० </a:t>
            </a:r>
            <a:r>
              <a:rPr lang="en-IN" sz="1400"/>
              <a:t>BC</a:t>
            </a:r>
            <a:r>
              <a:rPr lang="en-IN"/>
              <a:t>।</a:t>
            </a:r>
          </a:p>
          <a:p>
            <a:pPr lvl="1"/>
            <a:r>
              <a:rPr lang="en-IN" sz="1800"/>
              <a:t>इदानीं दक्षिणायनं पुनर्वसुनक्षत्रात् (सूर्यनक्षत्रम्) आरभ्यते।</a:t>
            </a:r>
          </a:p>
          <a:p>
            <a:r>
              <a:rPr lang="en-IN"/>
              <a:t>दक्षिणायनं मघात् आरभ्य ½श्राविष्ठापर्यन्तम् अवर्तत् (~१८३ दिनानि)। </a:t>
            </a:r>
          </a:p>
          <a:p>
            <a:r>
              <a:rPr lang="en-IN"/>
              <a:t>मघा –</a:t>
            </a:r>
          </a:p>
          <a:p>
            <a:pPr lvl="1"/>
            <a:r>
              <a:rPr lang="en-IN"/>
              <a:t>सिंहराश्यां अस्ति।</a:t>
            </a:r>
          </a:p>
          <a:p>
            <a:pPr lvl="1"/>
            <a:r>
              <a:rPr lang="en-IN"/>
              <a:t>कोष्ठागारः।</a:t>
            </a:r>
          </a:p>
          <a:p>
            <a:pPr lvl="1"/>
            <a:r>
              <a:rPr lang="el-GR" sz="1800" b="0" i="0">
                <a:effectLst/>
              </a:rPr>
              <a:t>α</a:t>
            </a:r>
            <a:r>
              <a:rPr lang="en-IN" sz="1800" b="0" i="0">
                <a:effectLst/>
              </a:rPr>
              <a:t>, </a:t>
            </a:r>
            <a:r>
              <a:rPr lang="el-GR" sz="1800" b="0" i="0">
                <a:effectLst/>
              </a:rPr>
              <a:t>ε</a:t>
            </a:r>
            <a:r>
              <a:rPr lang="en-IN" sz="1800" b="0" i="0">
                <a:effectLst/>
              </a:rPr>
              <a:t>, </a:t>
            </a:r>
            <a:r>
              <a:rPr lang="el-GR" sz="1800" b="0" i="0">
                <a:effectLst/>
              </a:rPr>
              <a:t>ζ</a:t>
            </a:r>
            <a:r>
              <a:rPr lang="en-IN" sz="1800" b="0" i="0">
                <a:effectLst/>
              </a:rPr>
              <a:t>, </a:t>
            </a:r>
            <a:r>
              <a:rPr lang="el-GR" sz="1800" b="0" i="0">
                <a:effectLst/>
              </a:rPr>
              <a:t>η</a:t>
            </a:r>
            <a:r>
              <a:rPr lang="en-IN" sz="1800" b="0" i="0">
                <a:effectLst/>
              </a:rPr>
              <a:t>, </a:t>
            </a:r>
            <a:r>
              <a:rPr lang="el-GR" sz="1800" b="0" i="0">
                <a:effectLst/>
              </a:rPr>
              <a:t>γ</a:t>
            </a:r>
            <a:r>
              <a:rPr lang="en-IN" sz="1800" b="0" i="0">
                <a:effectLst/>
              </a:rPr>
              <a:t>, </a:t>
            </a:r>
            <a:r>
              <a:rPr lang="el-GR" sz="1800" b="0" i="0">
                <a:effectLst/>
              </a:rPr>
              <a:t>μ</a:t>
            </a:r>
            <a:r>
              <a:rPr lang="en-IN" sz="1800" b="0" i="0">
                <a:effectLst/>
              </a:rPr>
              <a:t> - Leo </a:t>
            </a:r>
            <a:r>
              <a:rPr lang="en-IN" sz="1600" b="0" i="0">
                <a:effectLst/>
              </a:rPr>
              <a:t>(</a:t>
            </a:r>
            <a:r>
              <a:rPr lang="el-GR" sz="1600" b="0" i="0">
                <a:effectLst/>
              </a:rPr>
              <a:t>α</a:t>
            </a:r>
            <a:r>
              <a:rPr lang="en-IN" sz="1600" b="0" i="0">
                <a:effectLst/>
              </a:rPr>
              <a:t>-Leo = Regulus)</a:t>
            </a:r>
          </a:p>
          <a:p>
            <a:r>
              <a:rPr lang="en-IN"/>
              <a:t>विषुवद्दिनौ अर्ध-कृत्तिकानक्षत्रे (वसन्त) पादोन-विशाखानक्षत्रे (शरत्) आस्ताम्।</a:t>
            </a:r>
            <a:endParaRPr lang="en-IN" b="0" i="0">
              <a:effectLst/>
            </a:endParaRPr>
          </a:p>
          <a:p>
            <a:r>
              <a:rPr lang="en-IN" b="0" i="0">
                <a:effectLst/>
              </a:rPr>
              <a:t>म</a:t>
            </a:r>
            <a:r>
              <a:rPr lang="en-IN"/>
              <a:t>ैत्रायणीयारण्यकोपनिषद् पराशरतन्त्रं ब्रह्माण्डपुराणम् अपि अस्मिन् कालस्य।</a:t>
            </a:r>
          </a:p>
        </p:txBody>
      </p:sp>
      <p:sp>
        <p:nvSpPr>
          <p:cNvPr id="5" name="Slide Number Placeholder 4">
            <a:extLst>
              <a:ext uri="{FF2B5EF4-FFF2-40B4-BE49-F238E27FC236}">
                <a16:creationId xmlns:a16="http://schemas.microsoft.com/office/drawing/2014/main" id="{FBF77F72-B198-4FB6-96F8-3A67D1C503D7}"/>
              </a:ext>
            </a:extLst>
          </p:cNvPr>
          <p:cNvSpPr>
            <a:spLocks noGrp="1"/>
          </p:cNvSpPr>
          <p:nvPr>
            <p:ph type="sldNum" sz="quarter" idx="12"/>
          </p:nvPr>
        </p:nvSpPr>
        <p:spPr/>
        <p:txBody>
          <a:bodyPr/>
          <a:lstStyle/>
          <a:p>
            <a:fld id="{5AFE2CDC-18D4-4E7A-A4BC-D5EDA5D6481E}" type="slidenum">
              <a:rPr lang="en-IN" smtClean="0"/>
              <a:pPr/>
              <a:t>3</a:t>
            </a:fld>
            <a:endParaRPr lang="en-IN"/>
          </a:p>
        </p:txBody>
      </p:sp>
      <p:sp>
        <p:nvSpPr>
          <p:cNvPr id="8" name="Footer Placeholder 4">
            <a:extLst>
              <a:ext uri="{FF2B5EF4-FFF2-40B4-BE49-F238E27FC236}">
                <a16:creationId xmlns:a16="http://schemas.microsoft.com/office/drawing/2014/main" id="{D351CCEE-AFC9-4EF7-B64D-13D83338FD74}"/>
              </a:ext>
            </a:extLst>
          </p:cNvPr>
          <p:cNvSpPr>
            <a:spLocks noGrp="1"/>
          </p:cNvSpPr>
          <p:nvPr>
            <p:ph type="ftr" sz="quarter" idx="11"/>
          </p:nvPr>
        </p:nvSpPr>
        <p:spPr>
          <a:xfrm>
            <a:off x="0" y="6492875"/>
            <a:ext cx="7772400" cy="365125"/>
          </a:xfrm>
        </p:spPr>
        <p:txBody>
          <a:bodyPr/>
          <a:lstStyle>
            <a:lvl1pPr>
              <a:defRPr sz="2000"/>
            </a:lvl1pPr>
          </a:lstStyle>
          <a:p>
            <a:r>
              <a:rPr lang="en-IN"/>
              <a:t>महासलिलम् </a:t>
            </a:r>
            <a:r>
              <a:rPr lang="en-IN" sz="1400"/>
              <a:t>(</a:t>
            </a:r>
            <a:r>
              <a:rPr lang="hi-IN" sz="1400"/>
              <a:t>दीप्ति हरिहरण्</a:t>
            </a:r>
            <a:r>
              <a:rPr lang="en-IN" sz="1400"/>
              <a:t>)</a:t>
            </a:r>
          </a:p>
        </p:txBody>
      </p:sp>
      <p:cxnSp>
        <p:nvCxnSpPr>
          <p:cNvPr id="10" name="Straight Connector 9">
            <a:extLst>
              <a:ext uri="{FF2B5EF4-FFF2-40B4-BE49-F238E27FC236}">
                <a16:creationId xmlns:a16="http://schemas.microsoft.com/office/drawing/2014/main" id="{33191A91-DECF-3C06-90DB-3C4C9D89ACA4}"/>
              </a:ext>
            </a:extLst>
          </p:cNvPr>
          <p:cNvCxnSpPr/>
          <p:nvPr/>
        </p:nvCxnSpPr>
        <p:spPr>
          <a:xfrm>
            <a:off x="9002837" y="5549130"/>
            <a:ext cx="570271" cy="0"/>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12" name="Straight Connector 11">
            <a:extLst>
              <a:ext uri="{FF2B5EF4-FFF2-40B4-BE49-F238E27FC236}">
                <a16:creationId xmlns:a16="http://schemas.microsoft.com/office/drawing/2014/main" id="{E5AC73E6-B04C-4345-2560-18F663EF674D}"/>
              </a:ext>
            </a:extLst>
          </p:cNvPr>
          <p:cNvCxnSpPr/>
          <p:nvPr/>
        </p:nvCxnSpPr>
        <p:spPr>
          <a:xfrm>
            <a:off x="9573108" y="5549130"/>
            <a:ext cx="530942" cy="462116"/>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13" name="Straight Connector 12">
            <a:extLst>
              <a:ext uri="{FF2B5EF4-FFF2-40B4-BE49-F238E27FC236}">
                <a16:creationId xmlns:a16="http://schemas.microsoft.com/office/drawing/2014/main" id="{C50F6904-E423-A5C9-1774-2CD30C158DAC}"/>
              </a:ext>
            </a:extLst>
          </p:cNvPr>
          <p:cNvCxnSpPr/>
          <p:nvPr/>
        </p:nvCxnSpPr>
        <p:spPr>
          <a:xfrm>
            <a:off x="10104050" y="6011246"/>
            <a:ext cx="570271" cy="0"/>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15" name="Straight Connector 14">
            <a:extLst>
              <a:ext uri="{FF2B5EF4-FFF2-40B4-BE49-F238E27FC236}">
                <a16:creationId xmlns:a16="http://schemas.microsoft.com/office/drawing/2014/main" id="{49FF5D00-DA5C-5DB3-98E3-01C5BBA663FC}"/>
              </a:ext>
            </a:extLst>
          </p:cNvPr>
          <p:cNvCxnSpPr>
            <a:cxnSpLocks/>
          </p:cNvCxnSpPr>
          <p:nvPr/>
        </p:nvCxnSpPr>
        <p:spPr>
          <a:xfrm flipV="1">
            <a:off x="10674321" y="5439992"/>
            <a:ext cx="530942" cy="571254"/>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17" name="Straight Connector 16">
            <a:extLst>
              <a:ext uri="{FF2B5EF4-FFF2-40B4-BE49-F238E27FC236}">
                <a16:creationId xmlns:a16="http://schemas.microsoft.com/office/drawing/2014/main" id="{02FD2FF9-2A64-A7F3-A3A4-1CD70ADBA253}"/>
              </a:ext>
            </a:extLst>
          </p:cNvPr>
          <p:cNvCxnSpPr>
            <a:cxnSpLocks/>
          </p:cNvCxnSpPr>
          <p:nvPr/>
        </p:nvCxnSpPr>
        <p:spPr>
          <a:xfrm>
            <a:off x="10847287" y="5081933"/>
            <a:ext cx="351094" cy="358058"/>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sp>
        <p:nvSpPr>
          <p:cNvPr id="19" name="TextBox 18">
            <a:extLst>
              <a:ext uri="{FF2B5EF4-FFF2-40B4-BE49-F238E27FC236}">
                <a16:creationId xmlns:a16="http://schemas.microsoft.com/office/drawing/2014/main" id="{0AD23763-F9E3-9F20-727D-A009952F8344}"/>
              </a:ext>
            </a:extLst>
          </p:cNvPr>
          <p:cNvSpPr txBox="1"/>
          <p:nvPr/>
        </p:nvSpPr>
        <p:spPr>
          <a:xfrm>
            <a:off x="8813805" y="5549130"/>
            <a:ext cx="316112" cy="369332"/>
          </a:xfrm>
          <a:prstGeom prst="rect">
            <a:avLst/>
          </a:prstGeom>
          <a:noFill/>
        </p:spPr>
        <p:txBody>
          <a:bodyPr wrap="none" rtlCol="0">
            <a:spAutoFit/>
          </a:bodyPr>
          <a:lstStyle/>
          <a:p>
            <a:r>
              <a:rPr lang="el-GR" b="0" i="0">
                <a:effectLst/>
                <a:latin typeface="Google Sans"/>
              </a:rPr>
              <a:t>α</a:t>
            </a:r>
            <a:endParaRPr lang="en-IN"/>
          </a:p>
        </p:txBody>
      </p:sp>
      <p:sp>
        <p:nvSpPr>
          <p:cNvPr id="20" name="TextBox 19">
            <a:extLst>
              <a:ext uri="{FF2B5EF4-FFF2-40B4-BE49-F238E27FC236}">
                <a16:creationId xmlns:a16="http://schemas.microsoft.com/office/drawing/2014/main" id="{4659FC02-527C-B786-60CE-EF5598561D80}"/>
              </a:ext>
            </a:extLst>
          </p:cNvPr>
          <p:cNvSpPr txBox="1"/>
          <p:nvPr/>
        </p:nvSpPr>
        <p:spPr>
          <a:xfrm>
            <a:off x="9443711" y="5174717"/>
            <a:ext cx="308098" cy="369332"/>
          </a:xfrm>
          <a:prstGeom prst="rect">
            <a:avLst/>
          </a:prstGeom>
          <a:noFill/>
        </p:spPr>
        <p:txBody>
          <a:bodyPr wrap="none" rtlCol="0">
            <a:spAutoFit/>
          </a:bodyPr>
          <a:lstStyle/>
          <a:p>
            <a:r>
              <a:rPr lang="el-GR" b="0" i="0">
                <a:effectLst/>
                <a:latin typeface="Google Sans"/>
              </a:rPr>
              <a:t>η</a:t>
            </a:r>
            <a:endParaRPr lang="en-IN"/>
          </a:p>
        </p:txBody>
      </p:sp>
      <p:sp>
        <p:nvSpPr>
          <p:cNvPr id="21" name="TextBox 20">
            <a:extLst>
              <a:ext uri="{FF2B5EF4-FFF2-40B4-BE49-F238E27FC236}">
                <a16:creationId xmlns:a16="http://schemas.microsoft.com/office/drawing/2014/main" id="{84F8187E-4AA8-4C77-519B-4A8A013432D0}"/>
              </a:ext>
            </a:extLst>
          </p:cNvPr>
          <p:cNvSpPr txBox="1"/>
          <p:nvPr/>
        </p:nvSpPr>
        <p:spPr>
          <a:xfrm>
            <a:off x="9964403" y="6011246"/>
            <a:ext cx="264816" cy="369332"/>
          </a:xfrm>
          <a:prstGeom prst="rect">
            <a:avLst/>
          </a:prstGeom>
          <a:noFill/>
        </p:spPr>
        <p:txBody>
          <a:bodyPr wrap="none" rtlCol="0">
            <a:spAutoFit/>
          </a:bodyPr>
          <a:lstStyle/>
          <a:p>
            <a:r>
              <a:rPr lang="el-GR" b="0" i="0">
                <a:effectLst/>
                <a:latin typeface="Google Sans"/>
              </a:rPr>
              <a:t>ζ</a:t>
            </a:r>
            <a:endParaRPr lang="en-IN"/>
          </a:p>
        </p:txBody>
      </p:sp>
      <p:sp>
        <p:nvSpPr>
          <p:cNvPr id="22" name="TextBox 21">
            <a:extLst>
              <a:ext uri="{FF2B5EF4-FFF2-40B4-BE49-F238E27FC236}">
                <a16:creationId xmlns:a16="http://schemas.microsoft.com/office/drawing/2014/main" id="{75E84760-19DA-5E1C-943A-B5A635C6E1AF}"/>
              </a:ext>
            </a:extLst>
          </p:cNvPr>
          <p:cNvSpPr txBox="1"/>
          <p:nvPr/>
        </p:nvSpPr>
        <p:spPr>
          <a:xfrm>
            <a:off x="10553770" y="6011246"/>
            <a:ext cx="287258" cy="369332"/>
          </a:xfrm>
          <a:prstGeom prst="rect">
            <a:avLst/>
          </a:prstGeom>
          <a:noFill/>
        </p:spPr>
        <p:txBody>
          <a:bodyPr wrap="none" rtlCol="0">
            <a:spAutoFit/>
          </a:bodyPr>
          <a:lstStyle/>
          <a:p>
            <a:r>
              <a:rPr lang="el-GR" b="0" i="0">
                <a:effectLst/>
                <a:latin typeface="Google Sans"/>
              </a:rPr>
              <a:t>γ</a:t>
            </a:r>
            <a:endParaRPr lang="en-IN"/>
          </a:p>
        </p:txBody>
      </p:sp>
      <p:sp>
        <p:nvSpPr>
          <p:cNvPr id="23" name="TextBox 22">
            <a:extLst>
              <a:ext uri="{FF2B5EF4-FFF2-40B4-BE49-F238E27FC236}">
                <a16:creationId xmlns:a16="http://schemas.microsoft.com/office/drawing/2014/main" id="{5C91B51D-9AB3-AB46-7F6C-29B5CDF9714A}"/>
              </a:ext>
            </a:extLst>
          </p:cNvPr>
          <p:cNvSpPr txBox="1"/>
          <p:nvPr/>
        </p:nvSpPr>
        <p:spPr>
          <a:xfrm>
            <a:off x="11198120" y="5255326"/>
            <a:ext cx="316112" cy="369332"/>
          </a:xfrm>
          <a:prstGeom prst="rect">
            <a:avLst/>
          </a:prstGeom>
          <a:noFill/>
        </p:spPr>
        <p:txBody>
          <a:bodyPr wrap="none" rtlCol="0">
            <a:spAutoFit/>
          </a:bodyPr>
          <a:lstStyle/>
          <a:p>
            <a:r>
              <a:rPr lang="el-GR" b="0" i="0">
                <a:effectLst/>
                <a:latin typeface="Google Sans"/>
              </a:rPr>
              <a:t>μ</a:t>
            </a:r>
            <a:endParaRPr lang="en-IN"/>
          </a:p>
        </p:txBody>
      </p:sp>
      <p:sp>
        <p:nvSpPr>
          <p:cNvPr id="24" name="TextBox 23">
            <a:extLst>
              <a:ext uri="{FF2B5EF4-FFF2-40B4-BE49-F238E27FC236}">
                <a16:creationId xmlns:a16="http://schemas.microsoft.com/office/drawing/2014/main" id="{CAF3143B-6DE8-8990-5B57-9D16AADB20B4}"/>
              </a:ext>
            </a:extLst>
          </p:cNvPr>
          <p:cNvSpPr txBox="1"/>
          <p:nvPr/>
        </p:nvSpPr>
        <p:spPr>
          <a:xfrm>
            <a:off x="10746846" y="4747416"/>
            <a:ext cx="290464" cy="369332"/>
          </a:xfrm>
          <a:prstGeom prst="rect">
            <a:avLst/>
          </a:prstGeom>
          <a:noFill/>
        </p:spPr>
        <p:txBody>
          <a:bodyPr wrap="none" rtlCol="0">
            <a:spAutoFit/>
          </a:bodyPr>
          <a:lstStyle/>
          <a:p>
            <a:r>
              <a:rPr lang="el-GR" b="0" i="0">
                <a:effectLst/>
                <a:latin typeface="Google Sans"/>
              </a:rPr>
              <a:t>ε</a:t>
            </a:r>
            <a:endParaRPr lang="en-IN"/>
          </a:p>
        </p:txBody>
      </p:sp>
      <p:sp>
        <p:nvSpPr>
          <p:cNvPr id="25" name="Oval 24">
            <a:extLst>
              <a:ext uri="{FF2B5EF4-FFF2-40B4-BE49-F238E27FC236}">
                <a16:creationId xmlns:a16="http://schemas.microsoft.com/office/drawing/2014/main" id="{A609C620-3A44-9C58-BBDC-751814823445}"/>
              </a:ext>
            </a:extLst>
          </p:cNvPr>
          <p:cNvSpPr/>
          <p:nvPr/>
        </p:nvSpPr>
        <p:spPr>
          <a:xfrm>
            <a:off x="8971861" y="5503545"/>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6" name="Oval 25">
            <a:extLst>
              <a:ext uri="{FF2B5EF4-FFF2-40B4-BE49-F238E27FC236}">
                <a16:creationId xmlns:a16="http://schemas.microsoft.com/office/drawing/2014/main" id="{C7586DA4-DA6C-2500-3ED2-938D3FB67B0D}"/>
              </a:ext>
            </a:extLst>
          </p:cNvPr>
          <p:cNvSpPr/>
          <p:nvPr/>
        </p:nvSpPr>
        <p:spPr>
          <a:xfrm>
            <a:off x="9531283" y="5503545"/>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7" name="Oval 26">
            <a:extLst>
              <a:ext uri="{FF2B5EF4-FFF2-40B4-BE49-F238E27FC236}">
                <a16:creationId xmlns:a16="http://schemas.microsoft.com/office/drawing/2014/main" id="{32605257-3A2E-9FCE-968D-45852E67E6AA}"/>
              </a:ext>
            </a:extLst>
          </p:cNvPr>
          <p:cNvSpPr/>
          <p:nvPr/>
        </p:nvSpPr>
        <p:spPr>
          <a:xfrm>
            <a:off x="10065294" y="5967432"/>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8" name="Oval 27">
            <a:extLst>
              <a:ext uri="{FF2B5EF4-FFF2-40B4-BE49-F238E27FC236}">
                <a16:creationId xmlns:a16="http://schemas.microsoft.com/office/drawing/2014/main" id="{503FF250-0928-99DF-830C-984075F6C22D}"/>
              </a:ext>
            </a:extLst>
          </p:cNvPr>
          <p:cNvSpPr/>
          <p:nvPr/>
        </p:nvSpPr>
        <p:spPr>
          <a:xfrm>
            <a:off x="10628177" y="5967410"/>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9" name="Oval 28">
            <a:extLst>
              <a:ext uri="{FF2B5EF4-FFF2-40B4-BE49-F238E27FC236}">
                <a16:creationId xmlns:a16="http://schemas.microsoft.com/office/drawing/2014/main" id="{B37C9F2A-69D0-C568-B8F8-5F1166AD0B23}"/>
              </a:ext>
            </a:extLst>
          </p:cNvPr>
          <p:cNvSpPr/>
          <p:nvPr/>
        </p:nvSpPr>
        <p:spPr>
          <a:xfrm>
            <a:off x="11159998" y="5397829"/>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0" name="Oval 29">
            <a:extLst>
              <a:ext uri="{FF2B5EF4-FFF2-40B4-BE49-F238E27FC236}">
                <a16:creationId xmlns:a16="http://schemas.microsoft.com/office/drawing/2014/main" id="{DBC06218-F20F-BCB1-4A7F-51FA8EB46F50}"/>
              </a:ext>
            </a:extLst>
          </p:cNvPr>
          <p:cNvSpPr/>
          <p:nvPr/>
        </p:nvSpPr>
        <p:spPr>
          <a:xfrm>
            <a:off x="10820400" y="5038117"/>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32" name="Straight Connector 31">
            <a:extLst>
              <a:ext uri="{FF2B5EF4-FFF2-40B4-BE49-F238E27FC236}">
                <a16:creationId xmlns:a16="http://schemas.microsoft.com/office/drawing/2014/main" id="{A3260A59-13E6-46D4-5DD1-2133B89CB372}"/>
              </a:ext>
            </a:extLst>
          </p:cNvPr>
          <p:cNvCxnSpPr>
            <a:cxnSpLocks/>
          </p:cNvCxnSpPr>
          <p:nvPr/>
        </p:nvCxnSpPr>
        <p:spPr>
          <a:xfrm flipV="1">
            <a:off x="8299903" y="3524688"/>
            <a:ext cx="598983" cy="660809"/>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34" name="Straight Connector 33">
            <a:extLst>
              <a:ext uri="{FF2B5EF4-FFF2-40B4-BE49-F238E27FC236}">
                <a16:creationId xmlns:a16="http://schemas.microsoft.com/office/drawing/2014/main" id="{EE5FC890-A5F2-6084-1CBE-4A6016075BB4}"/>
              </a:ext>
            </a:extLst>
          </p:cNvPr>
          <p:cNvCxnSpPr>
            <a:cxnSpLocks/>
          </p:cNvCxnSpPr>
          <p:nvPr/>
        </p:nvCxnSpPr>
        <p:spPr>
          <a:xfrm flipV="1">
            <a:off x="8292146" y="4027587"/>
            <a:ext cx="740412" cy="175980"/>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38" name="Straight Connector 37">
            <a:extLst>
              <a:ext uri="{FF2B5EF4-FFF2-40B4-BE49-F238E27FC236}">
                <a16:creationId xmlns:a16="http://schemas.microsoft.com/office/drawing/2014/main" id="{34DA2CD4-C455-096F-F256-489433684797}"/>
              </a:ext>
            </a:extLst>
          </p:cNvPr>
          <p:cNvCxnSpPr>
            <a:cxnSpLocks/>
          </p:cNvCxnSpPr>
          <p:nvPr/>
        </p:nvCxnSpPr>
        <p:spPr>
          <a:xfrm>
            <a:off x="8902710" y="3514465"/>
            <a:ext cx="136560" cy="508591"/>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40" name="Straight Connector 39">
            <a:extLst>
              <a:ext uri="{FF2B5EF4-FFF2-40B4-BE49-F238E27FC236}">
                <a16:creationId xmlns:a16="http://schemas.microsoft.com/office/drawing/2014/main" id="{3F5214AE-BBD2-9F24-207D-CD50E70A6C6E}"/>
              </a:ext>
            </a:extLst>
          </p:cNvPr>
          <p:cNvCxnSpPr>
            <a:cxnSpLocks/>
          </p:cNvCxnSpPr>
          <p:nvPr/>
        </p:nvCxnSpPr>
        <p:spPr>
          <a:xfrm flipV="1">
            <a:off x="8898886" y="3208877"/>
            <a:ext cx="1264794" cy="326482"/>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42" name="Straight Connector 41">
            <a:extLst>
              <a:ext uri="{FF2B5EF4-FFF2-40B4-BE49-F238E27FC236}">
                <a16:creationId xmlns:a16="http://schemas.microsoft.com/office/drawing/2014/main" id="{8FA65DEB-7875-3F38-72DE-FFA427545857}"/>
              </a:ext>
            </a:extLst>
          </p:cNvPr>
          <p:cNvCxnSpPr>
            <a:cxnSpLocks/>
          </p:cNvCxnSpPr>
          <p:nvPr/>
        </p:nvCxnSpPr>
        <p:spPr>
          <a:xfrm>
            <a:off x="9039270" y="4023056"/>
            <a:ext cx="1656316" cy="110730"/>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43" name="Straight Connector 42">
            <a:extLst>
              <a:ext uri="{FF2B5EF4-FFF2-40B4-BE49-F238E27FC236}">
                <a16:creationId xmlns:a16="http://schemas.microsoft.com/office/drawing/2014/main" id="{A78F6492-AEA5-AB7C-53F8-FB5234790650}"/>
              </a:ext>
            </a:extLst>
          </p:cNvPr>
          <p:cNvCxnSpPr>
            <a:cxnSpLocks/>
          </p:cNvCxnSpPr>
          <p:nvPr/>
        </p:nvCxnSpPr>
        <p:spPr>
          <a:xfrm flipV="1">
            <a:off x="10694622" y="3670993"/>
            <a:ext cx="0" cy="473309"/>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44" name="Straight Connector 43">
            <a:extLst>
              <a:ext uri="{FF2B5EF4-FFF2-40B4-BE49-F238E27FC236}">
                <a16:creationId xmlns:a16="http://schemas.microsoft.com/office/drawing/2014/main" id="{50261C87-91E6-AAC3-4BE1-FC7EB8A30EEB}"/>
              </a:ext>
            </a:extLst>
          </p:cNvPr>
          <p:cNvCxnSpPr>
            <a:cxnSpLocks/>
          </p:cNvCxnSpPr>
          <p:nvPr/>
        </p:nvCxnSpPr>
        <p:spPr>
          <a:xfrm>
            <a:off x="10163680" y="3208877"/>
            <a:ext cx="530942" cy="462116"/>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45" name="Straight Connector 44">
            <a:extLst>
              <a:ext uri="{FF2B5EF4-FFF2-40B4-BE49-F238E27FC236}">
                <a16:creationId xmlns:a16="http://schemas.microsoft.com/office/drawing/2014/main" id="{2894112C-4216-B968-0509-DDE1247CA925}"/>
              </a:ext>
            </a:extLst>
          </p:cNvPr>
          <p:cNvCxnSpPr>
            <a:cxnSpLocks/>
          </p:cNvCxnSpPr>
          <p:nvPr/>
        </p:nvCxnSpPr>
        <p:spPr>
          <a:xfrm>
            <a:off x="10174425" y="2767786"/>
            <a:ext cx="0" cy="441091"/>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46" name="Straight Connector 45">
            <a:extLst>
              <a:ext uri="{FF2B5EF4-FFF2-40B4-BE49-F238E27FC236}">
                <a16:creationId xmlns:a16="http://schemas.microsoft.com/office/drawing/2014/main" id="{61F6B2DE-5AD5-81A2-F8F2-ADD737F3CF97}"/>
              </a:ext>
            </a:extLst>
          </p:cNvPr>
          <p:cNvCxnSpPr>
            <a:cxnSpLocks/>
          </p:cNvCxnSpPr>
          <p:nvPr/>
        </p:nvCxnSpPr>
        <p:spPr>
          <a:xfrm flipV="1">
            <a:off x="10175198" y="2196196"/>
            <a:ext cx="530942" cy="571254"/>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cxnSp>
        <p:nvCxnSpPr>
          <p:cNvPr id="47" name="Straight Connector 46">
            <a:extLst>
              <a:ext uri="{FF2B5EF4-FFF2-40B4-BE49-F238E27FC236}">
                <a16:creationId xmlns:a16="http://schemas.microsoft.com/office/drawing/2014/main" id="{A1E839AD-63A4-3AD3-B9D6-CDC1961928A6}"/>
              </a:ext>
            </a:extLst>
          </p:cNvPr>
          <p:cNvCxnSpPr>
            <a:cxnSpLocks/>
          </p:cNvCxnSpPr>
          <p:nvPr/>
        </p:nvCxnSpPr>
        <p:spPr>
          <a:xfrm>
            <a:off x="10706140" y="2210740"/>
            <a:ext cx="351094" cy="358058"/>
          </a:xfrm>
          <a:prstGeom prst="line">
            <a:avLst/>
          </a:prstGeom>
          <a:ln>
            <a:solidFill>
              <a:schemeClr val="tx1"/>
            </a:solidFill>
          </a:ln>
        </p:spPr>
        <p:style>
          <a:lnRef idx="3">
            <a:schemeClr val="accent6"/>
          </a:lnRef>
          <a:fillRef idx="0">
            <a:schemeClr val="accent6"/>
          </a:fillRef>
          <a:effectRef idx="2">
            <a:schemeClr val="accent6"/>
          </a:effectRef>
          <a:fontRef idx="minor">
            <a:schemeClr val="tx1"/>
          </a:fontRef>
        </p:style>
      </p:cxnSp>
      <p:sp>
        <p:nvSpPr>
          <p:cNvPr id="54" name="Oval 53">
            <a:extLst>
              <a:ext uri="{FF2B5EF4-FFF2-40B4-BE49-F238E27FC236}">
                <a16:creationId xmlns:a16="http://schemas.microsoft.com/office/drawing/2014/main" id="{51227446-BBFC-520E-6B47-A50BC71A7182}"/>
              </a:ext>
            </a:extLst>
          </p:cNvPr>
          <p:cNvSpPr/>
          <p:nvPr/>
        </p:nvSpPr>
        <p:spPr>
          <a:xfrm>
            <a:off x="10642914" y="2166925"/>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5" name="Oval 54">
            <a:extLst>
              <a:ext uri="{FF2B5EF4-FFF2-40B4-BE49-F238E27FC236}">
                <a16:creationId xmlns:a16="http://schemas.microsoft.com/office/drawing/2014/main" id="{7CB5FEA8-E5DE-FF5B-C429-DE4E027ABE85}"/>
              </a:ext>
            </a:extLst>
          </p:cNvPr>
          <p:cNvSpPr/>
          <p:nvPr/>
        </p:nvSpPr>
        <p:spPr>
          <a:xfrm>
            <a:off x="10129454" y="3180367"/>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6" name="Oval 55">
            <a:extLst>
              <a:ext uri="{FF2B5EF4-FFF2-40B4-BE49-F238E27FC236}">
                <a16:creationId xmlns:a16="http://schemas.microsoft.com/office/drawing/2014/main" id="{DF560BD9-F8F8-2A2B-239E-C7A166AACF8B}"/>
              </a:ext>
            </a:extLst>
          </p:cNvPr>
          <p:cNvSpPr/>
          <p:nvPr/>
        </p:nvSpPr>
        <p:spPr>
          <a:xfrm>
            <a:off x="10660473" y="4088320"/>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7" name="Oval 56">
            <a:extLst>
              <a:ext uri="{FF2B5EF4-FFF2-40B4-BE49-F238E27FC236}">
                <a16:creationId xmlns:a16="http://schemas.microsoft.com/office/drawing/2014/main" id="{313AEE5F-ECC0-0DEE-01DD-9CA52A160291}"/>
              </a:ext>
            </a:extLst>
          </p:cNvPr>
          <p:cNvSpPr/>
          <p:nvPr/>
        </p:nvSpPr>
        <p:spPr>
          <a:xfrm>
            <a:off x="10644521" y="3654130"/>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8" name="Oval 57">
            <a:extLst>
              <a:ext uri="{FF2B5EF4-FFF2-40B4-BE49-F238E27FC236}">
                <a16:creationId xmlns:a16="http://schemas.microsoft.com/office/drawing/2014/main" id="{8019A268-7DBA-F113-677E-A70A78D19968}"/>
              </a:ext>
            </a:extLst>
          </p:cNvPr>
          <p:cNvSpPr/>
          <p:nvPr/>
        </p:nvSpPr>
        <p:spPr>
          <a:xfrm>
            <a:off x="10151943" y="2736115"/>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9" name="Oval 58">
            <a:extLst>
              <a:ext uri="{FF2B5EF4-FFF2-40B4-BE49-F238E27FC236}">
                <a16:creationId xmlns:a16="http://schemas.microsoft.com/office/drawing/2014/main" id="{36149905-9E52-E66F-5534-18FFFF9AAE52}"/>
              </a:ext>
            </a:extLst>
          </p:cNvPr>
          <p:cNvSpPr/>
          <p:nvPr/>
        </p:nvSpPr>
        <p:spPr>
          <a:xfrm>
            <a:off x="11010222" y="2546880"/>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51" name="Oval 1050">
            <a:extLst>
              <a:ext uri="{FF2B5EF4-FFF2-40B4-BE49-F238E27FC236}">
                <a16:creationId xmlns:a16="http://schemas.microsoft.com/office/drawing/2014/main" id="{D9D95284-C117-118C-6BF5-8C3488665A2F}"/>
              </a:ext>
            </a:extLst>
          </p:cNvPr>
          <p:cNvSpPr/>
          <p:nvPr/>
        </p:nvSpPr>
        <p:spPr>
          <a:xfrm>
            <a:off x="8864818" y="3493315"/>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52" name="Oval 1051">
            <a:extLst>
              <a:ext uri="{FF2B5EF4-FFF2-40B4-BE49-F238E27FC236}">
                <a16:creationId xmlns:a16="http://schemas.microsoft.com/office/drawing/2014/main" id="{94A063F4-3CC6-527F-2DE4-43C4F35F08F7}"/>
              </a:ext>
            </a:extLst>
          </p:cNvPr>
          <p:cNvSpPr/>
          <p:nvPr/>
        </p:nvSpPr>
        <p:spPr>
          <a:xfrm>
            <a:off x="8285434" y="4115938"/>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53" name="Oval 1052">
            <a:extLst>
              <a:ext uri="{FF2B5EF4-FFF2-40B4-BE49-F238E27FC236}">
                <a16:creationId xmlns:a16="http://schemas.microsoft.com/office/drawing/2014/main" id="{4465ABEB-D5F8-EEB2-8C2C-46D3636D9589}"/>
              </a:ext>
            </a:extLst>
          </p:cNvPr>
          <p:cNvSpPr/>
          <p:nvPr/>
        </p:nvSpPr>
        <p:spPr>
          <a:xfrm>
            <a:off x="8994090" y="3987793"/>
            <a:ext cx="83649" cy="87629"/>
          </a:xfrm>
          <a:prstGeom prst="ellipse">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54" name="TextBox 1053">
            <a:extLst>
              <a:ext uri="{FF2B5EF4-FFF2-40B4-BE49-F238E27FC236}">
                <a16:creationId xmlns:a16="http://schemas.microsoft.com/office/drawing/2014/main" id="{DAEE84BA-2652-B2BB-FFA4-225A04C6F324}"/>
              </a:ext>
            </a:extLst>
          </p:cNvPr>
          <p:cNvSpPr txBox="1"/>
          <p:nvPr/>
        </p:nvSpPr>
        <p:spPr>
          <a:xfrm>
            <a:off x="10703866" y="4048068"/>
            <a:ext cx="316112" cy="369332"/>
          </a:xfrm>
          <a:prstGeom prst="rect">
            <a:avLst/>
          </a:prstGeom>
          <a:noFill/>
        </p:spPr>
        <p:txBody>
          <a:bodyPr wrap="none" rtlCol="0">
            <a:spAutoFit/>
          </a:bodyPr>
          <a:lstStyle/>
          <a:p>
            <a:r>
              <a:rPr lang="el-GR" b="0" i="0">
                <a:effectLst/>
                <a:latin typeface="Google Sans"/>
              </a:rPr>
              <a:t>α</a:t>
            </a:r>
            <a:endParaRPr lang="en-IN"/>
          </a:p>
        </p:txBody>
      </p:sp>
      <p:sp>
        <p:nvSpPr>
          <p:cNvPr id="1055" name="TextBox 1054">
            <a:extLst>
              <a:ext uri="{FF2B5EF4-FFF2-40B4-BE49-F238E27FC236}">
                <a16:creationId xmlns:a16="http://schemas.microsoft.com/office/drawing/2014/main" id="{34F2070A-4A4C-7ADB-28B1-AAD584B75334}"/>
              </a:ext>
            </a:extLst>
          </p:cNvPr>
          <p:cNvSpPr txBox="1"/>
          <p:nvPr/>
        </p:nvSpPr>
        <p:spPr>
          <a:xfrm>
            <a:off x="11065712" y="2513712"/>
            <a:ext cx="290464" cy="369332"/>
          </a:xfrm>
          <a:prstGeom prst="rect">
            <a:avLst/>
          </a:prstGeom>
          <a:noFill/>
        </p:spPr>
        <p:txBody>
          <a:bodyPr wrap="none" rtlCol="0">
            <a:spAutoFit/>
          </a:bodyPr>
          <a:lstStyle/>
          <a:p>
            <a:r>
              <a:rPr lang="el-GR" b="0" i="0">
                <a:effectLst/>
                <a:latin typeface="Google Sans"/>
              </a:rPr>
              <a:t>ε</a:t>
            </a:r>
            <a:endParaRPr lang="en-IN"/>
          </a:p>
        </p:txBody>
      </p:sp>
      <p:sp>
        <p:nvSpPr>
          <p:cNvPr id="1056" name="TextBox 1055">
            <a:extLst>
              <a:ext uri="{FF2B5EF4-FFF2-40B4-BE49-F238E27FC236}">
                <a16:creationId xmlns:a16="http://schemas.microsoft.com/office/drawing/2014/main" id="{5205A4FB-557C-F993-E2FD-69AE6F8EC129}"/>
              </a:ext>
            </a:extLst>
          </p:cNvPr>
          <p:cNvSpPr txBox="1"/>
          <p:nvPr/>
        </p:nvSpPr>
        <p:spPr>
          <a:xfrm>
            <a:off x="9403313" y="3534180"/>
            <a:ext cx="899605" cy="369332"/>
          </a:xfrm>
          <a:prstGeom prst="rect">
            <a:avLst/>
          </a:prstGeom>
          <a:noFill/>
        </p:spPr>
        <p:txBody>
          <a:bodyPr wrap="none" rtlCol="0">
            <a:spAutoFit/>
          </a:bodyPr>
          <a:lstStyle/>
          <a:p>
            <a:r>
              <a:rPr lang="en-IN"/>
              <a:t>सिंहराशिः</a:t>
            </a:r>
          </a:p>
        </p:txBody>
      </p:sp>
      <p:sp>
        <p:nvSpPr>
          <p:cNvPr id="1057" name="TextBox 1056">
            <a:extLst>
              <a:ext uri="{FF2B5EF4-FFF2-40B4-BE49-F238E27FC236}">
                <a16:creationId xmlns:a16="http://schemas.microsoft.com/office/drawing/2014/main" id="{A7F5A406-1E1C-0061-54C1-8B0A17409952}"/>
              </a:ext>
            </a:extLst>
          </p:cNvPr>
          <p:cNvSpPr txBox="1"/>
          <p:nvPr/>
        </p:nvSpPr>
        <p:spPr>
          <a:xfrm>
            <a:off x="10098486" y="5459554"/>
            <a:ext cx="503664" cy="369332"/>
          </a:xfrm>
          <a:prstGeom prst="rect">
            <a:avLst/>
          </a:prstGeom>
          <a:noFill/>
        </p:spPr>
        <p:txBody>
          <a:bodyPr wrap="none" rtlCol="0">
            <a:spAutoFit/>
          </a:bodyPr>
          <a:lstStyle/>
          <a:p>
            <a:r>
              <a:rPr lang="en-IN"/>
              <a:t>मघा</a:t>
            </a:r>
          </a:p>
        </p:txBody>
      </p:sp>
    </p:spTree>
    <p:extLst>
      <p:ext uri="{BB962C8B-B14F-4D97-AF65-F5344CB8AC3E}">
        <p14:creationId xmlns:p14="http://schemas.microsoft.com/office/powerpoint/2010/main" val="163638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93806-5870-8320-0461-F0D8EBDD42EA}"/>
              </a:ext>
            </a:extLst>
          </p:cNvPr>
          <p:cNvSpPr>
            <a:spLocks noGrp="1"/>
          </p:cNvSpPr>
          <p:nvPr>
            <p:ph type="title"/>
          </p:nvPr>
        </p:nvSpPr>
        <p:spPr>
          <a:xfrm>
            <a:off x="0" y="753533"/>
            <a:ext cx="12192000" cy="2801935"/>
          </a:xfrm>
        </p:spPr>
        <p:txBody>
          <a:bodyPr/>
          <a:lstStyle/>
          <a:p>
            <a:r>
              <a:rPr lang="en-IN">
                <a:solidFill>
                  <a:srgbClr val="FFFF00"/>
                </a:solidFill>
              </a:rPr>
              <a:t>॥ १॥ </a:t>
            </a:r>
            <a:r>
              <a:rPr lang="en-IN"/>
              <a:t>अथाथो महासलिलम् अनुव्याख्यास्यामः इति ह स्माह भगवान्॥</a:t>
            </a:r>
          </a:p>
        </p:txBody>
      </p:sp>
      <p:sp>
        <p:nvSpPr>
          <p:cNvPr id="4" name="Slide Number Placeholder 3">
            <a:extLst>
              <a:ext uri="{FF2B5EF4-FFF2-40B4-BE49-F238E27FC236}">
                <a16:creationId xmlns:a16="http://schemas.microsoft.com/office/drawing/2014/main" id="{47A621E6-C9B7-6B3A-4A3F-EE83F8657227}"/>
              </a:ext>
            </a:extLst>
          </p:cNvPr>
          <p:cNvSpPr>
            <a:spLocks noGrp="1"/>
          </p:cNvSpPr>
          <p:nvPr>
            <p:ph type="sldNum" sz="quarter" idx="12"/>
          </p:nvPr>
        </p:nvSpPr>
        <p:spPr/>
        <p:txBody>
          <a:bodyPr/>
          <a:lstStyle/>
          <a:p>
            <a:fld id="{5AFE2CDC-18D4-4E7A-A4BC-D5EDA5D6481E}" type="slidenum">
              <a:rPr lang="en-IN" smtClean="0"/>
              <a:t>4</a:t>
            </a:fld>
            <a:endParaRPr lang="en-IN"/>
          </a:p>
        </p:txBody>
      </p:sp>
      <p:sp>
        <p:nvSpPr>
          <p:cNvPr id="5" name="Footer Placeholder 4">
            <a:extLst>
              <a:ext uri="{FF2B5EF4-FFF2-40B4-BE49-F238E27FC236}">
                <a16:creationId xmlns:a16="http://schemas.microsoft.com/office/drawing/2014/main" id="{97C95CE2-7E3D-7622-796A-F4C6AA9DCB83}"/>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627274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FA2BE-6335-19E5-2E41-0971CD852F0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2BDEB4-481E-793F-D589-197F3CF5F40F}"/>
              </a:ext>
            </a:extLst>
          </p:cNvPr>
          <p:cNvSpPr>
            <a:spLocks noGrp="1"/>
          </p:cNvSpPr>
          <p:nvPr>
            <p:ph idx="1"/>
          </p:nvPr>
        </p:nvSpPr>
        <p:spPr/>
        <p:txBody>
          <a:bodyPr/>
          <a:lstStyle/>
          <a:p>
            <a:r>
              <a:rPr lang="en-IN" sz="2400"/>
              <a:t>पद्यरूपेण ब्राह्मणवत् रचितम्। </a:t>
            </a:r>
          </a:p>
          <a:p>
            <a:r>
              <a:rPr lang="en-IN" sz="2400"/>
              <a:t>इदं वाक्यं प्रायः गर्गपुत्रेण क्रोष्टुकिना उक्तम्। </a:t>
            </a:r>
          </a:p>
          <a:p>
            <a:r>
              <a:rPr lang="en-IN" sz="2400"/>
              <a:t>भगवान् इति वृद्धगर्गः। </a:t>
            </a:r>
          </a:p>
          <a:p>
            <a:r>
              <a:rPr lang="en-IN" sz="2400"/>
              <a:t>महासलिलम् इति सज्ञावाचकशब्दम् – यस्मात् सृष्टिः भवति प्रलयादनन्तरं यस्मिन् सर्वं गच्छति तत् </a:t>
            </a:r>
            <a:r>
              <a:rPr lang="en-IN" sz="1400" i="1">
                <a:latin typeface="+mn-lt"/>
                <a:cs typeface="+mn-cs"/>
              </a:rPr>
              <a:t>(</a:t>
            </a:r>
            <a:r>
              <a:rPr lang="en-IN" sz="1400" i="1"/>
              <a:t>great fluid</a:t>
            </a:r>
            <a:r>
              <a:rPr lang="en-IN" sz="1400" i="1">
                <a:latin typeface="+mn-lt"/>
                <a:cs typeface="+mn-cs"/>
              </a:rPr>
              <a:t>)</a:t>
            </a:r>
            <a:r>
              <a:rPr lang="en-IN" sz="2400">
                <a:latin typeface="+mn-lt"/>
                <a:cs typeface="+mn-cs"/>
              </a:rPr>
              <a:t>।</a:t>
            </a:r>
            <a:endParaRPr lang="en-IN"/>
          </a:p>
        </p:txBody>
      </p:sp>
      <p:sp>
        <p:nvSpPr>
          <p:cNvPr id="4" name="Footer Placeholder 3">
            <a:extLst>
              <a:ext uri="{FF2B5EF4-FFF2-40B4-BE49-F238E27FC236}">
                <a16:creationId xmlns:a16="http://schemas.microsoft.com/office/drawing/2014/main" id="{7F441EBB-1538-A73B-0B8E-DE3E9EF228EE}"/>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6D897AB1-1B04-C137-B79E-D68605232EB9}"/>
              </a:ext>
            </a:extLst>
          </p:cNvPr>
          <p:cNvSpPr>
            <a:spLocks noGrp="1"/>
          </p:cNvSpPr>
          <p:nvPr>
            <p:ph type="sldNum" sz="quarter" idx="12"/>
          </p:nvPr>
        </p:nvSpPr>
        <p:spPr/>
        <p:txBody>
          <a:bodyPr/>
          <a:lstStyle/>
          <a:p>
            <a:fld id="{5AFE2CDC-18D4-4E7A-A4BC-D5EDA5D6481E}" type="slidenum">
              <a:rPr lang="en-IN" smtClean="0"/>
              <a:pPr/>
              <a:t>5</a:t>
            </a:fld>
            <a:endParaRPr lang="en-IN"/>
          </a:p>
        </p:txBody>
      </p:sp>
    </p:spTree>
    <p:extLst>
      <p:ext uri="{BB962C8B-B14F-4D97-AF65-F5344CB8AC3E}">
        <p14:creationId xmlns:p14="http://schemas.microsoft.com/office/powerpoint/2010/main" val="1586369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E897B-B711-6294-35B0-6EF34F31618D}"/>
              </a:ext>
            </a:extLst>
          </p:cNvPr>
          <p:cNvSpPr>
            <a:spLocks noGrp="1"/>
          </p:cNvSpPr>
          <p:nvPr>
            <p:ph type="title"/>
          </p:nvPr>
        </p:nvSpPr>
        <p:spPr>
          <a:xfrm>
            <a:off x="0" y="753533"/>
            <a:ext cx="12192000" cy="3179370"/>
          </a:xfrm>
        </p:spPr>
        <p:txBody>
          <a:bodyPr>
            <a:normAutofit fontScale="90000"/>
          </a:bodyPr>
          <a:lstStyle/>
          <a:p>
            <a:r>
              <a:rPr lang="en-IN" sz="4000">
                <a:solidFill>
                  <a:srgbClr val="FFFF00"/>
                </a:solidFill>
              </a:rPr>
              <a:t>॥ २॥ </a:t>
            </a:r>
            <a:r>
              <a:rPr lang="en-IN" sz="4000"/>
              <a:t>भागीरथ्याः सुरजलवाहिन्याः पुण्यथीर्थायाः त्रिभुवनभाविन्याः महर्षिसिद्धिसेवितायाः तीरे अमर्त्यम् उग्रतपसं सर्वज्ञं सर्वदर्शिनं वीतपाप्मानम् अनन्तविज्ञानम् आङ्गीरसं महर्षिं वृद्धगर्गं हुताग्निहोत्रं कृतजाप्यमङ्गलम् अपतभयत्रिमोहप्रसन्नम् अमरसमम् आश्रमस्थमासीनम् अभिसमीक्ष्य अथ महर्षिः विश्वामित्रो महातपाश्च अभिगम्य सर्वं चानुपूर्वं स्पृष्ट्वा उपविश्य सुखं कथान्तरे प्रश्नविदमनुपप्रच्छ आङ्गीरसम्॥</a:t>
            </a:r>
            <a:endParaRPr lang="en-IN"/>
          </a:p>
        </p:txBody>
      </p:sp>
      <p:sp>
        <p:nvSpPr>
          <p:cNvPr id="4" name="Slide Number Placeholder 3">
            <a:extLst>
              <a:ext uri="{FF2B5EF4-FFF2-40B4-BE49-F238E27FC236}">
                <a16:creationId xmlns:a16="http://schemas.microsoft.com/office/drawing/2014/main" id="{48EA40A0-6E44-49F9-6CC7-38FC8F40B3FF}"/>
              </a:ext>
            </a:extLst>
          </p:cNvPr>
          <p:cNvSpPr>
            <a:spLocks noGrp="1"/>
          </p:cNvSpPr>
          <p:nvPr>
            <p:ph type="sldNum" sz="quarter" idx="12"/>
          </p:nvPr>
        </p:nvSpPr>
        <p:spPr/>
        <p:txBody>
          <a:bodyPr/>
          <a:lstStyle/>
          <a:p>
            <a:fld id="{5AFE2CDC-18D4-4E7A-A4BC-D5EDA5D6481E}" type="slidenum">
              <a:rPr lang="en-IN" smtClean="0"/>
              <a:t>6</a:t>
            </a:fld>
            <a:endParaRPr lang="en-IN"/>
          </a:p>
        </p:txBody>
      </p:sp>
      <p:sp>
        <p:nvSpPr>
          <p:cNvPr id="5" name="Footer Placeholder 4">
            <a:extLst>
              <a:ext uri="{FF2B5EF4-FFF2-40B4-BE49-F238E27FC236}">
                <a16:creationId xmlns:a16="http://schemas.microsoft.com/office/drawing/2014/main" id="{D505654F-700B-88C5-DC33-F8C76DE1986A}"/>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105833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36879-51A0-4743-8F8D-49FB0F2A6289}"/>
              </a:ext>
            </a:extLst>
          </p:cNvPr>
          <p:cNvSpPr>
            <a:spLocks noGrp="1"/>
          </p:cNvSpPr>
          <p:nvPr>
            <p:ph type="title"/>
          </p:nvPr>
        </p:nvSpPr>
        <p:spPr>
          <a:xfrm>
            <a:off x="0" y="147484"/>
            <a:ext cx="12192000" cy="4611329"/>
          </a:xfrm>
        </p:spPr>
        <p:txBody>
          <a:bodyPr>
            <a:normAutofit fontScale="90000"/>
          </a:bodyPr>
          <a:lstStyle/>
          <a:p>
            <a:r>
              <a:rPr lang="en-IN">
                <a:solidFill>
                  <a:srgbClr val="FFFF00"/>
                </a:solidFill>
              </a:rPr>
              <a:t>॥ ३॥ </a:t>
            </a:r>
            <a:r>
              <a:rPr lang="en-IN"/>
              <a:t>भगवन् सर्वदर्शी त्वं महांश्च संशयः प्रादुर्भूतः शृणु। अथ इमाः प्रजाः स्थावरजङ्गमाः तथा द्यौरन्तरिक्षं पृथिवी च। तत्र कथमियं पृथिवी प्रादुर्बभूव। कस्माच्चेयं पृथिवी। क्व वा तिष्ठति। कथं वान्तरिक्षम्। कथं वा द्यौः॥</a:t>
            </a:r>
            <a:br>
              <a:rPr lang="en-IN"/>
            </a:br>
            <a:r>
              <a:rPr lang="en-IN">
                <a:solidFill>
                  <a:srgbClr val="FFFF00"/>
                </a:solidFill>
              </a:rPr>
              <a:t>॥ ४॥ </a:t>
            </a:r>
            <a:r>
              <a:rPr lang="en-IN"/>
              <a:t>कथं वा स्थावरजङ्गमानि भूतानि। कथं च उत्पन्ननि। सर्वाणि एव च महाभूतानि पञ्च तेषां किम् उग्रे सम्भूतम्॥</a:t>
            </a:r>
            <a:br>
              <a:rPr lang="en-IN"/>
            </a:br>
            <a:r>
              <a:rPr lang="en-IN">
                <a:solidFill>
                  <a:srgbClr val="FFFF00"/>
                </a:solidFill>
              </a:rPr>
              <a:t>॥ ५॥ </a:t>
            </a:r>
            <a:r>
              <a:rPr lang="en-IN"/>
              <a:t>तथा च समुद्राः कथं कति वा। कथं तेषां समुद्रत्वं सरितश्च॥</a:t>
            </a:r>
            <a:br>
              <a:rPr lang="en-IN"/>
            </a:br>
            <a:r>
              <a:rPr lang="en-IN">
                <a:solidFill>
                  <a:srgbClr val="FFFF00"/>
                </a:solidFill>
              </a:rPr>
              <a:t>॥ ६॥ </a:t>
            </a:r>
            <a:r>
              <a:rPr lang="en-IN"/>
              <a:t>कथं सर्वे गिरयश्चोत्पन्नाः। पर्वतानां वा कथं पर्वतत्वम्। गिरीणां वा कथं गिरित्वम्॥</a:t>
            </a:r>
            <a:br>
              <a:rPr lang="en-IN"/>
            </a:br>
            <a:r>
              <a:rPr lang="en-IN">
                <a:solidFill>
                  <a:srgbClr val="FFFF00"/>
                </a:solidFill>
              </a:rPr>
              <a:t>॥ ७॥ </a:t>
            </a:r>
            <a:r>
              <a:rPr lang="en-IN"/>
              <a:t>कथं च इमे नानाप्रकाराः तिर्यग्गतयो वाताः भवन्ति॥</a:t>
            </a:r>
          </a:p>
        </p:txBody>
      </p:sp>
      <p:sp>
        <p:nvSpPr>
          <p:cNvPr id="4" name="Slide Number Placeholder 3">
            <a:extLst>
              <a:ext uri="{FF2B5EF4-FFF2-40B4-BE49-F238E27FC236}">
                <a16:creationId xmlns:a16="http://schemas.microsoft.com/office/drawing/2014/main" id="{FB801EBD-C279-6FAD-6F7D-D8388EB7B53F}"/>
              </a:ext>
            </a:extLst>
          </p:cNvPr>
          <p:cNvSpPr>
            <a:spLocks noGrp="1"/>
          </p:cNvSpPr>
          <p:nvPr>
            <p:ph type="sldNum" sz="quarter" idx="12"/>
          </p:nvPr>
        </p:nvSpPr>
        <p:spPr/>
        <p:txBody>
          <a:bodyPr/>
          <a:lstStyle/>
          <a:p>
            <a:fld id="{5AFE2CDC-18D4-4E7A-A4BC-D5EDA5D6481E}" type="slidenum">
              <a:rPr lang="en-IN" smtClean="0"/>
              <a:t>7</a:t>
            </a:fld>
            <a:endParaRPr lang="en-IN"/>
          </a:p>
        </p:txBody>
      </p:sp>
      <p:sp>
        <p:nvSpPr>
          <p:cNvPr id="5" name="Footer Placeholder 4">
            <a:extLst>
              <a:ext uri="{FF2B5EF4-FFF2-40B4-BE49-F238E27FC236}">
                <a16:creationId xmlns:a16="http://schemas.microsoft.com/office/drawing/2014/main" id="{50A52918-EC60-6EEF-DB6C-7804FE622A85}"/>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736980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42294-73EA-8A3D-086B-8204092E3D10}"/>
              </a:ext>
            </a:extLst>
          </p:cNvPr>
          <p:cNvSpPr>
            <a:spLocks noGrp="1"/>
          </p:cNvSpPr>
          <p:nvPr>
            <p:ph type="title"/>
          </p:nvPr>
        </p:nvSpPr>
        <p:spPr>
          <a:xfrm>
            <a:off x="0" y="137653"/>
            <a:ext cx="12192000" cy="4572000"/>
          </a:xfrm>
        </p:spPr>
        <p:txBody>
          <a:bodyPr>
            <a:normAutofit fontScale="90000"/>
          </a:bodyPr>
          <a:lstStyle/>
          <a:p>
            <a:r>
              <a:rPr lang="en-IN">
                <a:solidFill>
                  <a:srgbClr val="FFFF00"/>
                </a:solidFill>
              </a:rPr>
              <a:t>॥ ८॥ </a:t>
            </a:r>
            <a:r>
              <a:rPr lang="en-IN"/>
              <a:t>कथं वा वर्षन्ति अभ्राणि वा धारयन्ति॥</a:t>
            </a:r>
            <a:br>
              <a:rPr lang="en-IN"/>
            </a:br>
            <a:r>
              <a:rPr lang="en-IN">
                <a:solidFill>
                  <a:srgbClr val="FFFF00"/>
                </a:solidFill>
              </a:rPr>
              <a:t>॥ ९॥ </a:t>
            </a:r>
            <a:r>
              <a:rPr lang="en-IN"/>
              <a:t>कथं च इह एते व्याधीवीरुधश्च। कथं विरूढाः। कथं वनस्पतयः पुष्यन्ति फलन्ति वा गृह्णन्ति॥</a:t>
            </a:r>
            <a:br>
              <a:rPr lang="en-IN"/>
            </a:br>
            <a:r>
              <a:rPr lang="en-IN">
                <a:solidFill>
                  <a:srgbClr val="FFFF00"/>
                </a:solidFill>
              </a:rPr>
              <a:t>॥ १०॥ </a:t>
            </a:r>
            <a:r>
              <a:rPr lang="en-IN"/>
              <a:t>कथमिमौ सूर्याचन्द्रमसौ उदयेते गच्छतो वा। कथं क्व विनिमज्जतः*। किं वैतयोः रश्म्यः परिसङ्ख्यायन्ते। कथं वा चन्द्रमसो वृद्धह्रासौ वा। को वैतमाप्यायते ह्रासयते वा। कथं वा चन्द्रमसश्चन्द्रत्वम्। कथं शशाङ्कः। किं वाप्येतत् शशाङ्कसंस्थितलक्ष्म चन्द्रमण्डलमध्ये। किं वा आदित्यस्य आदित्यत्वं सूर्यत्वं वा॥</a:t>
            </a:r>
            <a:br>
              <a:rPr lang="en-IN"/>
            </a:br>
            <a:r>
              <a:rPr lang="en-IN">
                <a:solidFill>
                  <a:srgbClr val="FFFF00"/>
                </a:solidFill>
              </a:rPr>
              <a:t>॥ ११॥ </a:t>
            </a:r>
            <a:r>
              <a:rPr lang="en-IN"/>
              <a:t>कथं वा अहोरात्रे वा अनयोः पूर्वमहः रात्रिर्वा। कथं प्रकाशत्वं दिवसरात्रेः वा प्रथमत्वम्। कथं चेमौ पक्षौ। को अनयोः पूर्वपक्षः शुक्लः कृष्णो वा॥ </a:t>
            </a:r>
          </a:p>
        </p:txBody>
      </p:sp>
      <p:sp>
        <p:nvSpPr>
          <p:cNvPr id="4" name="Slide Number Placeholder 3">
            <a:extLst>
              <a:ext uri="{FF2B5EF4-FFF2-40B4-BE49-F238E27FC236}">
                <a16:creationId xmlns:a16="http://schemas.microsoft.com/office/drawing/2014/main" id="{42889E30-7245-F8F0-014F-4E1D6D566FC4}"/>
              </a:ext>
            </a:extLst>
          </p:cNvPr>
          <p:cNvSpPr>
            <a:spLocks noGrp="1"/>
          </p:cNvSpPr>
          <p:nvPr>
            <p:ph type="sldNum" sz="quarter" idx="12"/>
          </p:nvPr>
        </p:nvSpPr>
        <p:spPr/>
        <p:txBody>
          <a:bodyPr/>
          <a:lstStyle/>
          <a:p>
            <a:fld id="{5AFE2CDC-18D4-4E7A-A4BC-D5EDA5D6481E}" type="slidenum">
              <a:rPr lang="en-IN" smtClean="0"/>
              <a:t>8</a:t>
            </a:fld>
            <a:endParaRPr lang="en-IN"/>
          </a:p>
        </p:txBody>
      </p:sp>
      <p:sp>
        <p:nvSpPr>
          <p:cNvPr id="5" name="Footer Placeholder 4">
            <a:extLst>
              <a:ext uri="{FF2B5EF4-FFF2-40B4-BE49-F238E27FC236}">
                <a16:creationId xmlns:a16="http://schemas.microsoft.com/office/drawing/2014/main" id="{EBC0EDEB-7298-735B-A9E5-4C411B8A3CDA}"/>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564050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75D12-D500-CEE0-C715-BFA14A2187CB}"/>
              </a:ext>
            </a:extLst>
          </p:cNvPr>
          <p:cNvSpPr>
            <a:spLocks noGrp="1"/>
          </p:cNvSpPr>
          <p:nvPr>
            <p:ph type="title"/>
          </p:nvPr>
        </p:nvSpPr>
        <p:spPr>
          <a:xfrm>
            <a:off x="0" y="131655"/>
            <a:ext cx="12192000" cy="4590288"/>
          </a:xfrm>
        </p:spPr>
        <p:txBody>
          <a:bodyPr>
            <a:normAutofit fontScale="90000"/>
          </a:bodyPr>
          <a:lstStyle/>
          <a:p>
            <a:r>
              <a:rPr lang="en-IN">
                <a:solidFill>
                  <a:srgbClr val="FFFF00"/>
                </a:solidFill>
              </a:rPr>
              <a:t>॥ १२॥ </a:t>
            </a:r>
            <a:r>
              <a:rPr lang="en-IN"/>
              <a:t>सूर्यचन्द्रमसौ वा कियत्यन्तरेण वा तिष्ठतः पृथिव्या। ग्रहा वा तिष्ठन्ति कथं चैषां ग्रहत्वं शुक्रबृहस्पत्यङ्गारकबुधशनैश्चरादीनां वा। कथं वा अस्तमयन्ति उदयन्ति वा। कथं वा उपहिंसन्ति। कति विधं वा पीडयन्ति आप्यायन्ति वा। कथं वेमे सपृष्टाः किमर्थम्। केव वा शुक्रस्य शुक्रत्वम्। बृहस्पतेः बृहस्पतिता। शनैश्चरस्य शनैश्चरत्वम्। अङ्गारकस्य अङ्गारकत्वम्। बुधस्य बुधत्वं वा। कति च एषाम् एकैकस्य रश्मयः परिसंख्यायन्ते। किं वा वर्णप्रकृतां पुष्यन्ति। रूक्षत्वं स्निग्धत्वं वा। कथं च अन्योन्येन समागच्छन्ति वा कतिविधं वा अन्योन्येन समागच्छन्ति योध्यन्ते कतिविधं च अन्योन्यं घ्नन्ति वा। को वैषां बलवत्तरः॥</a:t>
            </a:r>
          </a:p>
        </p:txBody>
      </p:sp>
      <p:sp>
        <p:nvSpPr>
          <p:cNvPr id="4" name="Slide Number Placeholder 3">
            <a:extLst>
              <a:ext uri="{FF2B5EF4-FFF2-40B4-BE49-F238E27FC236}">
                <a16:creationId xmlns:a16="http://schemas.microsoft.com/office/drawing/2014/main" id="{A1998FF2-D494-EEDD-360C-D51BF54D7772}"/>
              </a:ext>
            </a:extLst>
          </p:cNvPr>
          <p:cNvSpPr>
            <a:spLocks noGrp="1"/>
          </p:cNvSpPr>
          <p:nvPr>
            <p:ph type="sldNum" sz="quarter" idx="12"/>
          </p:nvPr>
        </p:nvSpPr>
        <p:spPr/>
        <p:txBody>
          <a:bodyPr/>
          <a:lstStyle/>
          <a:p>
            <a:fld id="{5AFE2CDC-18D4-4E7A-A4BC-D5EDA5D6481E}" type="slidenum">
              <a:rPr lang="en-IN" smtClean="0"/>
              <a:t>9</a:t>
            </a:fld>
            <a:endParaRPr lang="en-IN"/>
          </a:p>
        </p:txBody>
      </p:sp>
      <p:sp>
        <p:nvSpPr>
          <p:cNvPr id="5" name="Footer Placeholder 4">
            <a:extLst>
              <a:ext uri="{FF2B5EF4-FFF2-40B4-BE49-F238E27FC236}">
                <a16:creationId xmlns:a16="http://schemas.microsoft.com/office/drawing/2014/main" id="{81CACE66-60FD-FC85-9C24-DD739D5135B4}"/>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912387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48547-D1CC-F7F1-AEC3-6CFA2624C23F}"/>
              </a:ext>
            </a:extLst>
          </p:cNvPr>
          <p:cNvSpPr>
            <a:spLocks noGrp="1"/>
          </p:cNvSpPr>
          <p:nvPr>
            <p:ph type="title"/>
          </p:nvPr>
        </p:nvSpPr>
        <p:spPr>
          <a:xfrm>
            <a:off x="0" y="84940"/>
            <a:ext cx="12192000" cy="4595215"/>
          </a:xfrm>
        </p:spPr>
        <p:txBody>
          <a:bodyPr>
            <a:normAutofit fontScale="90000"/>
          </a:bodyPr>
          <a:lstStyle/>
          <a:p>
            <a:r>
              <a:rPr lang="en-IN">
                <a:solidFill>
                  <a:srgbClr val="FFFF00"/>
                </a:solidFill>
              </a:rPr>
              <a:t>॥ १३॥ </a:t>
            </a:r>
            <a:r>
              <a:rPr lang="en-IN"/>
              <a:t>कथं वा अयं राहुः सूर्याचन्द्रमसौ गृह्णीते। वर्णत्वात् विदर्शयति को। वैषम्यं कस्य वा कुतो वा गृह्णीते। क्व वा प्रतिवसत्यन्तर्हितः॥</a:t>
            </a:r>
            <a:br>
              <a:rPr lang="en-IN"/>
            </a:br>
            <a:r>
              <a:rPr lang="en-IN">
                <a:solidFill>
                  <a:srgbClr val="FFFF00"/>
                </a:solidFill>
              </a:rPr>
              <a:t>॥ १४॥ </a:t>
            </a:r>
            <a:r>
              <a:rPr lang="en-IN"/>
              <a:t>कथं वा इमे धूमकेतवः प्रादुर्भूताः। कतिवा एते परिसंख्यायन्ते। किं चैषां वर्णसङ्ख्यानं शिखापरिमाणं वा। के दृश्यन्ते। के अन्तर्हिताः तिष्ठन्ति वा॥</a:t>
            </a:r>
            <a:br>
              <a:rPr lang="en-IN"/>
            </a:br>
            <a:r>
              <a:rPr lang="en-IN">
                <a:solidFill>
                  <a:srgbClr val="FFFF00"/>
                </a:solidFill>
              </a:rPr>
              <a:t>॥ १५॥ </a:t>
            </a:r>
            <a:r>
              <a:rPr lang="en-IN"/>
              <a:t>कथं वेमे मेघाः भवन्ति। कुतो वा जलमानयित्वा वर्षन्ति। कथं वा पतन्ति। कथं वा अन्यत्र वर्षम्। कथं चान्यत्र न आतपं तपति। को वा एतान् अन्तरिक्ष धारयति। कथं वा नानाप्रकाराः वर्ण्याः पुष्यन्ति अभ्राणि। कथं वाप्यशनिः पतति। करका वा वारि वा वर्षन्ति वा। कथं वा धाराः सम्भवन्ति। को वा अत्रहेतुः॥</a:t>
            </a:r>
          </a:p>
        </p:txBody>
      </p:sp>
      <p:sp>
        <p:nvSpPr>
          <p:cNvPr id="4" name="Slide Number Placeholder 3">
            <a:extLst>
              <a:ext uri="{FF2B5EF4-FFF2-40B4-BE49-F238E27FC236}">
                <a16:creationId xmlns:a16="http://schemas.microsoft.com/office/drawing/2014/main" id="{1505C0BB-942A-8798-42E2-36DDE8E97866}"/>
              </a:ext>
            </a:extLst>
          </p:cNvPr>
          <p:cNvSpPr>
            <a:spLocks noGrp="1"/>
          </p:cNvSpPr>
          <p:nvPr>
            <p:ph type="sldNum" sz="quarter" idx="12"/>
          </p:nvPr>
        </p:nvSpPr>
        <p:spPr/>
        <p:txBody>
          <a:bodyPr/>
          <a:lstStyle/>
          <a:p>
            <a:fld id="{5AFE2CDC-18D4-4E7A-A4BC-D5EDA5D6481E}" type="slidenum">
              <a:rPr lang="en-IN" smtClean="0"/>
              <a:t>10</a:t>
            </a:fld>
            <a:endParaRPr lang="en-IN"/>
          </a:p>
        </p:txBody>
      </p:sp>
      <p:sp>
        <p:nvSpPr>
          <p:cNvPr id="5" name="Footer Placeholder 4">
            <a:extLst>
              <a:ext uri="{FF2B5EF4-FFF2-40B4-BE49-F238E27FC236}">
                <a16:creationId xmlns:a16="http://schemas.microsoft.com/office/drawing/2014/main" id="{392F2B78-C949-F723-AFBC-4E50615AC424}"/>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065451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84879-D881-52C3-FE24-A9F553A68DAA}"/>
              </a:ext>
            </a:extLst>
          </p:cNvPr>
          <p:cNvSpPr>
            <a:spLocks noGrp="1"/>
          </p:cNvSpPr>
          <p:nvPr>
            <p:ph type="title"/>
          </p:nvPr>
        </p:nvSpPr>
        <p:spPr>
          <a:xfrm>
            <a:off x="0" y="537223"/>
            <a:ext cx="12192000" cy="4142932"/>
          </a:xfrm>
        </p:spPr>
        <p:txBody>
          <a:bodyPr>
            <a:normAutofit fontScale="90000"/>
          </a:bodyPr>
          <a:lstStyle/>
          <a:p>
            <a:r>
              <a:rPr lang="en-IN">
                <a:solidFill>
                  <a:srgbClr val="FFFF00"/>
                </a:solidFill>
              </a:rPr>
              <a:t>॥ १६॥ </a:t>
            </a:r>
            <a:r>
              <a:rPr lang="en-IN"/>
              <a:t>कथं वा विद्युत् चरति प्रकाशते वा। कुतो वा विद्युत्। किञ्चैतत् शक्रधनुषां रूपवर्णाः सम्भवन्ति। कथं प्रतिसूर्यकोदयते मत्स्योवा अथ ऐरावतो वा। कुतोप्येतत् सर्वं कुरुते। कथं वा इमे मेघाः पूर्वदक्षिणाः दक्षिणपश्चिमाः पश्चिमोत्तराः उत्तरपूर्वाश्चेति दिशः। अथं वा निर्घातो निपतति। निर्घातः कुतः सम्भवति॥</a:t>
            </a:r>
            <a:br>
              <a:rPr lang="en-IN"/>
            </a:br>
            <a:r>
              <a:rPr lang="en-IN">
                <a:solidFill>
                  <a:srgbClr val="FFFF00"/>
                </a:solidFill>
              </a:rPr>
              <a:t>॥ १७॥ </a:t>
            </a:r>
            <a:r>
              <a:rPr lang="en-IN"/>
              <a:t>पृथिवीं वेमाः कः चालयति। किमर्थं वा पृथिव्याः कम्पो वा भवति। को वैनां मुञ्चति॥</a:t>
            </a:r>
            <a:br>
              <a:rPr lang="en-IN"/>
            </a:br>
            <a:r>
              <a:rPr lang="en-IN">
                <a:solidFill>
                  <a:srgbClr val="FFFF00"/>
                </a:solidFill>
              </a:rPr>
              <a:t>॥ १८॥ </a:t>
            </a:r>
            <a:r>
              <a:rPr lang="en-IN"/>
              <a:t>कथं वा मन्दप्रभाङ्गारिणी वा दूरगतिर्वा। कथं वा सन्ध्या। कस्मात् इमे एकवत्। कथं चेमा दिशो दीप्यन्ते। को वै दीपयति॥</a:t>
            </a:r>
          </a:p>
        </p:txBody>
      </p:sp>
      <p:sp>
        <p:nvSpPr>
          <p:cNvPr id="4" name="Slide Number Placeholder 3">
            <a:extLst>
              <a:ext uri="{FF2B5EF4-FFF2-40B4-BE49-F238E27FC236}">
                <a16:creationId xmlns:a16="http://schemas.microsoft.com/office/drawing/2014/main" id="{EDFBF7B6-AE20-3903-64BD-E192146A7BD8}"/>
              </a:ext>
            </a:extLst>
          </p:cNvPr>
          <p:cNvSpPr>
            <a:spLocks noGrp="1"/>
          </p:cNvSpPr>
          <p:nvPr>
            <p:ph type="sldNum" sz="quarter" idx="12"/>
          </p:nvPr>
        </p:nvSpPr>
        <p:spPr/>
        <p:txBody>
          <a:bodyPr/>
          <a:lstStyle/>
          <a:p>
            <a:fld id="{5AFE2CDC-18D4-4E7A-A4BC-D5EDA5D6481E}" type="slidenum">
              <a:rPr lang="en-IN" smtClean="0"/>
              <a:t>11</a:t>
            </a:fld>
            <a:endParaRPr lang="en-IN"/>
          </a:p>
        </p:txBody>
      </p:sp>
      <p:sp>
        <p:nvSpPr>
          <p:cNvPr id="5" name="Footer Placeholder 4">
            <a:extLst>
              <a:ext uri="{FF2B5EF4-FFF2-40B4-BE49-F238E27FC236}">
                <a16:creationId xmlns:a16="http://schemas.microsoft.com/office/drawing/2014/main" id="{7C09F888-BFD4-3B15-980D-BA7F1F203B7F}"/>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444362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819EC-7C1A-3521-5E4C-7A11D91E602F}"/>
              </a:ext>
            </a:extLst>
          </p:cNvPr>
          <p:cNvSpPr>
            <a:spLocks noGrp="1"/>
          </p:cNvSpPr>
          <p:nvPr>
            <p:ph type="title"/>
          </p:nvPr>
        </p:nvSpPr>
        <p:spPr>
          <a:xfrm>
            <a:off x="0" y="517558"/>
            <a:ext cx="12192000" cy="4142932"/>
          </a:xfrm>
        </p:spPr>
        <p:txBody>
          <a:bodyPr>
            <a:normAutofit fontScale="90000"/>
          </a:bodyPr>
          <a:lstStyle/>
          <a:p>
            <a:r>
              <a:rPr lang="en-IN">
                <a:solidFill>
                  <a:srgbClr val="FFFF00"/>
                </a:solidFill>
              </a:rPr>
              <a:t>॥ १९॥ </a:t>
            </a:r>
            <a:r>
              <a:rPr lang="en-IN"/>
              <a:t>कथं वा सूर्याचन्द्रमसोः ग्रहाणां परिवेषाः॥</a:t>
            </a:r>
            <a:br>
              <a:rPr lang="en-IN"/>
            </a:br>
            <a:r>
              <a:rPr lang="en-IN">
                <a:solidFill>
                  <a:srgbClr val="FFFF00"/>
                </a:solidFill>
              </a:rPr>
              <a:t>॥ २०॥ </a:t>
            </a:r>
            <a:r>
              <a:rPr lang="en-IN"/>
              <a:t>कति चैतानि नक्षत्राणी। कथमेषां नक्षत्रत्वम्। कथं वा सोमे समावसन्ति। किं चैषां दैवतप्रयोजनम्॥</a:t>
            </a:r>
            <a:br>
              <a:rPr lang="en-IN"/>
            </a:br>
            <a:r>
              <a:rPr lang="en-IN">
                <a:solidFill>
                  <a:srgbClr val="FFFF00"/>
                </a:solidFill>
              </a:rPr>
              <a:t>॥ २१॥ </a:t>
            </a:r>
            <a:r>
              <a:rPr lang="en-IN"/>
              <a:t>कथं वा सोमसंयुतानि कर्मण्यानि भवन्ति। अन्यैर्ग्रहैः संयुक्तानि अकर्मण्यानि। किम् इदाणीं कथं वा दीपयति॥</a:t>
            </a:r>
            <a:br>
              <a:rPr lang="en-IN"/>
            </a:br>
            <a:r>
              <a:rPr lang="en-IN">
                <a:solidFill>
                  <a:srgbClr val="FFFF00"/>
                </a:solidFill>
              </a:rPr>
              <a:t>॥ २२॥ </a:t>
            </a:r>
            <a:r>
              <a:rPr lang="en-IN"/>
              <a:t>कथं वा ऋतवः। कति वा शीतोष्णवर्षादयो विकाराः। को वैतत् कुरुते। कथं वाह्नो रात्रेः वा वृद्धिह्रासौ॥</a:t>
            </a:r>
            <a:br>
              <a:rPr lang="en-IN"/>
            </a:br>
            <a:r>
              <a:rPr lang="en-IN">
                <a:solidFill>
                  <a:srgbClr val="FFFF00"/>
                </a:solidFill>
              </a:rPr>
              <a:t>॥ २३॥ </a:t>
            </a:r>
            <a:r>
              <a:rPr lang="en-IN"/>
              <a:t>संवत्सरर्तु-पर्वग्रह-नक्षत्र-मुहूर्त-करणानां वा किं प्रमाणम् आदिः वा॥</a:t>
            </a:r>
          </a:p>
        </p:txBody>
      </p:sp>
      <p:sp>
        <p:nvSpPr>
          <p:cNvPr id="4" name="Slide Number Placeholder 3">
            <a:extLst>
              <a:ext uri="{FF2B5EF4-FFF2-40B4-BE49-F238E27FC236}">
                <a16:creationId xmlns:a16="http://schemas.microsoft.com/office/drawing/2014/main" id="{F6BC41F9-05D0-34F9-1746-197CDE7DCF36}"/>
              </a:ext>
            </a:extLst>
          </p:cNvPr>
          <p:cNvSpPr>
            <a:spLocks noGrp="1"/>
          </p:cNvSpPr>
          <p:nvPr>
            <p:ph type="sldNum" sz="quarter" idx="12"/>
          </p:nvPr>
        </p:nvSpPr>
        <p:spPr/>
        <p:txBody>
          <a:bodyPr/>
          <a:lstStyle/>
          <a:p>
            <a:fld id="{5AFE2CDC-18D4-4E7A-A4BC-D5EDA5D6481E}" type="slidenum">
              <a:rPr lang="en-IN" smtClean="0"/>
              <a:t>12</a:t>
            </a:fld>
            <a:endParaRPr lang="en-IN"/>
          </a:p>
        </p:txBody>
      </p:sp>
      <p:sp>
        <p:nvSpPr>
          <p:cNvPr id="5" name="Footer Placeholder 4">
            <a:extLst>
              <a:ext uri="{FF2B5EF4-FFF2-40B4-BE49-F238E27FC236}">
                <a16:creationId xmlns:a16="http://schemas.microsoft.com/office/drawing/2014/main" id="{41F451EA-5EF8-3726-882F-450402DC2688}"/>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926077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ECB7-8A13-AAB2-F7FA-76531B3DAEF9}"/>
              </a:ext>
            </a:extLst>
          </p:cNvPr>
          <p:cNvSpPr>
            <a:spLocks noGrp="1"/>
          </p:cNvSpPr>
          <p:nvPr>
            <p:ph type="title"/>
          </p:nvPr>
        </p:nvSpPr>
        <p:spPr>
          <a:xfrm>
            <a:off x="0" y="507727"/>
            <a:ext cx="12192000" cy="4142932"/>
          </a:xfrm>
        </p:spPr>
        <p:txBody>
          <a:bodyPr>
            <a:normAutofit fontScale="90000"/>
          </a:bodyPr>
          <a:lstStyle/>
          <a:p>
            <a:r>
              <a:rPr lang="en-IN">
                <a:solidFill>
                  <a:srgbClr val="FFFF00"/>
                </a:solidFill>
              </a:rPr>
              <a:t>॥ २४॥ </a:t>
            </a:r>
            <a:r>
              <a:rPr lang="en-IN"/>
              <a:t>कथं वेमे सप्तर्षयः पर्यागच्छन्ति भृग्वगस्त्यमृगगव्याधादयश्च॥</a:t>
            </a:r>
            <a:br>
              <a:rPr lang="en-IN"/>
            </a:br>
            <a:r>
              <a:rPr lang="en-IN">
                <a:solidFill>
                  <a:srgbClr val="FFFF00"/>
                </a:solidFill>
              </a:rPr>
              <a:t>॥ २५॥ </a:t>
            </a:r>
            <a:r>
              <a:rPr lang="en-IN"/>
              <a:t>कथं वा तारकाः। कति वा। कथं वा तारकाणां तारकत्वम्। परिमाणं कथम्॥</a:t>
            </a:r>
            <a:br>
              <a:rPr lang="en-IN"/>
            </a:br>
            <a:r>
              <a:rPr lang="en-IN">
                <a:solidFill>
                  <a:srgbClr val="FFFF00"/>
                </a:solidFill>
              </a:rPr>
              <a:t>॥ २६॥ </a:t>
            </a:r>
            <a:r>
              <a:rPr lang="en-IN"/>
              <a:t>कथं वा चतुष्पात् पक्षिणः कीटपिपीलिकाः॥</a:t>
            </a:r>
            <a:br>
              <a:rPr lang="en-IN"/>
            </a:br>
            <a:r>
              <a:rPr lang="en-IN">
                <a:solidFill>
                  <a:srgbClr val="FFFF00"/>
                </a:solidFill>
              </a:rPr>
              <a:t>॥ २७॥ </a:t>
            </a:r>
            <a:r>
              <a:rPr lang="en-IN"/>
              <a:t>कथं वा देव-दैत्य-यक्ष-रक्ष-पितृ-पिशाच-नाग-सुपर्ण-गन्धर्वा-प्सरसश्च॥</a:t>
            </a:r>
            <a:br>
              <a:rPr lang="en-IN"/>
            </a:br>
            <a:r>
              <a:rPr lang="en-IN">
                <a:solidFill>
                  <a:srgbClr val="FFFF00"/>
                </a:solidFill>
              </a:rPr>
              <a:t>॥ २८॥ </a:t>
            </a:r>
            <a:r>
              <a:rPr lang="en-IN"/>
              <a:t>किं वा पृथिव्याः परिमाणमन्तरिक्षस्य वा। दिवो वा रात्रेर्वा। समुद्रस्य वा मारुतस्य वा। पञ्च महाभूतानाः वा। आनुपूर्व्या यद्यस्य सत्यानृतलक्षणशः वा। एतत्सर्वम् अशेषतो ब्रुवतु भवान्॥</a:t>
            </a:r>
          </a:p>
        </p:txBody>
      </p:sp>
      <p:sp>
        <p:nvSpPr>
          <p:cNvPr id="4" name="Slide Number Placeholder 3">
            <a:extLst>
              <a:ext uri="{FF2B5EF4-FFF2-40B4-BE49-F238E27FC236}">
                <a16:creationId xmlns:a16="http://schemas.microsoft.com/office/drawing/2014/main" id="{014D9A7E-4D27-FA53-7C7C-5BDDB3B51836}"/>
              </a:ext>
            </a:extLst>
          </p:cNvPr>
          <p:cNvSpPr>
            <a:spLocks noGrp="1"/>
          </p:cNvSpPr>
          <p:nvPr>
            <p:ph type="sldNum" sz="quarter" idx="12"/>
          </p:nvPr>
        </p:nvSpPr>
        <p:spPr/>
        <p:txBody>
          <a:bodyPr/>
          <a:lstStyle/>
          <a:p>
            <a:fld id="{5AFE2CDC-18D4-4E7A-A4BC-D5EDA5D6481E}" type="slidenum">
              <a:rPr lang="en-IN" smtClean="0"/>
              <a:t>13</a:t>
            </a:fld>
            <a:endParaRPr lang="en-IN"/>
          </a:p>
        </p:txBody>
      </p:sp>
      <p:sp>
        <p:nvSpPr>
          <p:cNvPr id="5" name="Footer Placeholder 4">
            <a:extLst>
              <a:ext uri="{FF2B5EF4-FFF2-40B4-BE49-F238E27FC236}">
                <a16:creationId xmlns:a16="http://schemas.microsoft.com/office/drawing/2014/main" id="{20F67DE3-FCAF-F8EE-025E-456CA6153C91}"/>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985933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4842-9E1C-08C7-A766-A0B44D98D062}"/>
              </a:ext>
            </a:extLst>
          </p:cNvPr>
          <p:cNvSpPr>
            <a:spLocks noGrp="1"/>
          </p:cNvSpPr>
          <p:nvPr>
            <p:ph type="title"/>
          </p:nvPr>
        </p:nvSpPr>
        <p:spPr>
          <a:xfrm>
            <a:off x="0" y="753533"/>
            <a:ext cx="12192000" cy="2801935"/>
          </a:xfrm>
        </p:spPr>
        <p:txBody>
          <a:bodyPr/>
          <a:lstStyle/>
          <a:p>
            <a:r>
              <a:rPr lang="en-IN">
                <a:solidFill>
                  <a:srgbClr val="FFFF00"/>
                </a:solidFill>
              </a:rPr>
              <a:t>॥ २९॥ </a:t>
            </a:r>
            <a:r>
              <a:rPr lang="en-IN"/>
              <a:t>इति वृद्धगार्गीये महासलिले प्रश्ननिर्देशो नाम अध्यायः॥</a:t>
            </a:r>
          </a:p>
        </p:txBody>
      </p:sp>
      <p:sp>
        <p:nvSpPr>
          <p:cNvPr id="4" name="Slide Number Placeholder 3">
            <a:extLst>
              <a:ext uri="{FF2B5EF4-FFF2-40B4-BE49-F238E27FC236}">
                <a16:creationId xmlns:a16="http://schemas.microsoft.com/office/drawing/2014/main" id="{3D656BD7-926E-E4AB-70A3-5DB395236D5E}"/>
              </a:ext>
            </a:extLst>
          </p:cNvPr>
          <p:cNvSpPr>
            <a:spLocks noGrp="1"/>
          </p:cNvSpPr>
          <p:nvPr>
            <p:ph type="sldNum" sz="quarter" idx="12"/>
          </p:nvPr>
        </p:nvSpPr>
        <p:spPr/>
        <p:txBody>
          <a:bodyPr/>
          <a:lstStyle/>
          <a:p>
            <a:fld id="{5AFE2CDC-18D4-4E7A-A4BC-D5EDA5D6481E}" type="slidenum">
              <a:rPr lang="en-IN" smtClean="0"/>
              <a:t>14</a:t>
            </a:fld>
            <a:endParaRPr lang="en-IN"/>
          </a:p>
        </p:txBody>
      </p:sp>
      <p:sp>
        <p:nvSpPr>
          <p:cNvPr id="5" name="Footer Placeholder 4">
            <a:extLst>
              <a:ext uri="{FF2B5EF4-FFF2-40B4-BE49-F238E27FC236}">
                <a16:creationId xmlns:a16="http://schemas.microsoft.com/office/drawing/2014/main" id="{E4A8EFA5-FAAA-DE67-920B-556083F16BFC}"/>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459246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73E94-6846-75B8-8F45-F5DEFB5D0B11}"/>
              </a:ext>
            </a:extLst>
          </p:cNvPr>
          <p:cNvSpPr>
            <a:spLocks noGrp="1"/>
          </p:cNvSpPr>
          <p:nvPr>
            <p:ph type="title"/>
          </p:nvPr>
        </p:nvSpPr>
        <p:spPr>
          <a:xfrm>
            <a:off x="0" y="753533"/>
            <a:ext cx="12192000" cy="2801935"/>
          </a:xfrm>
        </p:spPr>
        <p:txBody>
          <a:bodyPr/>
          <a:lstStyle/>
          <a:p>
            <a:r>
              <a:rPr lang="en-IN">
                <a:solidFill>
                  <a:srgbClr val="FFFF00"/>
                </a:solidFill>
              </a:rPr>
              <a:t>॥ ३०॥ </a:t>
            </a:r>
            <a:r>
              <a:rPr lang="en-IN"/>
              <a:t>अत ऊर्ध्वं भाष्यं वक्ष्ये॥</a:t>
            </a:r>
          </a:p>
        </p:txBody>
      </p:sp>
      <p:sp>
        <p:nvSpPr>
          <p:cNvPr id="4" name="Slide Number Placeholder 3">
            <a:extLst>
              <a:ext uri="{FF2B5EF4-FFF2-40B4-BE49-F238E27FC236}">
                <a16:creationId xmlns:a16="http://schemas.microsoft.com/office/drawing/2014/main" id="{337B6E6E-94C4-AC8D-497B-BE9AEB96BEAD}"/>
              </a:ext>
            </a:extLst>
          </p:cNvPr>
          <p:cNvSpPr>
            <a:spLocks noGrp="1"/>
          </p:cNvSpPr>
          <p:nvPr>
            <p:ph type="sldNum" sz="quarter" idx="12"/>
          </p:nvPr>
        </p:nvSpPr>
        <p:spPr/>
        <p:txBody>
          <a:bodyPr/>
          <a:lstStyle/>
          <a:p>
            <a:fld id="{5AFE2CDC-18D4-4E7A-A4BC-D5EDA5D6481E}" type="slidenum">
              <a:rPr lang="en-IN" smtClean="0"/>
              <a:t>15</a:t>
            </a:fld>
            <a:endParaRPr lang="en-IN"/>
          </a:p>
        </p:txBody>
      </p:sp>
      <p:sp>
        <p:nvSpPr>
          <p:cNvPr id="5" name="Footer Placeholder 4">
            <a:extLst>
              <a:ext uri="{FF2B5EF4-FFF2-40B4-BE49-F238E27FC236}">
                <a16:creationId xmlns:a16="http://schemas.microsoft.com/office/drawing/2014/main" id="{4AA21EE3-CA68-EFCC-64CA-A01790E19D2E}"/>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846387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5CD2-51BF-1963-6F7A-164790825278}"/>
              </a:ext>
            </a:extLst>
          </p:cNvPr>
          <p:cNvSpPr>
            <a:spLocks noGrp="1"/>
          </p:cNvSpPr>
          <p:nvPr>
            <p:ph type="title"/>
          </p:nvPr>
        </p:nvSpPr>
        <p:spPr>
          <a:xfrm>
            <a:off x="0" y="753533"/>
            <a:ext cx="12192000" cy="3159706"/>
          </a:xfrm>
        </p:spPr>
        <p:txBody>
          <a:bodyPr>
            <a:normAutofit fontScale="90000"/>
          </a:bodyPr>
          <a:lstStyle/>
          <a:p>
            <a:r>
              <a:rPr lang="en-IN">
                <a:solidFill>
                  <a:srgbClr val="FFFF00"/>
                </a:solidFill>
              </a:rPr>
              <a:t>॥ ३१॥ </a:t>
            </a:r>
            <a:r>
              <a:rPr lang="en-IN"/>
              <a:t>अथ भगवान् अग्नीषोमप्रभावः परमर्षिः अप्रमेयज्ञानः सर्वज्ञः सर्वदर्शी होवाच आनुपूर्व्या पृष्टे गर्गः। प्रश्नमिदं समुद्रमिव दुर्विगाह्यं सकृतात्मना च परमदुर्विज्ञेयम् अभिसमाधाय आत्मानं सम्यगभिनिश्चित्य, भो विश्वामित्र महानयं भवता संशयः प्रोक्तः। सर्वदुर्वचव्यापि सर्वस्यास्य जगतः प्रभवश्च अव्ययस्य चेष्टा च वैतदकृतात्मना अशक्यं प्रष्टुं विज्ञातुं वा। तद्भवानपि मनाक्सर्वमेव यथोद्दिष्टमानुपूर्व्या शृणोतु भवानितः॥</a:t>
            </a:r>
          </a:p>
        </p:txBody>
      </p:sp>
      <p:sp>
        <p:nvSpPr>
          <p:cNvPr id="4" name="Slide Number Placeholder 3">
            <a:extLst>
              <a:ext uri="{FF2B5EF4-FFF2-40B4-BE49-F238E27FC236}">
                <a16:creationId xmlns:a16="http://schemas.microsoft.com/office/drawing/2014/main" id="{D5E33383-9D09-C4E6-022E-8B3385E5B1B4}"/>
              </a:ext>
            </a:extLst>
          </p:cNvPr>
          <p:cNvSpPr>
            <a:spLocks noGrp="1"/>
          </p:cNvSpPr>
          <p:nvPr>
            <p:ph type="sldNum" sz="quarter" idx="12"/>
          </p:nvPr>
        </p:nvSpPr>
        <p:spPr/>
        <p:txBody>
          <a:bodyPr/>
          <a:lstStyle/>
          <a:p>
            <a:fld id="{5AFE2CDC-18D4-4E7A-A4BC-D5EDA5D6481E}" type="slidenum">
              <a:rPr lang="en-IN" smtClean="0"/>
              <a:t>16</a:t>
            </a:fld>
            <a:endParaRPr lang="en-IN"/>
          </a:p>
        </p:txBody>
      </p:sp>
      <p:sp>
        <p:nvSpPr>
          <p:cNvPr id="5" name="Footer Placeholder 4">
            <a:extLst>
              <a:ext uri="{FF2B5EF4-FFF2-40B4-BE49-F238E27FC236}">
                <a16:creationId xmlns:a16="http://schemas.microsoft.com/office/drawing/2014/main" id="{CBEE8429-0C1B-54E1-C5A3-B8C78FF0AA68}"/>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706460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E9D15-64A2-381A-1500-B5B0CCEC3196}"/>
              </a:ext>
            </a:extLst>
          </p:cNvPr>
          <p:cNvSpPr>
            <a:spLocks noGrp="1"/>
          </p:cNvSpPr>
          <p:nvPr>
            <p:ph type="title"/>
          </p:nvPr>
        </p:nvSpPr>
        <p:spPr/>
        <p:txBody>
          <a:bodyPr>
            <a:normAutofit/>
          </a:bodyPr>
          <a:lstStyle/>
          <a:p>
            <a:r>
              <a:rPr lang="en-IN" sz="5000"/>
              <a:t>सृष्टिः</a:t>
            </a:r>
          </a:p>
        </p:txBody>
      </p:sp>
      <p:sp>
        <p:nvSpPr>
          <p:cNvPr id="5" name="Text Placeholder 4">
            <a:extLst>
              <a:ext uri="{FF2B5EF4-FFF2-40B4-BE49-F238E27FC236}">
                <a16:creationId xmlns:a16="http://schemas.microsoft.com/office/drawing/2014/main" id="{7722D95B-5AAC-50F6-3457-CFCD499E8B7A}"/>
              </a:ext>
            </a:extLst>
          </p:cNvPr>
          <p:cNvSpPr>
            <a:spLocks noGrp="1"/>
          </p:cNvSpPr>
          <p:nvPr>
            <p:ph type="body" sz="half" idx="2"/>
          </p:nvPr>
        </p:nvSpPr>
        <p:spPr/>
        <p:txBody>
          <a:bodyPr/>
          <a:lstStyle/>
          <a:p>
            <a:endParaRPr lang="en-IN"/>
          </a:p>
        </p:txBody>
      </p:sp>
      <p:sp>
        <p:nvSpPr>
          <p:cNvPr id="3" name="Slide Number Placeholder 2">
            <a:extLst>
              <a:ext uri="{FF2B5EF4-FFF2-40B4-BE49-F238E27FC236}">
                <a16:creationId xmlns:a16="http://schemas.microsoft.com/office/drawing/2014/main" id="{C59134BE-4F84-9AB7-4C9A-EADA48277D60}"/>
              </a:ext>
            </a:extLst>
          </p:cNvPr>
          <p:cNvSpPr>
            <a:spLocks noGrp="1"/>
          </p:cNvSpPr>
          <p:nvPr>
            <p:ph type="sldNum" sz="quarter" idx="12"/>
          </p:nvPr>
        </p:nvSpPr>
        <p:spPr/>
        <p:txBody>
          <a:bodyPr/>
          <a:lstStyle/>
          <a:p>
            <a:fld id="{5AFE2CDC-18D4-4E7A-A4BC-D5EDA5D6481E}" type="slidenum">
              <a:rPr lang="en-IN" smtClean="0"/>
              <a:t>17</a:t>
            </a:fld>
            <a:endParaRPr lang="en-IN"/>
          </a:p>
        </p:txBody>
      </p:sp>
      <p:sp>
        <p:nvSpPr>
          <p:cNvPr id="4" name="Footer Placeholder 3">
            <a:extLst>
              <a:ext uri="{FF2B5EF4-FFF2-40B4-BE49-F238E27FC236}">
                <a16:creationId xmlns:a16="http://schemas.microsoft.com/office/drawing/2014/main" id="{5ADEBE1B-F63D-4108-07CE-44484B2C0AE1}"/>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37407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A25C0-94B6-F2FB-9A5B-DF9FADAAA0A9}"/>
              </a:ext>
            </a:extLst>
          </p:cNvPr>
          <p:cNvSpPr>
            <a:spLocks noGrp="1"/>
          </p:cNvSpPr>
          <p:nvPr>
            <p:ph type="title"/>
          </p:nvPr>
        </p:nvSpPr>
        <p:spPr>
          <a:xfrm>
            <a:off x="0" y="753533"/>
            <a:ext cx="12192000" cy="2801935"/>
          </a:xfrm>
        </p:spPr>
        <p:txBody>
          <a:bodyPr>
            <a:normAutofit fontScale="90000"/>
          </a:bodyPr>
          <a:lstStyle/>
          <a:p>
            <a:r>
              <a:rPr lang="en-IN">
                <a:solidFill>
                  <a:srgbClr val="FFFF00"/>
                </a:solidFill>
              </a:rPr>
              <a:t>॥ ३२॥ </a:t>
            </a:r>
            <a:r>
              <a:rPr lang="en-IN"/>
              <a:t>सलिलमिवासीदन्धे तमसि निरामये लोके तत्राण्डं दिव्यरूपमद्भुतं सम्बभूव। अण्डं महत्प्रमाणमितश्चेतश्च सन्धावति तत्र ब्रह्मा आत्मानमसृजत्। तत्र द्विधा अण्डमभवत्। तस्य च यदधस्तात् कपालं तत् प्रथितम्। तस्य चेयं पृथिवी। यदुपरिष्टात् सा द्यौः। यत्तयोः अन्तरम् एनामपि ईक्ष्यते क्षितिं च अन्तरस्थिताम् अत्र वा क्षीयन्ते सर्व एव भूतग्रामाः इत्येतत् एवमन्तरिक्षम्॥</a:t>
            </a:r>
          </a:p>
        </p:txBody>
      </p:sp>
      <p:sp>
        <p:nvSpPr>
          <p:cNvPr id="4" name="Slide Number Placeholder 3">
            <a:extLst>
              <a:ext uri="{FF2B5EF4-FFF2-40B4-BE49-F238E27FC236}">
                <a16:creationId xmlns:a16="http://schemas.microsoft.com/office/drawing/2014/main" id="{14F2EAD6-1888-60E8-01AF-D1B675997F7E}"/>
              </a:ext>
            </a:extLst>
          </p:cNvPr>
          <p:cNvSpPr>
            <a:spLocks noGrp="1"/>
          </p:cNvSpPr>
          <p:nvPr>
            <p:ph type="sldNum" sz="quarter" idx="12"/>
          </p:nvPr>
        </p:nvSpPr>
        <p:spPr/>
        <p:txBody>
          <a:bodyPr/>
          <a:lstStyle/>
          <a:p>
            <a:fld id="{5AFE2CDC-18D4-4E7A-A4BC-D5EDA5D6481E}" type="slidenum">
              <a:rPr lang="en-IN" smtClean="0"/>
              <a:t>18</a:t>
            </a:fld>
            <a:endParaRPr lang="en-IN"/>
          </a:p>
        </p:txBody>
      </p:sp>
      <p:sp>
        <p:nvSpPr>
          <p:cNvPr id="5" name="Footer Placeholder 4">
            <a:extLst>
              <a:ext uri="{FF2B5EF4-FFF2-40B4-BE49-F238E27FC236}">
                <a16:creationId xmlns:a16="http://schemas.microsoft.com/office/drawing/2014/main" id="{01E4296D-6D9F-E96E-2FAF-4A5FF3EBE188}"/>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643628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E98FDDC-BBAA-66F1-3AFC-97CAF65B42F1}"/>
              </a:ext>
            </a:extLst>
          </p:cNvPr>
          <p:cNvSpPr>
            <a:spLocks noGrp="1"/>
          </p:cNvSpPr>
          <p:nvPr>
            <p:ph idx="1"/>
          </p:nvPr>
        </p:nvSpPr>
        <p:spPr>
          <a:xfrm>
            <a:off x="685800" y="1907457"/>
            <a:ext cx="10820400" cy="4311227"/>
          </a:xfrm>
        </p:spPr>
        <p:txBody>
          <a:bodyPr>
            <a:normAutofit lnSpcReduction="10000"/>
          </a:bodyPr>
          <a:lstStyle/>
          <a:p>
            <a:r>
              <a:rPr lang="en-IN"/>
              <a:t>सृष्टेः पूर्वं सलिलम् इव अन्धे तमसि </a:t>
            </a:r>
            <a:r>
              <a:rPr lang="en-IN" sz="1600" i="1"/>
              <a:t>(fluid dark matter from which all creation happens)</a:t>
            </a:r>
            <a:r>
              <a:rPr lang="en-IN" i="1"/>
              <a:t> </a:t>
            </a:r>
            <a:r>
              <a:rPr lang="en-IN"/>
              <a:t>सर्वं शान्तम् आसीत्।</a:t>
            </a:r>
          </a:p>
          <a:p>
            <a:r>
              <a:rPr lang="en-IN"/>
              <a:t>तदा एकः अण्डः असम्भवत् </a:t>
            </a:r>
            <a:r>
              <a:rPr lang="en-IN" sz="2000" i="1"/>
              <a:t>(हिरण्यगर्भः)</a:t>
            </a:r>
            <a:r>
              <a:rPr lang="en-IN"/>
              <a:t>।</a:t>
            </a:r>
          </a:p>
          <a:p>
            <a:r>
              <a:rPr lang="en-IN"/>
              <a:t>तदा ब्रह्मा आत्मानं सृष्टवान्। </a:t>
            </a:r>
          </a:p>
          <a:p>
            <a:r>
              <a:rPr lang="en-IN"/>
              <a:t>सः अण्डः च द्विधा अभवत्। </a:t>
            </a:r>
          </a:p>
          <a:p>
            <a:r>
              <a:rPr lang="en-IN"/>
              <a:t>प्रथितः (विस्तृतः) अधोभागः पृथिवी भूता।</a:t>
            </a:r>
          </a:p>
          <a:p>
            <a:pPr lvl="1"/>
            <a:r>
              <a:rPr lang="en-IN"/>
              <a:t>अस्मान् परितः दिङ्मण्डलपर्यन्तं यद्सर्वम् अस्ति सा पृथिव्याम् अन्तर्भवति।</a:t>
            </a:r>
          </a:p>
          <a:p>
            <a:pPr lvl="1"/>
            <a:r>
              <a:rPr lang="en-IN"/>
              <a:t>मेरुः पृथिव्याः मध्यभागम्।</a:t>
            </a:r>
          </a:p>
          <a:p>
            <a:r>
              <a:rPr lang="en-IN"/>
              <a:t>उपरितनभागः द्यौः।</a:t>
            </a:r>
          </a:p>
          <a:p>
            <a:pPr lvl="1"/>
            <a:r>
              <a:rPr lang="en-IN"/>
              <a:t>आकाशे यद्सर्वम् वर्तते तत्सर्वं द्यौः।</a:t>
            </a:r>
          </a:p>
          <a:p>
            <a:pPr lvl="1"/>
            <a:r>
              <a:rPr lang="en-IN"/>
              <a:t>ध्रुवः द्योः मध्यभागम्।</a:t>
            </a:r>
          </a:p>
          <a:p>
            <a:r>
              <a:rPr lang="en-IN"/>
              <a:t>तयोः मध्ये अन्तरिक्षम्। </a:t>
            </a:r>
          </a:p>
          <a:p>
            <a:pPr lvl="1"/>
            <a:r>
              <a:rPr lang="en-IN"/>
              <a:t>सर्वे भूतग्रामाः अत्र क्षीयन्ते इति अन्तरिक्षम्।</a:t>
            </a:r>
          </a:p>
          <a:p>
            <a:endParaRPr lang="en-IN"/>
          </a:p>
        </p:txBody>
      </p:sp>
      <p:sp>
        <p:nvSpPr>
          <p:cNvPr id="4" name="Footer Placeholder 3">
            <a:extLst>
              <a:ext uri="{FF2B5EF4-FFF2-40B4-BE49-F238E27FC236}">
                <a16:creationId xmlns:a16="http://schemas.microsoft.com/office/drawing/2014/main" id="{127C5903-6D6A-5EF8-8FB6-F16C7C1E89B3}"/>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3" name="Slide Number Placeholder 2">
            <a:extLst>
              <a:ext uri="{FF2B5EF4-FFF2-40B4-BE49-F238E27FC236}">
                <a16:creationId xmlns:a16="http://schemas.microsoft.com/office/drawing/2014/main" id="{201B71A4-68BB-E340-3CE8-100AF9C58B18}"/>
              </a:ext>
            </a:extLst>
          </p:cNvPr>
          <p:cNvSpPr>
            <a:spLocks noGrp="1"/>
          </p:cNvSpPr>
          <p:nvPr>
            <p:ph type="sldNum" sz="quarter" idx="12"/>
          </p:nvPr>
        </p:nvSpPr>
        <p:spPr/>
        <p:txBody>
          <a:bodyPr/>
          <a:lstStyle/>
          <a:p>
            <a:fld id="{5AFE2CDC-18D4-4E7A-A4BC-D5EDA5D6481E}" type="slidenum">
              <a:rPr lang="en-IN" smtClean="0"/>
              <a:t>19</a:t>
            </a:fld>
            <a:endParaRPr lang="en-IN"/>
          </a:p>
        </p:txBody>
      </p:sp>
    </p:spTree>
    <p:extLst>
      <p:ext uri="{BB962C8B-B14F-4D97-AF65-F5344CB8AC3E}">
        <p14:creationId xmlns:p14="http://schemas.microsoft.com/office/powerpoint/2010/main" val="4279581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EF61F-4176-213B-CD1C-6068B1EFC6C2}"/>
              </a:ext>
            </a:extLst>
          </p:cNvPr>
          <p:cNvSpPr>
            <a:spLocks noGrp="1"/>
          </p:cNvSpPr>
          <p:nvPr>
            <p:ph type="title"/>
          </p:nvPr>
        </p:nvSpPr>
        <p:spPr>
          <a:xfrm>
            <a:off x="0" y="75107"/>
            <a:ext cx="12192000" cy="4654209"/>
          </a:xfrm>
        </p:spPr>
        <p:txBody>
          <a:bodyPr>
            <a:normAutofit fontScale="90000"/>
          </a:bodyPr>
          <a:lstStyle/>
          <a:p>
            <a:r>
              <a:rPr lang="en-IN">
                <a:solidFill>
                  <a:srgbClr val="FFFF00"/>
                </a:solidFill>
              </a:rPr>
              <a:t>॥ ३३॥ </a:t>
            </a:r>
            <a:r>
              <a:rPr lang="en-IN"/>
              <a:t>सोवाच भूरिति भुवम्। भुवरिति अन्तरिक्षम्। सुवरिति दिवम्। स च पूर्वमेव तेजसा अग्निम् असृजत। ततस्तस्मात् पूर्वं ज्वलितार्चिः जुह्वन् ततो भृगुरजायत। तत्र अङ्गिराः समभवत्। तस्मिन् स्वाहाकारे आङ्गिरसमसृजत। स च पुनः प्रज्वाल्य अग्निं जुहोति। अस्मिन् स्वाहाकारे कश्यपः सोजायत। तत्र अङ्गिराः समभवत्। तस्मिन् स्वाहाकारे वसिष्ठपक्षः अजायत। पञ्चमे स्वाहाकारे गौरजायत। षष्ठे स्वाहाकारे तेजः। सप्तमे स्वाहाकारे वसन्तम् असृजत ब्राह्मणांश्च वक्त्रात्। अष्टमे स्वाहाकारे ग्रीष्ममसृजत राजन्यांश्च दौर्भ्याम्। नवमे स्वाहाकारे वर्षा असृजत तदूरुभ्यां च वैश्यान्। दशमे स्वाहाकारे शरदम् असृजत पादयोश्च शूद्रान्। एकादशे स्वाहाकारे हेमन्तशिशिरौ उभौ सृज्येते॥</a:t>
            </a:r>
          </a:p>
        </p:txBody>
      </p:sp>
      <p:sp>
        <p:nvSpPr>
          <p:cNvPr id="4" name="Slide Number Placeholder 3">
            <a:extLst>
              <a:ext uri="{FF2B5EF4-FFF2-40B4-BE49-F238E27FC236}">
                <a16:creationId xmlns:a16="http://schemas.microsoft.com/office/drawing/2014/main" id="{05AA776D-1302-1054-2FF5-6112EC83D04C}"/>
              </a:ext>
            </a:extLst>
          </p:cNvPr>
          <p:cNvSpPr>
            <a:spLocks noGrp="1"/>
          </p:cNvSpPr>
          <p:nvPr>
            <p:ph type="sldNum" sz="quarter" idx="12"/>
          </p:nvPr>
        </p:nvSpPr>
        <p:spPr/>
        <p:txBody>
          <a:bodyPr/>
          <a:lstStyle/>
          <a:p>
            <a:fld id="{5AFE2CDC-18D4-4E7A-A4BC-D5EDA5D6481E}" type="slidenum">
              <a:rPr lang="en-IN" smtClean="0"/>
              <a:t>20</a:t>
            </a:fld>
            <a:endParaRPr lang="en-IN"/>
          </a:p>
        </p:txBody>
      </p:sp>
      <p:sp>
        <p:nvSpPr>
          <p:cNvPr id="5" name="Footer Placeholder 4">
            <a:extLst>
              <a:ext uri="{FF2B5EF4-FFF2-40B4-BE49-F238E27FC236}">
                <a16:creationId xmlns:a16="http://schemas.microsoft.com/office/drawing/2014/main" id="{3F0CA3BA-0C4B-0C91-314C-9D1B7D79784E}"/>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4095963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288DEF-5950-4F9D-E438-BE5F740D1CC7}"/>
              </a:ext>
            </a:extLst>
          </p:cNvPr>
          <p:cNvSpPr>
            <a:spLocks noGrp="1"/>
          </p:cNvSpPr>
          <p:nvPr>
            <p:ph idx="1"/>
          </p:nvPr>
        </p:nvSpPr>
        <p:spPr>
          <a:xfrm>
            <a:off x="685800" y="1868128"/>
            <a:ext cx="10820400" cy="4350557"/>
          </a:xfrm>
        </p:spPr>
        <p:txBody>
          <a:bodyPr>
            <a:normAutofit lnSpcReduction="10000"/>
          </a:bodyPr>
          <a:lstStyle/>
          <a:p>
            <a:r>
              <a:rPr lang="en-IN"/>
              <a:t>ब्रह्मा भूः भुवः सुवः इति पृथिव्यै अन्तरिक्षाय द्यवे उक्तवान्।</a:t>
            </a:r>
          </a:p>
          <a:p>
            <a:r>
              <a:rPr lang="en-IN"/>
              <a:t>स्वतेजसः अग्निं </a:t>
            </a:r>
            <a:r>
              <a:rPr lang="en-IN" sz="1600" i="1"/>
              <a:t>(proto sun)</a:t>
            </a:r>
            <a:r>
              <a:rPr lang="en-IN" i="1"/>
              <a:t> </a:t>
            </a:r>
            <a:r>
              <a:rPr lang="en-IN"/>
              <a:t>सृष्टवान्।</a:t>
            </a:r>
          </a:p>
          <a:p>
            <a:r>
              <a:rPr lang="en-IN"/>
              <a:t>सृष्टिहोमं जुह्वन् सः भृगुं </a:t>
            </a:r>
            <a:r>
              <a:rPr lang="en-IN" sz="1600" i="1"/>
              <a:t>(proto Venus)</a:t>
            </a:r>
            <a:r>
              <a:rPr lang="en-IN"/>
              <a:t> सृष्टवान्।</a:t>
            </a:r>
          </a:p>
          <a:p>
            <a:r>
              <a:rPr lang="en-IN"/>
              <a:t>तदनन्तरं आङ्गिरसं </a:t>
            </a:r>
            <a:r>
              <a:rPr lang="en-IN" sz="1600" i="1"/>
              <a:t>(proto Jupiter)</a:t>
            </a:r>
            <a:r>
              <a:rPr lang="en-IN"/>
              <a:t> सृष्टवान्।</a:t>
            </a:r>
          </a:p>
          <a:p>
            <a:r>
              <a:rPr lang="en-IN"/>
              <a:t>पुनः होमं हुत्वा कश्यपं सृष्टवान्। अग्रिम स्वाहाकारे वसिष्ठः अजायत। </a:t>
            </a:r>
            <a:r>
              <a:rPr lang="en-IN" sz="2000" i="1"/>
              <a:t>(प्रायः एते सप्तर्षिमण्डलस्य ताराः।)</a:t>
            </a:r>
          </a:p>
          <a:p>
            <a:r>
              <a:rPr lang="en-IN"/>
              <a:t>पञ्चमः षष्ठः च स्वाहाकारे गौः </a:t>
            </a:r>
            <a:r>
              <a:rPr lang="en-IN" sz="1600" i="1"/>
              <a:t>(light-rays)</a:t>
            </a:r>
            <a:r>
              <a:rPr lang="en-IN"/>
              <a:t> तेजः </a:t>
            </a:r>
            <a:r>
              <a:rPr lang="en-IN" sz="1600" i="1"/>
              <a:t>(radiance)</a:t>
            </a:r>
            <a:r>
              <a:rPr lang="en-IN"/>
              <a:t> च अजायताम्।</a:t>
            </a:r>
          </a:p>
          <a:p>
            <a:r>
              <a:rPr lang="en-IN"/>
              <a:t>सप्तमः स्वाहाकारे वक्त्रात् ब्राह्मणान् वसन्तऋतुं च असृजत।</a:t>
            </a:r>
          </a:p>
          <a:p>
            <a:r>
              <a:rPr lang="en-IN"/>
              <a:t>अष्टमे च बाहुभ्यां राजन्यान् ग्रीष्मऋतुं च सृजत।</a:t>
            </a:r>
          </a:p>
          <a:p>
            <a:r>
              <a:rPr lang="en-IN"/>
              <a:t>नवमे ऊरुभ्यां वैश्यान् वर्षां च असृजत।</a:t>
            </a:r>
          </a:p>
          <a:p>
            <a:r>
              <a:rPr lang="en-IN"/>
              <a:t>दशमे स्वाहाकारे पद्भ्यां शूद्रान् शरदं च असृजत।</a:t>
            </a:r>
          </a:p>
          <a:p>
            <a:r>
              <a:rPr lang="en-IN"/>
              <a:t>एकादशे स्वाहाकारे हेमन्तः शिशिरः उभौ अजायताम्।</a:t>
            </a:r>
          </a:p>
        </p:txBody>
      </p:sp>
      <p:sp>
        <p:nvSpPr>
          <p:cNvPr id="4" name="Footer Placeholder 3">
            <a:extLst>
              <a:ext uri="{FF2B5EF4-FFF2-40B4-BE49-F238E27FC236}">
                <a16:creationId xmlns:a16="http://schemas.microsoft.com/office/drawing/2014/main" id="{AF27ECBC-ADF2-953C-4829-99F59DE4CE30}"/>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E7259D40-993D-C580-B277-B05B79F75D00}"/>
              </a:ext>
            </a:extLst>
          </p:cNvPr>
          <p:cNvSpPr>
            <a:spLocks noGrp="1"/>
          </p:cNvSpPr>
          <p:nvPr>
            <p:ph type="sldNum" sz="quarter" idx="12"/>
          </p:nvPr>
        </p:nvSpPr>
        <p:spPr/>
        <p:txBody>
          <a:bodyPr/>
          <a:lstStyle/>
          <a:p>
            <a:fld id="{5AFE2CDC-18D4-4E7A-A4BC-D5EDA5D6481E}" type="slidenum">
              <a:rPr lang="en-IN" smtClean="0"/>
              <a:pPr/>
              <a:t>21</a:t>
            </a:fld>
            <a:endParaRPr lang="en-IN"/>
          </a:p>
        </p:txBody>
      </p:sp>
    </p:spTree>
    <p:extLst>
      <p:ext uri="{BB962C8B-B14F-4D97-AF65-F5344CB8AC3E}">
        <p14:creationId xmlns:p14="http://schemas.microsoft.com/office/powerpoint/2010/main" val="1468844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1DAFD-4E4B-8BC2-C820-2022FD165D40}"/>
              </a:ext>
            </a:extLst>
          </p:cNvPr>
          <p:cNvSpPr>
            <a:spLocks noGrp="1"/>
          </p:cNvSpPr>
          <p:nvPr>
            <p:ph type="title"/>
          </p:nvPr>
        </p:nvSpPr>
        <p:spPr>
          <a:xfrm>
            <a:off x="0" y="753533"/>
            <a:ext cx="12192000" cy="3130209"/>
          </a:xfrm>
        </p:spPr>
        <p:txBody>
          <a:bodyPr>
            <a:normAutofit fontScale="90000"/>
          </a:bodyPr>
          <a:lstStyle/>
          <a:p>
            <a:r>
              <a:rPr lang="en-IN">
                <a:solidFill>
                  <a:srgbClr val="FFFF00"/>
                </a:solidFill>
              </a:rPr>
              <a:t>॥ ३४ ॥ </a:t>
            </a:r>
            <a:r>
              <a:rPr lang="en-IN"/>
              <a:t>त्वग्वाता अजायत। तस्य ललाटे स्वेदः प्रादुरासीत्। तत्र अजुहोत्। तस्मिन् स्वाहाकारे मेषः पशुः अजायत। तस्य रोमाणि उत्पाद्य अजुहोत्। तस्मिन् स्वाहाकारे व्रीहियवादयः ओषध्यो ग्रीष्माणि अक्षुद्राः सवृक्षतृणलताः समभवन्॥</a:t>
            </a:r>
            <a:br>
              <a:rPr lang="en-IN"/>
            </a:br>
            <a:r>
              <a:rPr lang="en-IN">
                <a:solidFill>
                  <a:srgbClr val="FFFF00"/>
                </a:solidFill>
              </a:rPr>
              <a:t>॥ ३५॥ </a:t>
            </a:r>
            <a:r>
              <a:rPr lang="en-IN"/>
              <a:t>पञ्चमहाभूतान् असृजदानुपूर्व्यात्। स पूर्वम् आकाशं मारुतं अग्निं आपः पृथिवीं च सम्यगभिविनिश्चित्य चिन्तामापेदे। सृष्टानि एतानि पञ्चमहाभूतानि। परमज्ञान- समन्विताः च सर्व एव प्रजाविशेषाः। प्रजापतिः इदानीं स्रष्टव्य इति॥</a:t>
            </a:r>
          </a:p>
        </p:txBody>
      </p:sp>
      <p:sp>
        <p:nvSpPr>
          <p:cNvPr id="3" name="Slide Number Placeholder 2">
            <a:extLst>
              <a:ext uri="{FF2B5EF4-FFF2-40B4-BE49-F238E27FC236}">
                <a16:creationId xmlns:a16="http://schemas.microsoft.com/office/drawing/2014/main" id="{C672A52D-832C-3BB2-E056-FD7EDE3A6204}"/>
              </a:ext>
            </a:extLst>
          </p:cNvPr>
          <p:cNvSpPr>
            <a:spLocks noGrp="1"/>
          </p:cNvSpPr>
          <p:nvPr>
            <p:ph type="sldNum" sz="quarter" idx="12"/>
          </p:nvPr>
        </p:nvSpPr>
        <p:spPr/>
        <p:txBody>
          <a:bodyPr/>
          <a:lstStyle/>
          <a:p>
            <a:fld id="{5AFE2CDC-18D4-4E7A-A4BC-D5EDA5D6481E}" type="slidenum">
              <a:rPr lang="en-IN" smtClean="0"/>
              <a:t>22</a:t>
            </a:fld>
            <a:endParaRPr lang="en-IN"/>
          </a:p>
        </p:txBody>
      </p:sp>
      <p:sp>
        <p:nvSpPr>
          <p:cNvPr id="4" name="Footer Placeholder 3">
            <a:extLst>
              <a:ext uri="{FF2B5EF4-FFF2-40B4-BE49-F238E27FC236}">
                <a16:creationId xmlns:a16="http://schemas.microsoft.com/office/drawing/2014/main" id="{B605DA1C-29D4-3655-6FB3-44027716C468}"/>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3968610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A5E4CE-73FE-AB11-07A4-7BD7ED8A7371}"/>
              </a:ext>
            </a:extLst>
          </p:cNvPr>
          <p:cNvSpPr>
            <a:spLocks noGrp="1"/>
          </p:cNvSpPr>
          <p:nvPr>
            <p:ph idx="1"/>
          </p:nvPr>
        </p:nvSpPr>
        <p:spPr/>
        <p:txBody>
          <a:bodyPr/>
          <a:lstStyle/>
          <a:p>
            <a:r>
              <a:rPr lang="en-IN"/>
              <a:t>ब्रह्मणः त्वचे वाताः अजायत। तस्य त्वगेव वायुः अस्ति।</a:t>
            </a:r>
          </a:p>
          <a:p>
            <a:r>
              <a:rPr lang="en-IN"/>
              <a:t>तस्य स्वेदात् मेषः पशुः </a:t>
            </a:r>
            <a:r>
              <a:rPr lang="en-IN" sz="1600" i="1"/>
              <a:t>(manifestation of a fleecy animal)</a:t>
            </a:r>
            <a:r>
              <a:rPr lang="en-IN"/>
              <a:t> अजायत।</a:t>
            </a:r>
          </a:p>
          <a:p>
            <a:pPr lvl="1"/>
            <a:r>
              <a:rPr lang="en-IN"/>
              <a:t>मेषः – मिष् धातुः </a:t>
            </a:r>
            <a:r>
              <a:rPr lang="en-IN" sz="1400" i="1"/>
              <a:t>(to blink)</a:t>
            </a:r>
            <a:endParaRPr lang="en-IN"/>
          </a:p>
          <a:p>
            <a:pPr lvl="1"/>
            <a:r>
              <a:rPr lang="en-IN"/>
              <a:t>पशुः – पश् धातुः </a:t>
            </a:r>
            <a:r>
              <a:rPr lang="en-IN" sz="1400" i="1"/>
              <a:t>(to see)</a:t>
            </a:r>
            <a:endParaRPr lang="en-IN"/>
          </a:p>
          <a:p>
            <a:r>
              <a:rPr lang="en-IN"/>
              <a:t>मेषस्य केषान् हुत्वा व्रीहिः </a:t>
            </a:r>
            <a:r>
              <a:rPr lang="en-IN" sz="1600" i="1"/>
              <a:t>(grains)</a:t>
            </a:r>
            <a:r>
              <a:rPr lang="en-IN"/>
              <a:t>, यवादयः </a:t>
            </a:r>
            <a:r>
              <a:rPr lang="en-IN" sz="1600" i="1"/>
              <a:t>(millets)</a:t>
            </a:r>
            <a:r>
              <a:rPr lang="en-IN"/>
              <a:t>, ओषध्यः </a:t>
            </a:r>
            <a:r>
              <a:rPr lang="en-IN" sz="1600" i="1"/>
              <a:t>(herbs)</a:t>
            </a:r>
            <a:r>
              <a:rPr lang="en-IN"/>
              <a:t>, वृक्षाः, तृणा, लताः इत्यादि अजायन्त।</a:t>
            </a:r>
          </a:p>
          <a:p>
            <a:r>
              <a:rPr lang="en-IN"/>
              <a:t>अनन्तरं ब्रह्मा पञ्चमहाभूतान् सृष्टवान्। </a:t>
            </a:r>
          </a:p>
          <a:p>
            <a:pPr lvl="1"/>
            <a:r>
              <a:rPr lang="en-IN"/>
              <a:t>आकाशः, वायुः, अग्निः, जलं, भूमिः च।</a:t>
            </a:r>
          </a:p>
          <a:p>
            <a:r>
              <a:rPr lang="en-IN"/>
              <a:t>तदनन्तरं सः प्रजापतिः स्रष्टव्यः इति चिन्तितवान्।</a:t>
            </a:r>
          </a:p>
        </p:txBody>
      </p:sp>
      <p:sp>
        <p:nvSpPr>
          <p:cNvPr id="4" name="Footer Placeholder 3">
            <a:extLst>
              <a:ext uri="{FF2B5EF4-FFF2-40B4-BE49-F238E27FC236}">
                <a16:creationId xmlns:a16="http://schemas.microsoft.com/office/drawing/2014/main" id="{CCEDE1ED-0D9F-3B41-A451-068E4FEF2E60}"/>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274E84F9-2910-9BFD-2D60-0FD60282D00D}"/>
              </a:ext>
            </a:extLst>
          </p:cNvPr>
          <p:cNvSpPr>
            <a:spLocks noGrp="1"/>
          </p:cNvSpPr>
          <p:nvPr>
            <p:ph type="sldNum" sz="quarter" idx="12"/>
          </p:nvPr>
        </p:nvSpPr>
        <p:spPr/>
        <p:txBody>
          <a:bodyPr/>
          <a:lstStyle/>
          <a:p>
            <a:fld id="{5AFE2CDC-18D4-4E7A-A4BC-D5EDA5D6481E}" type="slidenum">
              <a:rPr lang="en-IN" smtClean="0"/>
              <a:pPr/>
              <a:t>23</a:t>
            </a:fld>
            <a:endParaRPr lang="en-IN"/>
          </a:p>
        </p:txBody>
      </p:sp>
    </p:spTree>
    <p:extLst>
      <p:ext uri="{BB962C8B-B14F-4D97-AF65-F5344CB8AC3E}">
        <p14:creationId xmlns:p14="http://schemas.microsoft.com/office/powerpoint/2010/main" val="3929625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AAA02-F91A-F9D5-E2B6-6761CDB33962}"/>
              </a:ext>
            </a:extLst>
          </p:cNvPr>
          <p:cNvSpPr>
            <a:spLocks noGrp="1"/>
          </p:cNvSpPr>
          <p:nvPr>
            <p:ph type="title"/>
          </p:nvPr>
        </p:nvSpPr>
        <p:spPr>
          <a:xfrm>
            <a:off x="0" y="497894"/>
            <a:ext cx="12192000" cy="4162596"/>
          </a:xfrm>
        </p:spPr>
        <p:txBody>
          <a:bodyPr>
            <a:normAutofit fontScale="90000"/>
          </a:bodyPr>
          <a:lstStyle/>
          <a:p>
            <a:r>
              <a:rPr lang="en-IN">
                <a:solidFill>
                  <a:srgbClr val="FFFF00"/>
                </a:solidFill>
              </a:rPr>
              <a:t>॥ ३६॥ </a:t>
            </a:r>
            <a:r>
              <a:rPr lang="en-IN"/>
              <a:t>स प्रजापतिरसृजत। प्रचेतसः पुत्रमसृजत् दक्षो नाम। तस्य इदानीं दुहितरः षष्टिरासन्। तासामिमाः प्रजाः स्थावरजङ्गमाः तथा देव-दैत्य-यक्ष-राक्षस-गन्धर्व-किन्नर-महोरग-नाग-सुपर्ण-गन्धर्वाप्सरसश्च सर्वा एव प्रजाविशेषाः, प्राग्विशेषाः, प्राग्वेलाश्च समुद्रानसृजत्। समुद्रवक्ष्येषु भूतानि इति।</a:t>
            </a:r>
            <a:br>
              <a:rPr lang="en-IN"/>
            </a:br>
            <a:r>
              <a:rPr lang="en-IN">
                <a:solidFill>
                  <a:srgbClr val="FFFF00"/>
                </a:solidFill>
              </a:rPr>
              <a:t>॥ ३७॥ </a:t>
            </a:r>
            <a:r>
              <a:rPr lang="en-IN"/>
              <a:t>समुद्राः सागरक्षीरोदं रत्नकरान् सर्वान् प्रदक्षिणं संसक्तोदांश्चतुर्थं च वालुकासमुद्रम् अम्भसा विवर्जितं, सरितश्च सर्वाः असृजत्, एकोत्तरं नदीसहस्रम्। अशोष्याणां पुण्यानां कल्मषनाशनीनां तासां सरस्वती श्रेष्ठतमा। समुद्राश्च वनानि न परिवर्तितव्यम्, इति सोवाच। पञ्चनद्यः गङ्गा च सप्तधा। विसृष्टैषा सप्तधा॥</a:t>
            </a:r>
          </a:p>
        </p:txBody>
      </p:sp>
      <p:sp>
        <p:nvSpPr>
          <p:cNvPr id="3" name="Slide Number Placeholder 2">
            <a:extLst>
              <a:ext uri="{FF2B5EF4-FFF2-40B4-BE49-F238E27FC236}">
                <a16:creationId xmlns:a16="http://schemas.microsoft.com/office/drawing/2014/main" id="{FAB479D6-1E23-18AA-C8AD-9D6DCDD0913D}"/>
              </a:ext>
            </a:extLst>
          </p:cNvPr>
          <p:cNvSpPr>
            <a:spLocks noGrp="1"/>
          </p:cNvSpPr>
          <p:nvPr>
            <p:ph type="sldNum" sz="quarter" idx="12"/>
          </p:nvPr>
        </p:nvSpPr>
        <p:spPr/>
        <p:txBody>
          <a:bodyPr/>
          <a:lstStyle/>
          <a:p>
            <a:fld id="{5AFE2CDC-18D4-4E7A-A4BC-D5EDA5D6481E}" type="slidenum">
              <a:rPr lang="en-IN" smtClean="0"/>
              <a:t>24</a:t>
            </a:fld>
            <a:endParaRPr lang="en-IN"/>
          </a:p>
        </p:txBody>
      </p:sp>
      <p:sp>
        <p:nvSpPr>
          <p:cNvPr id="4" name="Footer Placeholder 3">
            <a:extLst>
              <a:ext uri="{FF2B5EF4-FFF2-40B4-BE49-F238E27FC236}">
                <a16:creationId xmlns:a16="http://schemas.microsoft.com/office/drawing/2014/main" id="{CB33A352-6766-2858-FD74-AB70D3B02257}"/>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843098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2670F1-7FAC-58F2-210F-A5545795F5E3}"/>
              </a:ext>
            </a:extLst>
          </p:cNvPr>
          <p:cNvSpPr>
            <a:spLocks noGrp="1"/>
          </p:cNvSpPr>
          <p:nvPr>
            <p:ph idx="1"/>
          </p:nvPr>
        </p:nvSpPr>
        <p:spPr>
          <a:xfrm>
            <a:off x="685800" y="1984248"/>
            <a:ext cx="10820400" cy="4234438"/>
          </a:xfrm>
        </p:spPr>
        <p:txBody>
          <a:bodyPr>
            <a:normAutofit/>
          </a:bodyPr>
          <a:lstStyle/>
          <a:p>
            <a:r>
              <a:rPr lang="en-IN"/>
              <a:t>प्रजापतिः समभवत्।</a:t>
            </a:r>
          </a:p>
          <a:p>
            <a:r>
              <a:rPr lang="en-IN"/>
              <a:t>प्रजापतेः प्रचेतसा दक्षः अजायत।</a:t>
            </a:r>
          </a:p>
          <a:p>
            <a:r>
              <a:rPr lang="en-IN"/>
              <a:t>दक्षस्य ३० पुत्र्याः। ताभ्यः प्रजापतिः स्थिरभूतानि स्थावरभूतानि देवान् दैत्यान् यक्षान् राक्षसान् गन्धर्वान् किन्नरान् महोरगान् नागान् सुपर्णान् अप्सरान् च सर्वान् प्रजाविशेषान् अजायन्त।</a:t>
            </a:r>
          </a:p>
          <a:p>
            <a:r>
              <a:rPr lang="en-IN"/>
              <a:t>सः प्रजापतिः समुद्रतटान् समुद्रान् जलचरान् च सृष्टवान्। </a:t>
            </a:r>
          </a:p>
          <a:p>
            <a:r>
              <a:rPr lang="en-IN"/>
              <a:t>क्षीरोदयं मरुभूमिं अपि च १००१ नदीन् सृष्टवान्। </a:t>
            </a:r>
          </a:p>
          <a:p>
            <a:pPr lvl="1"/>
            <a:r>
              <a:rPr lang="en-IN"/>
              <a:t>सप्तनद्यः श्रेष्ठाः – शुतुद्रिः, विपाशा, परुष्णी, असिक्नी, वितस्ता, गङ्गा, सरस्वती।</a:t>
            </a:r>
          </a:p>
          <a:p>
            <a:pPr lvl="1"/>
            <a:r>
              <a:rPr lang="en-IN"/>
              <a:t>तासां च सरस्वती श्रेष्ठतमा।</a:t>
            </a:r>
          </a:p>
          <a:p>
            <a:pPr lvl="1"/>
            <a:r>
              <a:rPr lang="en-IN" i="1"/>
              <a:t>अस्मात् ज्ञायते तत्काले सरस्वती सम्यक् वहन्ती आसीत् इति।</a:t>
            </a:r>
          </a:p>
        </p:txBody>
      </p:sp>
      <p:sp>
        <p:nvSpPr>
          <p:cNvPr id="4" name="Footer Placeholder 3">
            <a:extLst>
              <a:ext uri="{FF2B5EF4-FFF2-40B4-BE49-F238E27FC236}">
                <a16:creationId xmlns:a16="http://schemas.microsoft.com/office/drawing/2014/main" id="{441F58A2-8F73-4A13-612D-B40CAD680C34}"/>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A4EE5F1E-1EA1-C727-3EB0-F84DF5CEDB6B}"/>
              </a:ext>
            </a:extLst>
          </p:cNvPr>
          <p:cNvSpPr>
            <a:spLocks noGrp="1"/>
          </p:cNvSpPr>
          <p:nvPr>
            <p:ph type="sldNum" sz="quarter" idx="12"/>
          </p:nvPr>
        </p:nvSpPr>
        <p:spPr/>
        <p:txBody>
          <a:bodyPr/>
          <a:lstStyle/>
          <a:p>
            <a:fld id="{5AFE2CDC-18D4-4E7A-A4BC-D5EDA5D6481E}" type="slidenum">
              <a:rPr lang="en-IN" smtClean="0"/>
              <a:pPr/>
              <a:t>25</a:t>
            </a:fld>
            <a:endParaRPr lang="en-IN"/>
          </a:p>
        </p:txBody>
      </p:sp>
    </p:spTree>
    <p:extLst>
      <p:ext uri="{BB962C8B-B14F-4D97-AF65-F5344CB8AC3E}">
        <p14:creationId xmlns:p14="http://schemas.microsoft.com/office/powerpoint/2010/main" val="3197684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01BF3F6-D453-70A3-4573-DE9FE6EB9C42}"/>
              </a:ext>
            </a:extLst>
          </p:cNvPr>
          <p:cNvSpPr>
            <a:spLocks noGrp="1"/>
          </p:cNvSpPr>
          <p:nvPr>
            <p:ph type="title"/>
          </p:nvPr>
        </p:nvSpPr>
        <p:spPr/>
        <p:txBody>
          <a:bodyPr/>
          <a:lstStyle/>
          <a:p>
            <a:r>
              <a:rPr lang="en-IN"/>
              <a:t>भूगोलः</a:t>
            </a:r>
          </a:p>
        </p:txBody>
      </p:sp>
      <p:sp>
        <p:nvSpPr>
          <p:cNvPr id="7" name="Text Placeholder 6">
            <a:extLst>
              <a:ext uri="{FF2B5EF4-FFF2-40B4-BE49-F238E27FC236}">
                <a16:creationId xmlns:a16="http://schemas.microsoft.com/office/drawing/2014/main" id="{123A91AB-9AA1-EA5F-BEFB-33A28487F428}"/>
              </a:ext>
            </a:extLst>
          </p:cNvPr>
          <p:cNvSpPr>
            <a:spLocks noGrp="1"/>
          </p:cNvSpPr>
          <p:nvPr>
            <p:ph type="body" sz="half" idx="2"/>
          </p:nvPr>
        </p:nvSpPr>
        <p:spPr/>
        <p:txBody>
          <a:bodyPr/>
          <a:lstStyle/>
          <a:p>
            <a:endParaRPr lang="en-IN"/>
          </a:p>
        </p:txBody>
      </p:sp>
      <p:sp>
        <p:nvSpPr>
          <p:cNvPr id="4" name="Slide Number Placeholder 3">
            <a:extLst>
              <a:ext uri="{FF2B5EF4-FFF2-40B4-BE49-F238E27FC236}">
                <a16:creationId xmlns:a16="http://schemas.microsoft.com/office/drawing/2014/main" id="{5B006073-993C-7597-3478-8244AC3B5C10}"/>
              </a:ext>
            </a:extLst>
          </p:cNvPr>
          <p:cNvSpPr>
            <a:spLocks noGrp="1"/>
          </p:cNvSpPr>
          <p:nvPr>
            <p:ph type="sldNum" sz="quarter" idx="12"/>
          </p:nvPr>
        </p:nvSpPr>
        <p:spPr/>
        <p:txBody>
          <a:bodyPr/>
          <a:lstStyle/>
          <a:p>
            <a:fld id="{5AFE2CDC-18D4-4E7A-A4BC-D5EDA5D6481E}" type="slidenum">
              <a:rPr lang="en-IN" smtClean="0"/>
              <a:t>26</a:t>
            </a:fld>
            <a:endParaRPr lang="en-IN"/>
          </a:p>
        </p:txBody>
      </p:sp>
      <p:sp>
        <p:nvSpPr>
          <p:cNvPr id="5" name="Footer Placeholder 4">
            <a:extLst>
              <a:ext uri="{FF2B5EF4-FFF2-40B4-BE49-F238E27FC236}">
                <a16:creationId xmlns:a16="http://schemas.microsoft.com/office/drawing/2014/main" id="{53D65DBD-2596-7960-77ED-BDE4955E3A7E}"/>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6373254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66547-A57A-8DD5-935D-8C69A400618F}"/>
              </a:ext>
            </a:extLst>
          </p:cNvPr>
          <p:cNvSpPr>
            <a:spLocks noGrp="1"/>
          </p:cNvSpPr>
          <p:nvPr>
            <p:ph type="title"/>
          </p:nvPr>
        </p:nvSpPr>
        <p:spPr>
          <a:xfrm>
            <a:off x="0" y="527391"/>
            <a:ext cx="12192000" cy="4142932"/>
          </a:xfrm>
        </p:spPr>
        <p:txBody>
          <a:bodyPr>
            <a:normAutofit fontScale="90000"/>
          </a:bodyPr>
          <a:lstStyle/>
          <a:p>
            <a:r>
              <a:rPr lang="en-IN">
                <a:solidFill>
                  <a:srgbClr val="FFFF00"/>
                </a:solidFill>
              </a:rPr>
              <a:t>॥ ३८॥ </a:t>
            </a:r>
            <a:r>
              <a:rPr lang="en-IN"/>
              <a:t>षट्कमहापर्वताः हिमवन्तं हेमकूटं माल्यवन्तं नीलं शृङ्गवन्तं गन्धमादनम्। एवमन्यांश्च गिरीन् पर्वतांश्च, भूमेः आवरणार्थम्। येषु मण्डलाः ते अग्निगिरयः। येतु पर्वता अधः ऊर्ध्वम् उत्पतिताः, ते पञ्चता पर्ववन्तो ह्येते। सर्व एव वैते ज्येष्ठाः प्रजापतेः पुत्राः॥</a:t>
            </a:r>
            <a:br>
              <a:rPr lang="en-IN"/>
            </a:br>
            <a:r>
              <a:rPr lang="en-IN">
                <a:solidFill>
                  <a:srgbClr val="FFFF00"/>
                </a:solidFill>
              </a:rPr>
              <a:t>॥ ३९॥ </a:t>
            </a:r>
            <a:r>
              <a:rPr lang="en-IN"/>
              <a:t>तेषाम् अन्तरेण द्विपानां पर्वतशतानि। तेषां च पृथिव्याश्च मध्ये मेरुः नाम काञ्चनो गिरिः अजायत। षडशीति योजनसहस्राणि उच्छ्रितः तद्वत् विस्तृतः। तस्य च पूर्वतः प्राग्ज्योतिषो नाम महाद्वीपः। दक्षिणतो जम्बूद्वीपो नाम। पश्चिमतः केतुमाला। उत्तराःकुरव उत्तरतः। सर्वेचैतेमहाद्वीपाः पृथिव्यां परस्परेण गम्याः॥</a:t>
            </a:r>
          </a:p>
        </p:txBody>
      </p:sp>
      <p:sp>
        <p:nvSpPr>
          <p:cNvPr id="3" name="Slide Number Placeholder 2">
            <a:extLst>
              <a:ext uri="{FF2B5EF4-FFF2-40B4-BE49-F238E27FC236}">
                <a16:creationId xmlns:a16="http://schemas.microsoft.com/office/drawing/2014/main" id="{D0C46EFD-97C6-FC6F-0F04-7D82A9E3BDFB}"/>
              </a:ext>
            </a:extLst>
          </p:cNvPr>
          <p:cNvSpPr>
            <a:spLocks noGrp="1"/>
          </p:cNvSpPr>
          <p:nvPr>
            <p:ph type="sldNum" sz="quarter" idx="12"/>
          </p:nvPr>
        </p:nvSpPr>
        <p:spPr/>
        <p:txBody>
          <a:bodyPr/>
          <a:lstStyle/>
          <a:p>
            <a:fld id="{5AFE2CDC-18D4-4E7A-A4BC-D5EDA5D6481E}" type="slidenum">
              <a:rPr lang="en-IN" smtClean="0"/>
              <a:t>27</a:t>
            </a:fld>
            <a:endParaRPr lang="en-IN"/>
          </a:p>
        </p:txBody>
      </p:sp>
      <p:sp>
        <p:nvSpPr>
          <p:cNvPr id="4" name="Footer Placeholder 3">
            <a:extLst>
              <a:ext uri="{FF2B5EF4-FFF2-40B4-BE49-F238E27FC236}">
                <a16:creationId xmlns:a16="http://schemas.microsoft.com/office/drawing/2014/main" id="{00CB7699-68E3-A859-41C0-2B1A9BEBBBBA}"/>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732945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D8800E-409D-B3D7-F4D2-71765B651253}"/>
              </a:ext>
            </a:extLst>
          </p:cNvPr>
          <p:cNvSpPr>
            <a:spLocks noGrp="1"/>
          </p:cNvSpPr>
          <p:nvPr>
            <p:ph idx="1"/>
          </p:nvPr>
        </p:nvSpPr>
        <p:spPr>
          <a:xfrm>
            <a:off x="685800" y="1976284"/>
            <a:ext cx="10820400" cy="4242402"/>
          </a:xfrm>
        </p:spPr>
        <p:txBody>
          <a:bodyPr>
            <a:normAutofit lnSpcReduction="10000"/>
          </a:bodyPr>
          <a:lstStyle/>
          <a:p>
            <a:r>
              <a:rPr lang="en-IN"/>
              <a:t>भूमेः आवरणार्थं षट्महापर्वतान् सृष्टवान्।</a:t>
            </a:r>
          </a:p>
          <a:p>
            <a:pPr lvl="1"/>
            <a:r>
              <a:rPr lang="en-IN"/>
              <a:t>हिमवान् हेमकूटः माल्यवन्तः नीलः शृङ्गवन्तः गन्धमादनः च।</a:t>
            </a:r>
          </a:p>
          <a:p>
            <a:r>
              <a:rPr lang="en-IN"/>
              <a:t>येषु पर्वतेषु मण्डलमुखं ते अग्निगिरयः </a:t>
            </a:r>
            <a:r>
              <a:rPr lang="en-IN" sz="1600" i="1"/>
              <a:t>(volcano)</a:t>
            </a:r>
            <a:r>
              <a:rPr lang="en-IN"/>
              <a:t>।</a:t>
            </a:r>
          </a:p>
          <a:p>
            <a:r>
              <a:rPr lang="en-IN"/>
              <a:t>ये पर्वताः अधस्तात् उत्पतिताः ते पञ्चधा पर्ववन्तः।</a:t>
            </a:r>
          </a:p>
          <a:p>
            <a:r>
              <a:rPr lang="en-IN"/>
              <a:t>तेषां मध्ये द्विपानां पर्वतशतानि।</a:t>
            </a:r>
          </a:p>
          <a:p>
            <a:r>
              <a:rPr lang="en-IN"/>
              <a:t>पृथिव्याः मध्ये मेरुः इति काञ्चनगिरिः अजायत। सः ८६००० योजनानि उच्छ्रितः विस्तृतः च अस्ति।</a:t>
            </a:r>
          </a:p>
          <a:p>
            <a:pPr lvl="1"/>
            <a:r>
              <a:rPr lang="en-IN"/>
              <a:t>एतत् प्रायः २८५० </a:t>
            </a:r>
            <a:r>
              <a:rPr lang="en-IN" sz="1700"/>
              <a:t>BC</a:t>
            </a:r>
            <a:r>
              <a:rPr lang="en-IN"/>
              <a:t> मध्ये आगतवत्। तदा अभयः (ध्रुवः/</a:t>
            </a:r>
            <a:r>
              <a:rPr lang="en-IN" sz="1400" i="1"/>
              <a:t>Thuban</a:t>
            </a:r>
            <a:r>
              <a:rPr lang="en-IN"/>
              <a:t>) शिशुमारस्य (</a:t>
            </a:r>
            <a:r>
              <a:rPr lang="en-IN" sz="1400" i="1"/>
              <a:t>Draco</a:t>
            </a:r>
            <a:r>
              <a:rPr lang="en-IN"/>
              <a:t>) अन्ते अचरणः आसीत्।</a:t>
            </a:r>
          </a:p>
          <a:p>
            <a:r>
              <a:rPr lang="en-IN"/>
              <a:t>मेरोः पूर्वदिशायां प्राज्योतिषः नाम महाद्वीपः अजायत। </a:t>
            </a:r>
          </a:p>
          <a:p>
            <a:r>
              <a:rPr lang="en-IN"/>
              <a:t>तस्य पच्मितः च केतुमाला।</a:t>
            </a:r>
          </a:p>
          <a:p>
            <a:r>
              <a:rPr lang="en-IN"/>
              <a:t>तस्य दक्षिणे जम्बूद्वीपः। </a:t>
            </a:r>
          </a:p>
          <a:p>
            <a:r>
              <a:rPr lang="en-IN"/>
              <a:t>उत्तरे च उत्तरकुरुः।</a:t>
            </a:r>
          </a:p>
        </p:txBody>
      </p:sp>
      <p:sp>
        <p:nvSpPr>
          <p:cNvPr id="4" name="Footer Placeholder 3">
            <a:extLst>
              <a:ext uri="{FF2B5EF4-FFF2-40B4-BE49-F238E27FC236}">
                <a16:creationId xmlns:a16="http://schemas.microsoft.com/office/drawing/2014/main" id="{14E4DDA0-1DFD-D750-B8C8-79653417840F}"/>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75C56E5D-0F94-41DF-9262-EC696589DA30}"/>
              </a:ext>
            </a:extLst>
          </p:cNvPr>
          <p:cNvSpPr>
            <a:spLocks noGrp="1"/>
          </p:cNvSpPr>
          <p:nvPr>
            <p:ph type="sldNum" sz="quarter" idx="12"/>
          </p:nvPr>
        </p:nvSpPr>
        <p:spPr/>
        <p:txBody>
          <a:bodyPr/>
          <a:lstStyle/>
          <a:p>
            <a:fld id="{5AFE2CDC-18D4-4E7A-A4BC-D5EDA5D6481E}" type="slidenum">
              <a:rPr lang="en-IN" smtClean="0"/>
              <a:pPr/>
              <a:t>28</a:t>
            </a:fld>
            <a:endParaRPr lang="en-IN"/>
          </a:p>
        </p:txBody>
      </p:sp>
    </p:spTree>
    <p:extLst>
      <p:ext uri="{BB962C8B-B14F-4D97-AF65-F5344CB8AC3E}">
        <p14:creationId xmlns:p14="http://schemas.microsoft.com/office/powerpoint/2010/main" val="2038647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68467-359E-F60A-2699-9B7A900F8170}"/>
              </a:ext>
            </a:extLst>
          </p:cNvPr>
          <p:cNvSpPr>
            <a:spLocks noGrp="1"/>
          </p:cNvSpPr>
          <p:nvPr>
            <p:ph type="title"/>
          </p:nvPr>
        </p:nvSpPr>
        <p:spPr>
          <a:xfrm>
            <a:off x="0" y="615881"/>
            <a:ext cx="12192000" cy="4103602"/>
          </a:xfrm>
        </p:spPr>
        <p:txBody>
          <a:bodyPr>
            <a:normAutofit fontScale="90000"/>
          </a:bodyPr>
          <a:lstStyle/>
          <a:p>
            <a:r>
              <a:rPr lang="en-IN">
                <a:solidFill>
                  <a:srgbClr val="FFFF00"/>
                </a:solidFill>
              </a:rPr>
              <a:t>॥ ४०॥ </a:t>
            </a:r>
            <a:r>
              <a:rPr lang="en-IN"/>
              <a:t>बृहत्वात् न हि अन्तरिक्षभूमिभ्यां परिसंख्यानमस्ति। तिर्यगूर्ध्वं वायवादेव हि, ऊर्ध्वं पृथिवी तिर्यक्, तावदेवमन्तरिक्षम्। एतत् वितत अण्डकपालस्य अपायधर्मात् द्वीपाद्योतनकालसिद्ध्यर्थं ब्रह्मज्ञानाम्भसि मनसा सोमार्कौ उत्पादितौ। तौ च प्रदक्षिणम् अनुपर्यागच्छतः। सर्वाणि एव ज्योतींषि असंख्यानि स्वैः स्वैः विमानैः यथासारं वायुवशात् पर्यागच्छन्ति।</a:t>
            </a:r>
            <a:br>
              <a:rPr lang="en-IN"/>
            </a:br>
            <a:r>
              <a:rPr lang="en-IN">
                <a:solidFill>
                  <a:srgbClr val="FFFF00"/>
                </a:solidFill>
              </a:rPr>
              <a:t>॥ ४१॥ </a:t>
            </a:r>
            <a:r>
              <a:rPr lang="en-IN"/>
              <a:t>कालविभागसिद्ध्यर्थं सर्वांश्चरुतो द्विपान् भावयतः सोमार्कौ अस्तमयतः उदयतो वा मेरुणा तु छन्नौ न प्रकाशेते। ततो रात्रीनाम प्रनष्टार्का मेरुच्छायया भवति॥</a:t>
            </a:r>
          </a:p>
        </p:txBody>
      </p:sp>
      <p:sp>
        <p:nvSpPr>
          <p:cNvPr id="3" name="Slide Number Placeholder 2">
            <a:extLst>
              <a:ext uri="{FF2B5EF4-FFF2-40B4-BE49-F238E27FC236}">
                <a16:creationId xmlns:a16="http://schemas.microsoft.com/office/drawing/2014/main" id="{5BE3B30B-E7E8-99AE-CB10-3B15360D8FD2}"/>
              </a:ext>
            </a:extLst>
          </p:cNvPr>
          <p:cNvSpPr>
            <a:spLocks noGrp="1"/>
          </p:cNvSpPr>
          <p:nvPr>
            <p:ph type="sldNum" sz="quarter" idx="12"/>
          </p:nvPr>
        </p:nvSpPr>
        <p:spPr/>
        <p:txBody>
          <a:bodyPr/>
          <a:lstStyle/>
          <a:p>
            <a:fld id="{5AFE2CDC-18D4-4E7A-A4BC-D5EDA5D6481E}" type="slidenum">
              <a:rPr lang="en-IN" smtClean="0"/>
              <a:t>29</a:t>
            </a:fld>
            <a:endParaRPr lang="en-IN"/>
          </a:p>
        </p:txBody>
      </p:sp>
      <p:sp>
        <p:nvSpPr>
          <p:cNvPr id="4" name="Footer Placeholder 3">
            <a:extLst>
              <a:ext uri="{FF2B5EF4-FFF2-40B4-BE49-F238E27FC236}">
                <a16:creationId xmlns:a16="http://schemas.microsoft.com/office/drawing/2014/main" id="{4A735423-0258-9E14-760F-3D55A9417F02}"/>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765794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CF39F3-4647-F46B-A410-959B52A6941F}"/>
              </a:ext>
            </a:extLst>
          </p:cNvPr>
          <p:cNvSpPr>
            <a:spLocks noGrp="1"/>
          </p:cNvSpPr>
          <p:nvPr>
            <p:ph idx="1"/>
          </p:nvPr>
        </p:nvSpPr>
        <p:spPr/>
        <p:txBody>
          <a:bodyPr/>
          <a:lstStyle/>
          <a:p>
            <a:r>
              <a:rPr lang="en-IN"/>
              <a:t>भूमेः अन्तरिक्षस्य मानं नास्ति।</a:t>
            </a:r>
          </a:p>
          <a:p>
            <a:r>
              <a:rPr lang="en-IN"/>
              <a:t>तिर्यक् वायुवशात् ऊर्ध्वपृथिवी अन्तरिक्षः च तिर्यक् स्तः </a:t>
            </a:r>
            <a:r>
              <a:rPr lang="en-IN" sz="1600" i="1"/>
              <a:t>(tilted earth)</a:t>
            </a:r>
            <a:r>
              <a:rPr lang="en-IN"/>
              <a:t>।</a:t>
            </a:r>
          </a:p>
          <a:p>
            <a:pPr lvl="1"/>
            <a:r>
              <a:rPr lang="en-IN"/>
              <a:t>एतत् अनुमानेन ज्ञायते।</a:t>
            </a:r>
          </a:p>
          <a:p>
            <a:pPr lvl="2"/>
            <a:r>
              <a:rPr lang="en-IN"/>
              <a:t>पृथिव्याः उत्तरभागे सूर्यस्य पश्चिमगमनं (अस्तमन समये) किञ्चित् दक्षिणम् इव भाति।</a:t>
            </a:r>
          </a:p>
          <a:p>
            <a:pPr lvl="2"/>
            <a:r>
              <a:rPr lang="en-IN"/>
              <a:t>ग्रीष्मे सूर्यः उपरि दृश्यते (उत्तरायणं) हेमन्ते च सः दक्षिणे भवति (दक्षिनायणम्)।</a:t>
            </a:r>
          </a:p>
          <a:p>
            <a:r>
              <a:rPr lang="en-IN"/>
              <a:t>अण्डकपालं इव पृथिव्याः कालसिध्यर्थं सोमं अर्कं च सृष्टवान्।</a:t>
            </a:r>
          </a:p>
          <a:p>
            <a:r>
              <a:rPr lang="en-IN"/>
              <a:t>तौ प्रदक्षिणं अनुसरतः।</a:t>
            </a:r>
          </a:p>
          <a:p>
            <a:r>
              <a:rPr lang="en-IN"/>
              <a:t>अन्यज्योतींषि </a:t>
            </a:r>
            <a:r>
              <a:rPr lang="en-IN" sz="1600" i="1"/>
              <a:t>(celestial lights)</a:t>
            </a:r>
            <a:r>
              <a:rPr lang="en-IN"/>
              <a:t> तेषां विमानेषु </a:t>
            </a:r>
            <a:r>
              <a:rPr lang="en-IN" sz="1600" i="1"/>
              <a:t>(orbit)</a:t>
            </a:r>
            <a:r>
              <a:rPr lang="en-IN"/>
              <a:t> वायुन गच्छन्ति।</a:t>
            </a:r>
          </a:p>
        </p:txBody>
      </p:sp>
      <p:sp>
        <p:nvSpPr>
          <p:cNvPr id="4" name="Footer Placeholder 3">
            <a:extLst>
              <a:ext uri="{FF2B5EF4-FFF2-40B4-BE49-F238E27FC236}">
                <a16:creationId xmlns:a16="http://schemas.microsoft.com/office/drawing/2014/main" id="{5711087B-C25C-0DE3-4F13-C73C47BD9A34}"/>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8E1DDC82-F92B-62C9-FDF5-0319BD3A8AAC}"/>
              </a:ext>
            </a:extLst>
          </p:cNvPr>
          <p:cNvSpPr>
            <a:spLocks noGrp="1"/>
          </p:cNvSpPr>
          <p:nvPr>
            <p:ph type="sldNum" sz="quarter" idx="12"/>
          </p:nvPr>
        </p:nvSpPr>
        <p:spPr/>
        <p:txBody>
          <a:bodyPr/>
          <a:lstStyle/>
          <a:p>
            <a:fld id="{5AFE2CDC-18D4-4E7A-A4BC-D5EDA5D6481E}" type="slidenum">
              <a:rPr lang="en-IN" smtClean="0"/>
              <a:pPr/>
              <a:t>30</a:t>
            </a:fld>
            <a:endParaRPr lang="en-IN"/>
          </a:p>
        </p:txBody>
      </p:sp>
    </p:spTree>
    <p:extLst>
      <p:ext uri="{BB962C8B-B14F-4D97-AF65-F5344CB8AC3E}">
        <p14:creationId xmlns:p14="http://schemas.microsoft.com/office/powerpoint/2010/main" val="1051436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62BF6-3202-25BB-BD2C-0FCC1ABCDBC8}"/>
              </a:ext>
            </a:extLst>
          </p:cNvPr>
          <p:cNvSpPr>
            <a:spLocks noGrp="1"/>
          </p:cNvSpPr>
          <p:nvPr>
            <p:ph type="title"/>
          </p:nvPr>
        </p:nvSpPr>
        <p:spPr>
          <a:xfrm>
            <a:off x="0" y="753533"/>
            <a:ext cx="12192000" cy="3631654"/>
          </a:xfrm>
        </p:spPr>
        <p:txBody>
          <a:bodyPr>
            <a:normAutofit fontScale="90000"/>
          </a:bodyPr>
          <a:lstStyle/>
          <a:p>
            <a:r>
              <a:rPr lang="en-IN">
                <a:solidFill>
                  <a:srgbClr val="FFFF00"/>
                </a:solidFill>
              </a:rPr>
              <a:t>॥ ४२॥ </a:t>
            </a:r>
            <a:r>
              <a:rPr lang="en-IN"/>
              <a:t>विमुक्तो तु मेरुणा अर्के दिवसो भवति। यच्च रात्र्यह्नोः सन्धिः सा पूर्वा सन्ध्या। यस्तु दिनरात्र्योः सन्धिः सा पश्चिमा। एवं सन्ध्या नाम द्विरात्रिका भवति। एवं च सर्वेषां द्वीपानां पूर्वेण उदयति अर्कः पश्चिमेन अस्तमेति॥</a:t>
            </a:r>
            <a:br>
              <a:rPr lang="en-IN"/>
            </a:br>
            <a:r>
              <a:rPr lang="en-IN">
                <a:solidFill>
                  <a:srgbClr val="FFFF00"/>
                </a:solidFill>
              </a:rPr>
              <a:t>॥ ४३॥ </a:t>
            </a:r>
            <a:r>
              <a:rPr lang="en-IN"/>
              <a:t>सर्वेषां द्वीपानाम् उत्तरेण मेरुः। ध्रुवं ज्योतिः अचलं मेरोः मूर्ध्नि प्रतिष्ठितम्। तद्धि ब्रह्मणा पूर्वं संस्थाप्य ध्रुवं यस्मिन् हि एतत् अवसक्तं ज्योतिश्चक्रम् अजस्रं परिवर्तते। तेषां च यत्र उदयते अर्को, सा तेषां पूर्वा दिक्। एवम् उदयास्तमनमध्याह्नरात्राः संविभजते सर्वा पृथिवी॥</a:t>
            </a:r>
          </a:p>
        </p:txBody>
      </p:sp>
      <p:sp>
        <p:nvSpPr>
          <p:cNvPr id="3" name="Slide Number Placeholder 2">
            <a:extLst>
              <a:ext uri="{FF2B5EF4-FFF2-40B4-BE49-F238E27FC236}">
                <a16:creationId xmlns:a16="http://schemas.microsoft.com/office/drawing/2014/main" id="{3F8C565A-1855-BC7F-23FA-7A283917C5EB}"/>
              </a:ext>
            </a:extLst>
          </p:cNvPr>
          <p:cNvSpPr>
            <a:spLocks noGrp="1"/>
          </p:cNvSpPr>
          <p:nvPr>
            <p:ph type="sldNum" sz="quarter" idx="12"/>
          </p:nvPr>
        </p:nvSpPr>
        <p:spPr/>
        <p:txBody>
          <a:bodyPr/>
          <a:lstStyle/>
          <a:p>
            <a:fld id="{5AFE2CDC-18D4-4E7A-A4BC-D5EDA5D6481E}" type="slidenum">
              <a:rPr lang="en-IN" smtClean="0"/>
              <a:t>31</a:t>
            </a:fld>
            <a:endParaRPr lang="en-IN"/>
          </a:p>
        </p:txBody>
      </p:sp>
      <p:sp>
        <p:nvSpPr>
          <p:cNvPr id="4" name="Footer Placeholder 3">
            <a:extLst>
              <a:ext uri="{FF2B5EF4-FFF2-40B4-BE49-F238E27FC236}">
                <a16:creationId xmlns:a16="http://schemas.microsoft.com/office/drawing/2014/main" id="{307AE56A-6546-06CE-BCE1-672EB2FBCB4A}"/>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7881925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1DBDCA-3BEC-AAB0-EE8A-2AE61D13A3F3}"/>
              </a:ext>
            </a:extLst>
          </p:cNvPr>
          <p:cNvSpPr>
            <a:spLocks noGrp="1"/>
          </p:cNvSpPr>
          <p:nvPr>
            <p:ph idx="1"/>
          </p:nvPr>
        </p:nvSpPr>
        <p:spPr/>
        <p:txBody>
          <a:bodyPr/>
          <a:lstStyle/>
          <a:p>
            <a:r>
              <a:rPr lang="en-IN"/>
              <a:t>सन्ध्या नाम द्विरात्रिका। सा मध्यकालः।</a:t>
            </a:r>
          </a:p>
          <a:p>
            <a:pPr lvl="1"/>
            <a:r>
              <a:rPr lang="en-IN"/>
              <a:t>रात्रिदिनयोः मध्ये या अस्ति सा पूर्वसन्ध्या।</a:t>
            </a:r>
          </a:p>
          <a:p>
            <a:pPr lvl="1"/>
            <a:r>
              <a:rPr lang="en-IN"/>
              <a:t>दिनरात्र्योः मध्ये या अस्ति सा पश्चिमसन्ध्या।</a:t>
            </a:r>
          </a:p>
          <a:p>
            <a:r>
              <a:rPr lang="en-IN"/>
              <a:t>सर्वत्र सूर्यः पूर्वदिशायां उदित्वा पश्चिमे अस्तमेति।</a:t>
            </a:r>
          </a:p>
          <a:p>
            <a:r>
              <a:rPr lang="en-IN"/>
              <a:t>मेरुः सर्वेषां द्वीपानां उपरि भवति।</a:t>
            </a:r>
          </a:p>
          <a:p>
            <a:r>
              <a:rPr lang="en-IN"/>
              <a:t>ध्रुवः इति अचरणज्योतिषः मेरोः शृङ्गे भवति।</a:t>
            </a:r>
          </a:p>
          <a:p>
            <a:r>
              <a:rPr lang="en-IN"/>
              <a:t>ध्रुवः द्योः मध्यभागः।</a:t>
            </a:r>
          </a:p>
          <a:p>
            <a:r>
              <a:rPr lang="en-IN"/>
              <a:t>यत्र सूर्यः उदयति सा पूर्वदिशा।</a:t>
            </a:r>
          </a:p>
        </p:txBody>
      </p:sp>
      <p:sp>
        <p:nvSpPr>
          <p:cNvPr id="4" name="Footer Placeholder 3">
            <a:extLst>
              <a:ext uri="{FF2B5EF4-FFF2-40B4-BE49-F238E27FC236}">
                <a16:creationId xmlns:a16="http://schemas.microsoft.com/office/drawing/2014/main" id="{15F3F7EB-5713-678A-5F79-80D87757A172}"/>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CA0A5A71-A9C6-6B89-4374-26F4FAAFE994}"/>
              </a:ext>
            </a:extLst>
          </p:cNvPr>
          <p:cNvSpPr>
            <a:spLocks noGrp="1"/>
          </p:cNvSpPr>
          <p:nvPr>
            <p:ph type="sldNum" sz="quarter" idx="12"/>
          </p:nvPr>
        </p:nvSpPr>
        <p:spPr/>
        <p:txBody>
          <a:bodyPr/>
          <a:lstStyle/>
          <a:p>
            <a:fld id="{5AFE2CDC-18D4-4E7A-A4BC-D5EDA5D6481E}" type="slidenum">
              <a:rPr lang="en-IN" smtClean="0"/>
              <a:pPr/>
              <a:t>32</a:t>
            </a:fld>
            <a:endParaRPr lang="en-IN"/>
          </a:p>
        </p:txBody>
      </p:sp>
    </p:spTree>
    <p:extLst>
      <p:ext uri="{BB962C8B-B14F-4D97-AF65-F5344CB8AC3E}">
        <p14:creationId xmlns:p14="http://schemas.microsoft.com/office/powerpoint/2010/main" val="25927102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F4D7E-FE88-0839-C344-115B4DC4B696}"/>
              </a:ext>
            </a:extLst>
          </p:cNvPr>
          <p:cNvSpPr>
            <a:spLocks noGrp="1"/>
          </p:cNvSpPr>
          <p:nvPr>
            <p:ph type="title"/>
          </p:nvPr>
        </p:nvSpPr>
        <p:spPr/>
        <p:txBody>
          <a:bodyPr/>
          <a:lstStyle/>
          <a:p>
            <a:r>
              <a:rPr lang="en-IN"/>
              <a:t>चन्द्रार्कौ ऋतुचक्रञ्च</a:t>
            </a:r>
          </a:p>
        </p:txBody>
      </p:sp>
      <p:sp>
        <p:nvSpPr>
          <p:cNvPr id="3" name="Text Placeholder 2">
            <a:extLst>
              <a:ext uri="{FF2B5EF4-FFF2-40B4-BE49-F238E27FC236}">
                <a16:creationId xmlns:a16="http://schemas.microsoft.com/office/drawing/2014/main" id="{6A5AE0AD-D13F-1B62-52E2-269932A8D3E1}"/>
              </a:ext>
            </a:extLst>
          </p:cNvPr>
          <p:cNvSpPr>
            <a:spLocks noGrp="1"/>
          </p:cNvSpPr>
          <p:nvPr>
            <p:ph type="body" sz="half" idx="2"/>
          </p:nvPr>
        </p:nvSpPr>
        <p:spPr/>
        <p:txBody>
          <a:bodyPr/>
          <a:lstStyle/>
          <a:p>
            <a:endParaRPr lang="en-IN"/>
          </a:p>
        </p:txBody>
      </p:sp>
      <p:sp>
        <p:nvSpPr>
          <p:cNvPr id="4" name="Slide Number Placeholder 3">
            <a:extLst>
              <a:ext uri="{FF2B5EF4-FFF2-40B4-BE49-F238E27FC236}">
                <a16:creationId xmlns:a16="http://schemas.microsoft.com/office/drawing/2014/main" id="{AE99DF43-E0EC-7F71-B2DD-3A6C1816AC72}"/>
              </a:ext>
            </a:extLst>
          </p:cNvPr>
          <p:cNvSpPr>
            <a:spLocks noGrp="1"/>
          </p:cNvSpPr>
          <p:nvPr>
            <p:ph type="sldNum" sz="quarter" idx="12"/>
          </p:nvPr>
        </p:nvSpPr>
        <p:spPr/>
        <p:txBody>
          <a:bodyPr/>
          <a:lstStyle/>
          <a:p>
            <a:fld id="{5AFE2CDC-18D4-4E7A-A4BC-D5EDA5D6481E}" type="slidenum">
              <a:rPr lang="en-IN" smtClean="0"/>
              <a:t>33</a:t>
            </a:fld>
            <a:endParaRPr lang="en-IN"/>
          </a:p>
        </p:txBody>
      </p:sp>
      <p:sp>
        <p:nvSpPr>
          <p:cNvPr id="5" name="Footer Placeholder 4">
            <a:extLst>
              <a:ext uri="{FF2B5EF4-FFF2-40B4-BE49-F238E27FC236}">
                <a16:creationId xmlns:a16="http://schemas.microsoft.com/office/drawing/2014/main" id="{7E0D7DB6-BA04-C3CB-1501-C745F4EEFB30}"/>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1946496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06F4-6CDC-5D7E-80BB-1D9ACD9AD028}"/>
              </a:ext>
            </a:extLst>
          </p:cNvPr>
          <p:cNvSpPr>
            <a:spLocks noGrp="1"/>
          </p:cNvSpPr>
          <p:nvPr>
            <p:ph type="title"/>
          </p:nvPr>
        </p:nvSpPr>
        <p:spPr/>
        <p:txBody>
          <a:bodyPr>
            <a:normAutofit fontScale="90000"/>
          </a:bodyPr>
          <a:lstStyle/>
          <a:p>
            <a:r>
              <a:rPr lang="en-IN">
                <a:solidFill>
                  <a:srgbClr val="FFFF00"/>
                </a:solidFill>
              </a:rPr>
              <a:t>॥ ४४॥ </a:t>
            </a:r>
            <a:r>
              <a:rPr lang="en-IN"/>
              <a:t>सोमार्कौ षडशीतियोजनसहस्राणि एव तपतः पृथिव्याम्। एकैकस्य मण्डलं च अनयोः पृथिवीभावनं सप्तषष्टियोजनविष्कम्भम्। रश्मिसहस्रं सूर्यस्य। द्विगुणं सोमस्य। अग्निरात्मा सूर्यः चन्द्रमा अपात्मा। शीतरश्मिः चन्द्रमाः घर्मरश्मिः आदित्यः। द्विधा चेमाः प्रजाः, सौम्याश्च आग्नेयाश्च स्थावरजङ्गमाश्च। नीचैः चरति आदित्यः, उच्चैः चरति चन्द्रमाः, मण्डलम् अनुपर्यागच्छतः॥</a:t>
            </a:r>
          </a:p>
        </p:txBody>
      </p:sp>
      <p:sp>
        <p:nvSpPr>
          <p:cNvPr id="3" name="Slide Number Placeholder 2">
            <a:extLst>
              <a:ext uri="{FF2B5EF4-FFF2-40B4-BE49-F238E27FC236}">
                <a16:creationId xmlns:a16="http://schemas.microsoft.com/office/drawing/2014/main" id="{3B087AE9-556A-5344-DFF6-A0FB4B395C80}"/>
              </a:ext>
            </a:extLst>
          </p:cNvPr>
          <p:cNvSpPr>
            <a:spLocks noGrp="1"/>
          </p:cNvSpPr>
          <p:nvPr>
            <p:ph type="sldNum" sz="quarter" idx="12"/>
          </p:nvPr>
        </p:nvSpPr>
        <p:spPr/>
        <p:txBody>
          <a:bodyPr/>
          <a:lstStyle/>
          <a:p>
            <a:fld id="{5AFE2CDC-18D4-4E7A-A4BC-D5EDA5D6481E}" type="slidenum">
              <a:rPr lang="en-IN" smtClean="0"/>
              <a:t>34</a:t>
            </a:fld>
            <a:endParaRPr lang="en-IN"/>
          </a:p>
        </p:txBody>
      </p:sp>
      <p:sp>
        <p:nvSpPr>
          <p:cNvPr id="4" name="Footer Placeholder 3">
            <a:extLst>
              <a:ext uri="{FF2B5EF4-FFF2-40B4-BE49-F238E27FC236}">
                <a16:creationId xmlns:a16="http://schemas.microsoft.com/office/drawing/2014/main" id="{83D76769-CA73-2A41-9EF7-F39723003261}"/>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277409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8F080E-1EDC-E8CC-6064-88E4707570E2}"/>
              </a:ext>
            </a:extLst>
          </p:cNvPr>
          <p:cNvSpPr>
            <a:spLocks noGrp="1"/>
          </p:cNvSpPr>
          <p:nvPr>
            <p:ph idx="1"/>
          </p:nvPr>
        </p:nvSpPr>
        <p:spPr/>
        <p:txBody>
          <a:bodyPr/>
          <a:lstStyle/>
          <a:p>
            <a:r>
              <a:rPr lang="en-IN"/>
              <a:t>सूर्यः चन्द्रः च ८६००० योजनानिपर्यन्तं तपतः।</a:t>
            </a:r>
          </a:p>
          <a:p>
            <a:r>
              <a:rPr lang="en-IN"/>
              <a:t>पृथिव्याः तयोः विष्कम्भं </a:t>
            </a:r>
            <a:r>
              <a:rPr lang="en-IN" sz="1600" i="1"/>
              <a:t>(diameter)</a:t>
            </a:r>
            <a:r>
              <a:rPr lang="en-IN"/>
              <a:t> ६७ योजनानि इव भाति।</a:t>
            </a:r>
          </a:p>
          <a:p>
            <a:r>
              <a:rPr lang="en-IN"/>
              <a:t>सूर्यस्य १००० रश्मयः। </a:t>
            </a:r>
          </a:p>
          <a:p>
            <a:r>
              <a:rPr lang="en-IN"/>
              <a:t>सोमस्य द्विगुणम् </a:t>
            </a:r>
            <a:r>
              <a:rPr lang="en-IN" i="1"/>
              <a:t>(परन्तु सोमः शतार्चिन् इति प्रसिद्धः)</a:t>
            </a:r>
            <a:r>
              <a:rPr lang="en-IN"/>
              <a:t>।</a:t>
            </a:r>
          </a:p>
          <a:p>
            <a:r>
              <a:rPr lang="en-IN"/>
              <a:t>अर्कस्य आत्मा अग्निः। सहः घर्मरश्मिः।</a:t>
            </a:r>
          </a:p>
          <a:p>
            <a:r>
              <a:rPr lang="en-IN"/>
              <a:t>सोमस्य च आपः। सः शीतरश्मिः।</a:t>
            </a:r>
          </a:p>
          <a:p>
            <a:r>
              <a:rPr lang="en-IN"/>
              <a:t>एवमेव भूतानि अपि सौम्यानि वा आग्नेयानि वा भवन्ति।</a:t>
            </a:r>
          </a:p>
          <a:p>
            <a:r>
              <a:rPr lang="en-IN"/>
              <a:t>यदा सूर्यः नीचैः भवति चन्द्रः उपरी भवति। तौ परस्परं अनुसरतः।</a:t>
            </a:r>
          </a:p>
        </p:txBody>
      </p:sp>
      <p:sp>
        <p:nvSpPr>
          <p:cNvPr id="4" name="Footer Placeholder 3">
            <a:extLst>
              <a:ext uri="{FF2B5EF4-FFF2-40B4-BE49-F238E27FC236}">
                <a16:creationId xmlns:a16="http://schemas.microsoft.com/office/drawing/2014/main" id="{0CD32A83-4008-3A5C-F1FF-82BD80B59FB0}"/>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AB37E51F-CE3E-61F9-372F-63DC13714817}"/>
              </a:ext>
            </a:extLst>
          </p:cNvPr>
          <p:cNvSpPr>
            <a:spLocks noGrp="1"/>
          </p:cNvSpPr>
          <p:nvPr>
            <p:ph type="sldNum" sz="quarter" idx="12"/>
          </p:nvPr>
        </p:nvSpPr>
        <p:spPr/>
        <p:txBody>
          <a:bodyPr/>
          <a:lstStyle/>
          <a:p>
            <a:fld id="{5AFE2CDC-18D4-4E7A-A4BC-D5EDA5D6481E}" type="slidenum">
              <a:rPr lang="en-IN" smtClean="0"/>
              <a:pPr/>
              <a:t>35</a:t>
            </a:fld>
            <a:endParaRPr lang="en-IN"/>
          </a:p>
        </p:txBody>
      </p:sp>
    </p:spTree>
    <p:extLst>
      <p:ext uri="{BB962C8B-B14F-4D97-AF65-F5344CB8AC3E}">
        <p14:creationId xmlns:p14="http://schemas.microsoft.com/office/powerpoint/2010/main" val="34701849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A4C1-3707-8A4F-BC76-67CDD707279B}"/>
              </a:ext>
            </a:extLst>
          </p:cNvPr>
          <p:cNvSpPr>
            <a:spLocks noGrp="1"/>
          </p:cNvSpPr>
          <p:nvPr>
            <p:ph type="title"/>
          </p:nvPr>
        </p:nvSpPr>
        <p:spPr>
          <a:xfrm>
            <a:off x="0" y="753533"/>
            <a:ext cx="12192000" cy="3651319"/>
          </a:xfrm>
        </p:spPr>
        <p:txBody>
          <a:bodyPr>
            <a:normAutofit fontScale="90000"/>
          </a:bodyPr>
          <a:lstStyle/>
          <a:p>
            <a:r>
              <a:rPr lang="en-IN">
                <a:solidFill>
                  <a:srgbClr val="FFFF00"/>
                </a:solidFill>
              </a:rPr>
              <a:t>॥ ४५॥ </a:t>
            </a:r>
            <a:r>
              <a:rPr lang="en-IN"/>
              <a:t>अत आदित्यः उदितः उत्तरपूर्वतः यदागच्छति चैतावा पूर्वां प्राप्नोति इति अर्थः। प्राचीपूर्वादिशः प्रदक्षिणम् अनुगच्छति इति दक्षिणा। अत्र च अस्तङ्गतः पूर्वा गमिष्यति गच्छति इति वा प्रतीचीदक्षिणा। यां पश्चात्कालं प्राप्नुवन्ति इति पश्चिमा। यां चोत्तराकालं प्राप्नुवन्ति इति उत्तरा। अयनाभ्यां दक्षिणोत्तरे प्रष्टव्ये। एताम् एव च दिगन्तरसर्गयोः विदिश इति उच्यन्ते। तस्मात् पूर्वप्रवर्तनात् पूर्वा यद्दक्षिण्या दक्षिणा पश्चात् गमनात् पश्छिमा इति। उद्गमना च उत्तरा प्रत्येतव्या। आदित्यसम्प्रयोगश्च दिशां विपर्ययशो भवति॥</a:t>
            </a:r>
          </a:p>
        </p:txBody>
      </p:sp>
      <p:sp>
        <p:nvSpPr>
          <p:cNvPr id="3" name="Slide Number Placeholder 2">
            <a:extLst>
              <a:ext uri="{FF2B5EF4-FFF2-40B4-BE49-F238E27FC236}">
                <a16:creationId xmlns:a16="http://schemas.microsoft.com/office/drawing/2014/main" id="{30D1F494-68C3-D49A-173B-E159D7D9BCFA}"/>
              </a:ext>
            </a:extLst>
          </p:cNvPr>
          <p:cNvSpPr>
            <a:spLocks noGrp="1"/>
          </p:cNvSpPr>
          <p:nvPr>
            <p:ph type="sldNum" sz="quarter" idx="12"/>
          </p:nvPr>
        </p:nvSpPr>
        <p:spPr/>
        <p:txBody>
          <a:bodyPr/>
          <a:lstStyle/>
          <a:p>
            <a:fld id="{5AFE2CDC-18D4-4E7A-A4BC-D5EDA5D6481E}" type="slidenum">
              <a:rPr lang="en-IN" smtClean="0"/>
              <a:t>36</a:t>
            </a:fld>
            <a:endParaRPr lang="en-IN"/>
          </a:p>
        </p:txBody>
      </p:sp>
      <p:sp>
        <p:nvSpPr>
          <p:cNvPr id="4" name="Footer Placeholder 3">
            <a:extLst>
              <a:ext uri="{FF2B5EF4-FFF2-40B4-BE49-F238E27FC236}">
                <a16:creationId xmlns:a16="http://schemas.microsoft.com/office/drawing/2014/main" id="{B5518622-2524-CDE5-EA42-DCA23A65459E}"/>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008753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A74C50-4AAA-CABA-600E-34DDE712D700}"/>
              </a:ext>
            </a:extLst>
          </p:cNvPr>
          <p:cNvSpPr>
            <a:spLocks noGrp="1"/>
          </p:cNvSpPr>
          <p:nvPr>
            <p:ph idx="1"/>
          </p:nvPr>
        </p:nvSpPr>
        <p:spPr>
          <a:xfrm>
            <a:off x="685800" y="1976284"/>
            <a:ext cx="10820400" cy="4242402"/>
          </a:xfrm>
        </p:spPr>
        <p:txBody>
          <a:bodyPr>
            <a:normAutofit/>
          </a:bodyPr>
          <a:lstStyle/>
          <a:p>
            <a:r>
              <a:rPr lang="en-IN"/>
              <a:t>सूर्यः मेरुं परिगच्छति।</a:t>
            </a:r>
          </a:p>
          <a:p>
            <a:r>
              <a:rPr lang="en-IN"/>
              <a:t>सूर्यः उत्तरपूर्वतः </a:t>
            </a:r>
            <a:r>
              <a:rPr lang="en-IN" sz="1800"/>
              <a:t>(ईशानतः) </a:t>
            </a:r>
            <a:r>
              <a:rPr lang="en-IN"/>
              <a:t>उदेति।</a:t>
            </a:r>
          </a:p>
          <a:p>
            <a:pPr lvl="1"/>
            <a:r>
              <a:rPr lang="en-IN"/>
              <a:t>अस्मात् ज्ञायते प्रायः ग्रीष्मे (उत्तरायणे) ग्रन्थः लिखितः।</a:t>
            </a:r>
          </a:p>
          <a:p>
            <a:r>
              <a:rPr lang="en-IN"/>
              <a:t>सः पूर्वादिशः प्रदक्षिणं सरति इति ‘दक्षिणा’। </a:t>
            </a:r>
          </a:p>
          <a:p>
            <a:r>
              <a:rPr lang="en-IN"/>
              <a:t>सूर्यः अग्रे आगम्य अस्तमेतुम् आरम्भति इति ‘प्रतीचिदक्षिणा’ </a:t>
            </a:r>
            <a:r>
              <a:rPr lang="en-IN" sz="1800"/>
              <a:t>(नैऋतः)</a:t>
            </a:r>
            <a:r>
              <a:rPr lang="en-IN"/>
              <a:t>।</a:t>
            </a:r>
          </a:p>
          <a:p>
            <a:r>
              <a:rPr lang="en-IN"/>
              <a:t>पश्चात् सः अस्तमेति ततः ‘पश्चिमा’।</a:t>
            </a:r>
          </a:p>
          <a:p>
            <a:r>
              <a:rPr lang="en-IN"/>
              <a:t>तदनन्तरं उत्तरकालं इति ‘उत्तरा’।</a:t>
            </a:r>
          </a:p>
          <a:p>
            <a:r>
              <a:rPr lang="en-IN"/>
              <a:t>सूर्यस्य दिगन्तरेण मेलनं विदिशौ भवतः।</a:t>
            </a:r>
          </a:p>
        </p:txBody>
      </p:sp>
      <p:sp>
        <p:nvSpPr>
          <p:cNvPr id="4" name="Footer Placeholder 3">
            <a:extLst>
              <a:ext uri="{FF2B5EF4-FFF2-40B4-BE49-F238E27FC236}">
                <a16:creationId xmlns:a16="http://schemas.microsoft.com/office/drawing/2014/main" id="{5D935F78-7AFC-7FED-F3D5-0CE3CFF1D293}"/>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E8D9B5A7-56E6-C906-AF1E-FC33716B4849}"/>
              </a:ext>
            </a:extLst>
          </p:cNvPr>
          <p:cNvSpPr>
            <a:spLocks noGrp="1"/>
          </p:cNvSpPr>
          <p:nvPr>
            <p:ph type="sldNum" sz="quarter" idx="12"/>
          </p:nvPr>
        </p:nvSpPr>
        <p:spPr/>
        <p:txBody>
          <a:bodyPr/>
          <a:lstStyle/>
          <a:p>
            <a:fld id="{5AFE2CDC-18D4-4E7A-A4BC-D5EDA5D6481E}" type="slidenum">
              <a:rPr lang="en-IN" smtClean="0"/>
              <a:pPr/>
              <a:t>37</a:t>
            </a:fld>
            <a:endParaRPr lang="en-IN"/>
          </a:p>
        </p:txBody>
      </p:sp>
    </p:spTree>
    <p:extLst>
      <p:ext uri="{BB962C8B-B14F-4D97-AF65-F5344CB8AC3E}">
        <p14:creationId xmlns:p14="http://schemas.microsoft.com/office/powerpoint/2010/main" val="23514437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8027D-6DE5-5B42-5678-926A787BFF42}"/>
              </a:ext>
            </a:extLst>
          </p:cNvPr>
          <p:cNvSpPr>
            <a:spLocks noGrp="1"/>
          </p:cNvSpPr>
          <p:nvPr>
            <p:ph type="title"/>
          </p:nvPr>
        </p:nvSpPr>
        <p:spPr>
          <a:xfrm>
            <a:off x="0" y="176980"/>
            <a:ext cx="12192000" cy="4562167"/>
          </a:xfrm>
        </p:spPr>
        <p:txBody>
          <a:bodyPr>
            <a:normAutofit/>
          </a:bodyPr>
          <a:lstStyle/>
          <a:p>
            <a:r>
              <a:rPr lang="en-IN" sz="3250">
                <a:solidFill>
                  <a:srgbClr val="FFFF00"/>
                </a:solidFill>
              </a:rPr>
              <a:t>॥ ४६॥ </a:t>
            </a:r>
            <a:r>
              <a:rPr lang="en-IN" sz="3250"/>
              <a:t>आदित्य एव च वनस्पतयः पुष्पापयति फलापयति च सर्वाश्च ओषध्यो वीरुधश्च। गतिविशेषात् तस्य च उत्तरदक्षिणे च अयने भवतः। ते च अनुपरिसरञ्छीतोष्णवर्षादीनि निष्पादयति तान् ऋतूंश्च। एवं हि कालो ज्योतिषाम् आदिमूलश्च। संवत्सर-अयनर्तु-मास-पक्ष-अहोरात्राणि निष्पादयित्वा सर्वेषां च कर्मकालानां कलालवसंज्ञितानां कलनेन च अस्तमनोदयौ कुर्वति इत्यर्थः॥</a:t>
            </a:r>
            <a:br>
              <a:rPr lang="en-IN" sz="3250"/>
            </a:br>
            <a:r>
              <a:rPr lang="en-IN" sz="3250">
                <a:solidFill>
                  <a:srgbClr val="FFFF00"/>
                </a:solidFill>
              </a:rPr>
              <a:t>॥ ४७॥ </a:t>
            </a:r>
            <a:r>
              <a:rPr lang="en-IN" sz="3250"/>
              <a:t>कालस्तथा गच्छन् उत्तरम् अयनं, स्वषङ्भिः मासैः यदयं आदत्ते रसांश्च ओषधीनां, तदस्य आदानात् आदित्यत्वम्। तत्र दक्षिणेन गच्छन्यदापः सूते रसांश्च ओषधीनां, तदस्य सवनात् सूर्यत्वम्। तद्गतिविशेषाच्च दक्षिणकाष्ठागतस्य शिशिरो भवति। विप्रकर्षात् अयनमध्यस्थस्य वसन्तः युक्तोष्णशीतः। उत्तरकाष्ठागतस्य आभ्यन्तरपरिसरणात् ग्रीष्मो भवति॥</a:t>
            </a:r>
          </a:p>
        </p:txBody>
      </p:sp>
      <p:sp>
        <p:nvSpPr>
          <p:cNvPr id="3" name="Slide Number Placeholder 2">
            <a:extLst>
              <a:ext uri="{FF2B5EF4-FFF2-40B4-BE49-F238E27FC236}">
                <a16:creationId xmlns:a16="http://schemas.microsoft.com/office/drawing/2014/main" id="{C5E805EC-435A-57EF-7FBA-ACC322514BBC}"/>
              </a:ext>
            </a:extLst>
          </p:cNvPr>
          <p:cNvSpPr>
            <a:spLocks noGrp="1"/>
          </p:cNvSpPr>
          <p:nvPr>
            <p:ph type="sldNum" sz="quarter" idx="12"/>
          </p:nvPr>
        </p:nvSpPr>
        <p:spPr/>
        <p:txBody>
          <a:bodyPr/>
          <a:lstStyle/>
          <a:p>
            <a:fld id="{5AFE2CDC-18D4-4E7A-A4BC-D5EDA5D6481E}" type="slidenum">
              <a:rPr lang="en-IN" smtClean="0"/>
              <a:t>38</a:t>
            </a:fld>
            <a:endParaRPr lang="en-IN"/>
          </a:p>
        </p:txBody>
      </p:sp>
      <p:sp>
        <p:nvSpPr>
          <p:cNvPr id="4" name="Footer Placeholder 3">
            <a:extLst>
              <a:ext uri="{FF2B5EF4-FFF2-40B4-BE49-F238E27FC236}">
                <a16:creationId xmlns:a16="http://schemas.microsoft.com/office/drawing/2014/main" id="{1BA80446-A285-F3F4-DAC0-EAB679C92E8A}"/>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5820390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84047E-1307-D595-379D-186A6FD05CDE}"/>
              </a:ext>
            </a:extLst>
          </p:cNvPr>
          <p:cNvSpPr>
            <a:spLocks noGrp="1"/>
          </p:cNvSpPr>
          <p:nvPr>
            <p:ph idx="1"/>
          </p:nvPr>
        </p:nvSpPr>
        <p:spPr>
          <a:xfrm>
            <a:off x="685800" y="1750141"/>
            <a:ext cx="10820400" cy="4468545"/>
          </a:xfrm>
        </p:spPr>
        <p:txBody>
          <a:bodyPr>
            <a:normAutofit/>
          </a:bodyPr>
          <a:lstStyle/>
          <a:p>
            <a:r>
              <a:rPr lang="en-IN"/>
              <a:t>सूर्येण एवं सस्यानि वृक्षाणि ओषध्याः पुष्पयेते फलायते च।</a:t>
            </a:r>
          </a:p>
          <a:p>
            <a:r>
              <a:rPr lang="en-IN"/>
              <a:t>सूर्यस्य अयनौ स्थः तस्य गति अवस्थात्।</a:t>
            </a:r>
          </a:p>
          <a:p>
            <a:r>
              <a:rPr lang="en-IN"/>
              <a:t>सूर्याधारेण एवं ‘कला’ ‘लव’ इत्यादि समयमानानि भवन्ति। तस्मात् कालस्य गणितम्।</a:t>
            </a:r>
          </a:p>
          <a:p>
            <a:r>
              <a:rPr lang="en-IN"/>
              <a:t>सूर्योदयः गणित्वा कालस्य गतिः ज्ञायते।</a:t>
            </a:r>
          </a:p>
          <a:p>
            <a:r>
              <a:rPr lang="en-IN"/>
              <a:t>उत्तरायणे अर्कः ओषधीनां रसं आदत्ते इति सः आदित्यः।</a:t>
            </a:r>
          </a:p>
          <a:p>
            <a:r>
              <a:rPr lang="en-IN"/>
              <a:t>दक्षिणायने च सः रसं सूते इति सः सूर्यः।</a:t>
            </a:r>
          </a:p>
          <a:p>
            <a:r>
              <a:rPr lang="en-IN"/>
              <a:t>अर्कस्य गतिना ऋतवः भवन्ति।</a:t>
            </a:r>
          </a:p>
          <a:p>
            <a:r>
              <a:rPr lang="en-IN"/>
              <a:t>यदा सूर्यः आकाशे नीचैः भवति सः शिशिरः।</a:t>
            </a:r>
          </a:p>
          <a:p>
            <a:r>
              <a:rPr lang="en-IN"/>
              <a:t>मध्ये वसन्तः।</a:t>
            </a:r>
          </a:p>
          <a:p>
            <a:r>
              <a:rPr lang="en-IN"/>
              <a:t>यदा आदित्यः आकाशे उच्चैः भवति तदा ग्रीष्मः।</a:t>
            </a:r>
          </a:p>
        </p:txBody>
      </p:sp>
      <p:sp>
        <p:nvSpPr>
          <p:cNvPr id="4" name="Footer Placeholder 3">
            <a:extLst>
              <a:ext uri="{FF2B5EF4-FFF2-40B4-BE49-F238E27FC236}">
                <a16:creationId xmlns:a16="http://schemas.microsoft.com/office/drawing/2014/main" id="{19170132-8BD1-0CEC-9FCB-FC629A24E140}"/>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D7B8D87D-65BC-6857-8AB9-9FF4EE809EE5}"/>
              </a:ext>
            </a:extLst>
          </p:cNvPr>
          <p:cNvSpPr>
            <a:spLocks noGrp="1"/>
          </p:cNvSpPr>
          <p:nvPr>
            <p:ph type="sldNum" sz="quarter" idx="12"/>
          </p:nvPr>
        </p:nvSpPr>
        <p:spPr/>
        <p:txBody>
          <a:bodyPr/>
          <a:lstStyle/>
          <a:p>
            <a:fld id="{5AFE2CDC-18D4-4E7A-A4BC-D5EDA5D6481E}" type="slidenum">
              <a:rPr lang="en-IN" smtClean="0"/>
              <a:pPr/>
              <a:t>39</a:t>
            </a:fld>
            <a:endParaRPr lang="en-IN"/>
          </a:p>
        </p:txBody>
      </p:sp>
    </p:spTree>
    <p:extLst>
      <p:ext uri="{BB962C8B-B14F-4D97-AF65-F5344CB8AC3E}">
        <p14:creationId xmlns:p14="http://schemas.microsoft.com/office/powerpoint/2010/main" val="8012054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7B26E-73F1-9C0C-CFA4-641F8F7B786B}"/>
              </a:ext>
            </a:extLst>
          </p:cNvPr>
          <p:cNvSpPr>
            <a:spLocks noGrp="1"/>
          </p:cNvSpPr>
          <p:nvPr>
            <p:ph type="title"/>
          </p:nvPr>
        </p:nvSpPr>
        <p:spPr>
          <a:xfrm>
            <a:off x="0" y="753533"/>
            <a:ext cx="12192000" cy="3700480"/>
          </a:xfrm>
        </p:spPr>
        <p:txBody>
          <a:bodyPr>
            <a:normAutofit fontScale="90000"/>
          </a:bodyPr>
          <a:lstStyle/>
          <a:p>
            <a:r>
              <a:rPr lang="en-IN">
                <a:solidFill>
                  <a:srgbClr val="FFFF00"/>
                </a:solidFill>
              </a:rPr>
              <a:t>॥ ४८॥ </a:t>
            </a:r>
            <a:r>
              <a:rPr lang="en-IN"/>
              <a:t>यश्च एते त्रिभिः ऋतुभिः तेजः वसुधातलात् आदत्ते भगवान् आदित्यः तैः इत्य दक्षिणायनाग्रेषु मुञ्चति, अथः वर्षाः। शरद्दक्षिणायनमध्ये। हेमन्तो भवति। एवम् आदित्यगतिविशेषात् अयनपरिसरणाच्च कालं ऋतवश्च अभिनिवर्तयंतः॥</a:t>
            </a:r>
            <a:br>
              <a:rPr lang="en-IN"/>
            </a:br>
            <a:r>
              <a:rPr lang="en-IN">
                <a:solidFill>
                  <a:srgbClr val="FFFF00"/>
                </a:solidFill>
              </a:rPr>
              <a:t>॥ ४९॥ </a:t>
            </a:r>
            <a:r>
              <a:rPr lang="en-IN"/>
              <a:t>ऋतवश्च ओषध्यः वीरुधश्च पाचयन्ति। ऋतुविशेषाच्च दिनरात्र्योः वृद्धिह्रासौ अभिनिष्पद्यतः। तयोश्च अहः पूर्वं च अहः तत् उत्तरायणं पूर्वपक्षः। पक्षाद्या रात्रिश्च एव रात्रिः। या च रात्रिः तत् दक्षिणायनं कृष्णपक्षश्च। एतयोश्च वर्गयोः पूर्वः दैवः। उत्तरोह्यासुरः, सः पश्चिमः पक्षः॥</a:t>
            </a:r>
          </a:p>
        </p:txBody>
      </p:sp>
      <p:sp>
        <p:nvSpPr>
          <p:cNvPr id="3" name="Slide Number Placeholder 2">
            <a:extLst>
              <a:ext uri="{FF2B5EF4-FFF2-40B4-BE49-F238E27FC236}">
                <a16:creationId xmlns:a16="http://schemas.microsoft.com/office/drawing/2014/main" id="{93F7ADE6-1ED3-4347-4073-280909E516F9}"/>
              </a:ext>
            </a:extLst>
          </p:cNvPr>
          <p:cNvSpPr>
            <a:spLocks noGrp="1"/>
          </p:cNvSpPr>
          <p:nvPr>
            <p:ph type="sldNum" sz="quarter" idx="12"/>
          </p:nvPr>
        </p:nvSpPr>
        <p:spPr/>
        <p:txBody>
          <a:bodyPr/>
          <a:lstStyle/>
          <a:p>
            <a:fld id="{5AFE2CDC-18D4-4E7A-A4BC-D5EDA5D6481E}" type="slidenum">
              <a:rPr lang="en-IN" smtClean="0"/>
              <a:t>40</a:t>
            </a:fld>
            <a:endParaRPr lang="en-IN"/>
          </a:p>
        </p:txBody>
      </p:sp>
      <p:sp>
        <p:nvSpPr>
          <p:cNvPr id="4" name="Footer Placeholder 3">
            <a:extLst>
              <a:ext uri="{FF2B5EF4-FFF2-40B4-BE49-F238E27FC236}">
                <a16:creationId xmlns:a16="http://schemas.microsoft.com/office/drawing/2014/main" id="{D3BA381B-97CE-730C-58EF-D04C02CC1935}"/>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5874877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3E66B1-9BB7-FEFE-DB93-FFB98C55F539}"/>
              </a:ext>
            </a:extLst>
          </p:cNvPr>
          <p:cNvSpPr>
            <a:spLocks noGrp="1"/>
          </p:cNvSpPr>
          <p:nvPr>
            <p:ph idx="1"/>
          </p:nvPr>
        </p:nvSpPr>
        <p:spPr/>
        <p:txBody>
          <a:bodyPr>
            <a:normAutofit lnSpcReduction="10000"/>
          </a:bodyPr>
          <a:lstStyle/>
          <a:p>
            <a:r>
              <a:rPr lang="en-IN"/>
              <a:t>आदित्यः यं रसम् उत्तरायणे स्वीकरोति तत् दक्षिणायने विमुक्तति। तदा वर्षा।</a:t>
            </a:r>
          </a:p>
          <a:p>
            <a:r>
              <a:rPr lang="en-IN"/>
              <a:t>दक्षिणायनस्य मध्ये भवति शरत्।</a:t>
            </a:r>
          </a:p>
          <a:p>
            <a:r>
              <a:rPr lang="en-IN"/>
              <a:t>हेमन्तः अग्रिमः ऋतुः।</a:t>
            </a:r>
          </a:p>
          <a:p>
            <a:r>
              <a:rPr lang="en-IN"/>
              <a:t>एतत् ऋतोः चक्रम्।</a:t>
            </a:r>
          </a:p>
          <a:p>
            <a:r>
              <a:rPr lang="en-IN"/>
              <a:t>ऋतोः विशेषेण दिनरात्र्योः मानस्य अधिकता न्यूनता च भवतः।</a:t>
            </a:r>
          </a:p>
          <a:p>
            <a:endParaRPr lang="en-IN" sz="1100"/>
          </a:p>
          <a:p>
            <a:r>
              <a:rPr lang="en-IN"/>
              <a:t>उत्तरायणः शुक्लपक्षः च दिनवत्। </a:t>
            </a:r>
          </a:p>
          <a:p>
            <a:pPr lvl="1"/>
            <a:r>
              <a:rPr lang="en-IN"/>
              <a:t>दिनः, उत्तरायणः (शिशिरः, वसन्तः, ग्रीष्मः), शुक्लपक्षः – दैव। एते पूर्वपक्षाः।</a:t>
            </a:r>
          </a:p>
          <a:p>
            <a:r>
              <a:rPr lang="en-IN"/>
              <a:t>दक्षिणायणः कृष्णपक्षः च रात्रिवत्।</a:t>
            </a:r>
          </a:p>
          <a:p>
            <a:pPr lvl="1"/>
            <a:r>
              <a:rPr lang="en-IN"/>
              <a:t>रात्रिः, दक्षिणायणः (वर्षाः, शरत्, हेमन्तः), कृष्णपक्षः – आसुरः। एते पश्चिमपक्षाः।</a:t>
            </a:r>
          </a:p>
          <a:p>
            <a:pPr lvl="1"/>
            <a:r>
              <a:rPr lang="en-IN"/>
              <a:t>आसुरः = भयङ्करः भलवान् तामसः च। न तु अनुत्तमः।</a:t>
            </a:r>
          </a:p>
        </p:txBody>
      </p:sp>
      <p:sp>
        <p:nvSpPr>
          <p:cNvPr id="4" name="Footer Placeholder 3">
            <a:extLst>
              <a:ext uri="{FF2B5EF4-FFF2-40B4-BE49-F238E27FC236}">
                <a16:creationId xmlns:a16="http://schemas.microsoft.com/office/drawing/2014/main" id="{17DA7766-B0FC-9D90-1A1E-1AA61006CBA8}"/>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F20EA4DE-9BEA-61CA-8F5D-7302D99F5E70}"/>
              </a:ext>
            </a:extLst>
          </p:cNvPr>
          <p:cNvSpPr>
            <a:spLocks noGrp="1"/>
          </p:cNvSpPr>
          <p:nvPr>
            <p:ph type="sldNum" sz="quarter" idx="12"/>
          </p:nvPr>
        </p:nvSpPr>
        <p:spPr/>
        <p:txBody>
          <a:bodyPr/>
          <a:lstStyle/>
          <a:p>
            <a:fld id="{5AFE2CDC-18D4-4E7A-A4BC-D5EDA5D6481E}" type="slidenum">
              <a:rPr lang="en-IN" smtClean="0"/>
              <a:pPr/>
              <a:t>41</a:t>
            </a:fld>
            <a:endParaRPr lang="en-IN"/>
          </a:p>
        </p:txBody>
      </p:sp>
    </p:spTree>
    <p:extLst>
      <p:ext uri="{BB962C8B-B14F-4D97-AF65-F5344CB8AC3E}">
        <p14:creationId xmlns:p14="http://schemas.microsoft.com/office/powerpoint/2010/main" val="7877493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D6DFA-AD89-842B-4C1D-1009AA133EFA}"/>
              </a:ext>
            </a:extLst>
          </p:cNvPr>
          <p:cNvSpPr>
            <a:spLocks noGrp="1"/>
          </p:cNvSpPr>
          <p:nvPr>
            <p:ph type="title"/>
          </p:nvPr>
        </p:nvSpPr>
        <p:spPr>
          <a:xfrm>
            <a:off x="0" y="753533"/>
            <a:ext cx="12192000" cy="3626443"/>
          </a:xfrm>
        </p:spPr>
        <p:txBody>
          <a:bodyPr>
            <a:normAutofit fontScale="90000"/>
          </a:bodyPr>
          <a:lstStyle/>
          <a:p>
            <a:r>
              <a:rPr lang="en-IN">
                <a:solidFill>
                  <a:srgbClr val="FFFF00"/>
                </a:solidFill>
              </a:rPr>
              <a:t>॥ ५०॥</a:t>
            </a:r>
            <a:r>
              <a:rPr lang="en-IN"/>
              <a:t> कुरुते शुक्लं कृष्णं वृद्ध्या ह्रसेन हि चन्द्रमाः। तद्देवाः पूर्वपक्षम् ईहन्ते। तस्य एताः पञ्चकलाः पञ्चमीषु उपपीयन्ते। द्वितीयाः पञ्चकलाः दशमीशु उपपीयन्ते। तृतीयाः पञ्चकलाः पञ्चदशीषु उपपीयन्ते। षोडशी अवशिष्यते॥ </a:t>
            </a:r>
            <a:br>
              <a:rPr lang="en-IN"/>
            </a:br>
            <a:r>
              <a:rPr lang="en-IN">
                <a:solidFill>
                  <a:srgbClr val="FFFF00"/>
                </a:solidFill>
              </a:rPr>
              <a:t>॥ ५१॥ </a:t>
            </a:r>
            <a:r>
              <a:rPr lang="en-IN"/>
              <a:t>ससपूर्णा अवसरति इति पौर्णमासी आस्यात्। तद्देव असुरपक्षे भक्ष्यन्ते। सः भक्ष्यमाणः स्वयोनिवत् शस्य-आप-ओषधि-वनस्पति-ब्राह्मणान् गाश्च, एतेषु वसति। तत् अमावास्याया अमावास्यत्वम्। तस्मात् सन्नय्यने अमावास्यां सन्नयति, सान्नाय्यत्वं भवति। स सन्नातो परे पश्चात् दृश्यते। तद्दर्शस्य दर्शत्वं भवति॥</a:t>
            </a:r>
          </a:p>
        </p:txBody>
      </p:sp>
      <p:sp>
        <p:nvSpPr>
          <p:cNvPr id="3" name="Slide Number Placeholder 2">
            <a:extLst>
              <a:ext uri="{FF2B5EF4-FFF2-40B4-BE49-F238E27FC236}">
                <a16:creationId xmlns:a16="http://schemas.microsoft.com/office/drawing/2014/main" id="{49652B2C-C5DB-AC44-396A-314CDB51F25F}"/>
              </a:ext>
            </a:extLst>
          </p:cNvPr>
          <p:cNvSpPr>
            <a:spLocks noGrp="1"/>
          </p:cNvSpPr>
          <p:nvPr>
            <p:ph type="sldNum" sz="quarter" idx="12"/>
          </p:nvPr>
        </p:nvSpPr>
        <p:spPr/>
        <p:txBody>
          <a:bodyPr/>
          <a:lstStyle/>
          <a:p>
            <a:fld id="{5AFE2CDC-18D4-4E7A-A4BC-D5EDA5D6481E}" type="slidenum">
              <a:rPr lang="en-IN" smtClean="0"/>
              <a:t>42</a:t>
            </a:fld>
            <a:endParaRPr lang="en-IN"/>
          </a:p>
        </p:txBody>
      </p:sp>
      <p:sp>
        <p:nvSpPr>
          <p:cNvPr id="4" name="Footer Placeholder 3">
            <a:extLst>
              <a:ext uri="{FF2B5EF4-FFF2-40B4-BE49-F238E27FC236}">
                <a16:creationId xmlns:a16="http://schemas.microsoft.com/office/drawing/2014/main" id="{E73DE8AB-8D72-B860-136F-E5D98B250B70}"/>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7635687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B81E84-E3FD-D08A-28DF-B80B247B3237}"/>
              </a:ext>
            </a:extLst>
          </p:cNvPr>
          <p:cNvSpPr>
            <a:spLocks noGrp="1"/>
          </p:cNvSpPr>
          <p:nvPr>
            <p:ph idx="1"/>
          </p:nvPr>
        </p:nvSpPr>
        <p:spPr>
          <a:xfrm>
            <a:off x="685800" y="1661652"/>
            <a:ext cx="10820400" cy="4557036"/>
          </a:xfrm>
        </p:spPr>
        <p:txBody>
          <a:bodyPr>
            <a:normAutofit fontScale="92500"/>
          </a:bodyPr>
          <a:lstStyle/>
          <a:p>
            <a:r>
              <a:rPr lang="en-IN" sz="2400"/>
              <a:t>चन्द्रस्य वृद्ध्या शुक्लपक्षः भवति। तस्य ह्रासेन कृष्णपक्षः च।</a:t>
            </a:r>
          </a:p>
          <a:p>
            <a:r>
              <a:rPr lang="en-IN" sz="2400"/>
              <a:t>देवाः शुक्लपक्षम् इच्छन्ति। </a:t>
            </a:r>
          </a:p>
          <a:p>
            <a:r>
              <a:rPr lang="en-IN" sz="2400"/>
              <a:t>चन्द्रस्य पूर्नमुखः पौर्णमासी (पूर्णिमा)।</a:t>
            </a:r>
          </a:p>
          <a:p>
            <a:r>
              <a:rPr lang="en-IN" sz="2400"/>
              <a:t>देवाः ताः पूर्णचन्द्रस्य कलाः कृष्णपक्षे भक्ष्यन्ते </a:t>
            </a:r>
            <a:r>
              <a:rPr lang="en-IN" sz="2000" i="1"/>
              <a:t>(देवानां सोमपानं)</a:t>
            </a:r>
            <a:r>
              <a:rPr lang="en-IN" sz="2400"/>
              <a:t>।</a:t>
            </a:r>
          </a:p>
          <a:p>
            <a:pPr lvl="1"/>
            <a:r>
              <a:rPr lang="en-IN"/>
              <a:t>तस्य पञ्चकलाः पञ्चमीपर्यन्तं भक्ष्यन्ते। </a:t>
            </a:r>
            <a:r>
              <a:rPr lang="en-IN" sz="1800" i="1"/>
              <a:t>(पञ्चमी पर्यन्तं चन्द्रस्य आकारे बहु परिवर्तनं न दृष्यते)</a:t>
            </a:r>
          </a:p>
          <a:p>
            <a:pPr lvl="1"/>
            <a:r>
              <a:rPr lang="en-IN"/>
              <a:t>अग्रिमः पञ्चकलाः दशमीपर्यन्तं भक्ष्यन्ते। </a:t>
            </a:r>
            <a:r>
              <a:rPr lang="en-IN" sz="1800" i="1"/>
              <a:t>(दशम्यां चन्द्रस्य प्रकाशः </a:t>
            </a:r>
            <a:r>
              <a:rPr lang="en-IN" sz="1600" i="1"/>
              <a:t>80%</a:t>
            </a:r>
            <a:r>
              <a:rPr lang="en-IN" sz="1800" i="1"/>
              <a:t> न्यूनं भवति पोर्णिमायाः अपेक्षया)</a:t>
            </a:r>
            <a:endParaRPr lang="en-IN" i="1"/>
          </a:p>
          <a:p>
            <a:pPr lvl="1"/>
            <a:r>
              <a:rPr lang="en-IN"/>
              <a:t>तृतीयः पञ्चकलाः पञ्चादशीपर्यन्तं भक्षयन्ते। </a:t>
            </a:r>
            <a:r>
              <a:rPr lang="en-IN" sz="1800" i="1"/>
              <a:t>(पञ्चादशी अमावास्या)</a:t>
            </a:r>
            <a:endParaRPr lang="en-IN" i="1"/>
          </a:p>
          <a:p>
            <a:pPr lvl="1"/>
            <a:r>
              <a:rPr lang="en-IN"/>
              <a:t>षोडशी कला अवशिष्यते। </a:t>
            </a:r>
            <a:r>
              <a:rPr lang="en-IN" sz="1800" i="1"/>
              <a:t>(सिनीवाली – एषाः भूम्यां तिष्ठति इति काठके दत्तम्)</a:t>
            </a:r>
            <a:endParaRPr lang="en-IN"/>
          </a:p>
          <a:p>
            <a:r>
              <a:rPr lang="en-IN" sz="2400"/>
              <a:t>चन्द्रः च भक्ष्यमाणः भूतानां वसति। तदेव अमावास्यायाः अमावास्यत्वम् </a:t>
            </a:r>
            <a:r>
              <a:rPr lang="en-IN" sz="1600" i="1"/>
              <a:t>(</a:t>
            </a:r>
            <a:r>
              <a:rPr lang="en-IN" sz="1700" i="1"/>
              <a:t>living-togetherness</a:t>
            </a:r>
            <a:r>
              <a:rPr lang="en-IN" sz="1600" i="1"/>
              <a:t>)</a:t>
            </a:r>
            <a:r>
              <a:rPr lang="en-IN" sz="2400"/>
              <a:t>।</a:t>
            </a:r>
          </a:p>
          <a:p>
            <a:r>
              <a:rPr lang="en-IN" sz="2400"/>
              <a:t>ततः सन्नाय्येन अमावास्यां सन्नयति </a:t>
            </a:r>
            <a:r>
              <a:rPr lang="en-IN" sz="1600" i="1"/>
              <a:t>(</a:t>
            </a:r>
            <a:r>
              <a:rPr lang="en-IN" sz="1700" i="1"/>
              <a:t>escort</a:t>
            </a:r>
            <a:r>
              <a:rPr lang="en-IN" sz="1600" i="1"/>
              <a:t>)</a:t>
            </a:r>
            <a:r>
              <a:rPr lang="en-IN" sz="2400"/>
              <a:t> इति तस्य सन्नाय्यत्त्वम् </a:t>
            </a:r>
            <a:r>
              <a:rPr lang="en-IN" sz="1800" i="1"/>
              <a:t>(</a:t>
            </a:r>
            <a:r>
              <a:rPr lang="en-IN" sz="1700" i="1"/>
              <a:t>conjunction</a:t>
            </a:r>
            <a:r>
              <a:rPr lang="en-IN" sz="1800" i="1"/>
              <a:t>)</a:t>
            </a:r>
            <a:r>
              <a:rPr lang="en-IN" sz="2400"/>
              <a:t>। </a:t>
            </a:r>
            <a:r>
              <a:rPr lang="en-IN" sz="2000" i="1"/>
              <a:t>(चन्द्रसूर्यस्य संयोगः इव दृष्यते)</a:t>
            </a:r>
          </a:p>
          <a:p>
            <a:r>
              <a:rPr lang="en-IN" sz="2400"/>
              <a:t>सन्नातः सोमः पश्चिमे दृष्यति। एतत् दर्शस्य </a:t>
            </a:r>
            <a:r>
              <a:rPr lang="en-IN" sz="2000" i="1"/>
              <a:t>(अमावास्य) </a:t>
            </a:r>
            <a:r>
              <a:rPr lang="en-IN" sz="2400"/>
              <a:t>दर्शत्वम्। </a:t>
            </a:r>
            <a:r>
              <a:rPr lang="en-IN" sz="2400" i="1"/>
              <a:t>(</a:t>
            </a:r>
            <a:r>
              <a:rPr lang="en-IN" sz="2000" i="1"/>
              <a:t>अमावास्यात् द्वितीये/तृतीवे दिने क्षयचन्द्रः पचिमे दृष्यते तत् दर्शः)</a:t>
            </a:r>
            <a:endParaRPr lang="en-IN" sz="2400"/>
          </a:p>
        </p:txBody>
      </p:sp>
      <p:sp>
        <p:nvSpPr>
          <p:cNvPr id="4" name="Footer Placeholder 3">
            <a:extLst>
              <a:ext uri="{FF2B5EF4-FFF2-40B4-BE49-F238E27FC236}">
                <a16:creationId xmlns:a16="http://schemas.microsoft.com/office/drawing/2014/main" id="{A072C330-5762-A0AC-12AE-C89A1474602A}"/>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FFD2C99A-857E-5A84-5B2F-AA47167C5F23}"/>
              </a:ext>
            </a:extLst>
          </p:cNvPr>
          <p:cNvSpPr>
            <a:spLocks noGrp="1"/>
          </p:cNvSpPr>
          <p:nvPr>
            <p:ph type="sldNum" sz="quarter" idx="12"/>
          </p:nvPr>
        </p:nvSpPr>
        <p:spPr/>
        <p:txBody>
          <a:bodyPr/>
          <a:lstStyle/>
          <a:p>
            <a:fld id="{5AFE2CDC-18D4-4E7A-A4BC-D5EDA5D6481E}" type="slidenum">
              <a:rPr lang="en-IN" smtClean="0"/>
              <a:pPr/>
              <a:t>43</a:t>
            </a:fld>
            <a:endParaRPr lang="en-IN"/>
          </a:p>
        </p:txBody>
      </p:sp>
    </p:spTree>
    <p:extLst>
      <p:ext uri="{BB962C8B-B14F-4D97-AF65-F5344CB8AC3E}">
        <p14:creationId xmlns:p14="http://schemas.microsoft.com/office/powerpoint/2010/main" val="5194706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21954-5635-3DED-5097-477B0FA28064}"/>
              </a:ext>
            </a:extLst>
          </p:cNvPr>
          <p:cNvSpPr>
            <a:spLocks noGrp="1"/>
          </p:cNvSpPr>
          <p:nvPr>
            <p:ph type="title"/>
          </p:nvPr>
        </p:nvSpPr>
        <p:spPr>
          <a:xfrm>
            <a:off x="0" y="753533"/>
            <a:ext cx="12192000" cy="3140041"/>
          </a:xfrm>
        </p:spPr>
        <p:txBody>
          <a:bodyPr>
            <a:normAutofit fontScale="90000"/>
          </a:bodyPr>
          <a:lstStyle/>
          <a:p>
            <a:r>
              <a:rPr lang="en-IN">
                <a:solidFill>
                  <a:srgbClr val="FFFF00"/>
                </a:solidFill>
              </a:rPr>
              <a:t>॥ ५२॥ </a:t>
            </a:r>
            <a:r>
              <a:rPr lang="en-IN"/>
              <a:t>मुखमेतत् प्रजापतेः यत् दर्शपौर्णमासम्। एवम् आपूर्यमाणक्षीयमाणश्च सोमः पूर्णतिथिः पौर्णमासं कालो भवति, निवर्तयति। स्वेन मानेन तस्य एव क्षयो वृद्धिश्च अभिनिर्दिश्यते। सौम्यत्वाच्चैष सोमः अत्र वर्धते। </a:t>
            </a:r>
            <a:br>
              <a:rPr lang="en-IN"/>
            </a:br>
            <a:r>
              <a:rPr lang="en-IN" sz="4000">
                <a:solidFill>
                  <a:srgbClr val="FFFF00"/>
                </a:solidFill>
              </a:rPr>
              <a:t>॥ ५३॥ </a:t>
            </a:r>
            <a:r>
              <a:rPr lang="en-IN" sz="4000"/>
              <a:t>श्रितः यतः चन्द्रमा लक्ष्मात् शशाङ्कः। यश्च एष तच्छशसंस्थितमक्ष्मो वै चन्द्रसंकुलमध्ये दृश्यते। सा च द्वितीया शुक्लत्वम्। तत् वरुणाश्च आप एतामध्य एषा पृथिव्या कृतं चन्द्रमण्डलमध्ये समाकृतिः॥</a:t>
            </a:r>
            <a:endParaRPr lang="en-IN"/>
          </a:p>
        </p:txBody>
      </p:sp>
      <p:sp>
        <p:nvSpPr>
          <p:cNvPr id="3" name="Slide Number Placeholder 2">
            <a:extLst>
              <a:ext uri="{FF2B5EF4-FFF2-40B4-BE49-F238E27FC236}">
                <a16:creationId xmlns:a16="http://schemas.microsoft.com/office/drawing/2014/main" id="{7189498F-BA8E-F742-6923-D3260C0CBCFA}"/>
              </a:ext>
            </a:extLst>
          </p:cNvPr>
          <p:cNvSpPr>
            <a:spLocks noGrp="1"/>
          </p:cNvSpPr>
          <p:nvPr>
            <p:ph type="sldNum" sz="quarter" idx="12"/>
          </p:nvPr>
        </p:nvSpPr>
        <p:spPr/>
        <p:txBody>
          <a:bodyPr/>
          <a:lstStyle/>
          <a:p>
            <a:fld id="{5AFE2CDC-18D4-4E7A-A4BC-D5EDA5D6481E}" type="slidenum">
              <a:rPr lang="en-IN" smtClean="0"/>
              <a:t>44</a:t>
            </a:fld>
            <a:endParaRPr lang="en-IN"/>
          </a:p>
        </p:txBody>
      </p:sp>
      <p:sp>
        <p:nvSpPr>
          <p:cNvPr id="4" name="Footer Placeholder 3">
            <a:extLst>
              <a:ext uri="{FF2B5EF4-FFF2-40B4-BE49-F238E27FC236}">
                <a16:creationId xmlns:a16="http://schemas.microsoft.com/office/drawing/2014/main" id="{BFEA3E2D-0204-7928-D21E-9E0B4A6564A4}"/>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9863265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49844F-73AD-2B9A-8AED-01700421B5FD}"/>
              </a:ext>
            </a:extLst>
          </p:cNvPr>
          <p:cNvSpPr>
            <a:spLocks noGrp="1"/>
          </p:cNvSpPr>
          <p:nvPr>
            <p:ph idx="1"/>
          </p:nvPr>
        </p:nvSpPr>
        <p:spPr/>
        <p:txBody>
          <a:bodyPr>
            <a:normAutofit lnSpcReduction="10000"/>
          </a:bodyPr>
          <a:lstStyle/>
          <a:p>
            <a:r>
              <a:rPr lang="en-IN"/>
              <a:t>प्रजापतेः मुखं दर्शपौर्णमासम् </a:t>
            </a:r>
            <a:r>
              <a:rPr lang="en-IN" sz="1600" i="1"/>
              <a:t>(new-moon – full-moon cycle)</a:t>
            </a:r>
            <a:r>
              <a:rPr lang="en-IN"/>
              <a:t> अस्ति।</a:t>
            </a:r>
          </a:p>
          <a:p>
            <a:r>
              <a:rPr lang="en-IN"/>
              <a:t>ईदृशं चक्रे सोमः पौर्णमासायां पूर्णतिथिः भूत्वा पुनः अमावास्यां प्रति गच्छति।</a:t>
            </a:r>
          </a:p>
          <a:p>
            <a:r>
              <a:rPr lang="en-IN"/>
              <a:t>सोमस्य वर्धनं सौम्यत्वेन भवति।</a:t>
            </a:r>
          </a:p>
          <a:p>
            <a:r>
              <a:rPr lang="en-IN"/>
              <a:t>चन्द्रस्य कलामानेन अपि कालस्य गणनं भवति।</a:t>
            </a:r>
          </a:p>
          <a:p>
            <a:r>
              <a:rPr lang="en-IN"/>
              <a:t>चन्द्रंमण्डलस्य मध्ये शशः इव अङ्कं भवति ततः सः शशाङ्कः।</a:t>
            </a:r>
          </a:p>
          <a:p>
            <a:r>
              <a:rPr lang="en-IN"/>
              <a:t>सः अङ्कः चन्द्रस्य द्वितीयं प्रकाशम्।</a:t>
            </a:r>
          </a:p>
          <a:p>
            <a:r>
              <a:rPr lang="en-IN"/>
              <a:t>ते अङ्काः पृथिव्या क्रिताः।</a:t>
            </a:r>
          </a:p>
          <a:p>
            <a:pPr lvl="1"/>
            <a:r>
              <a:rPr lang="en-IN"/>
              <a:t>वेदे चन्द्रस्य कृष्णबिन्दवः जलम् इति उक्तम्।</a:t>
            </a:r>
          </a:p>
          <a:p>
            <a:pPr lvl="1"/>
            <a:r>
              <a:rPr lang="en-IN"/>
              <a:t>यदा पृथिव्याः द्यौः च विभजनम् अभवत्, एषः अङ्कः चन्द्रे पृथिव्या कृतम्।</a:t>
            </a:r>
          </a:p>
          <a:p>
            <a:pPr lvl="1"/>
            <a:r>
              <a:rPr lang="en-IN"/>
              <a:t>तथा चन्द्रेण अपि पृथिव्यां मरुभूमिः कृतम्।</a:t>
            </a:r>
          </a:p>
          <a:p>
            <a:pPr lvl="1"/>
            <a:r>
              <a:rPr lang="en-IN"/>
              <a:t>चन्द्रस्य अङ्काः (शशः वृक्षः च) दर्पणः इव सुदर्शनद्वीपस्य प्रतिछाया सन्ति।</a:t>
            </a:r>
          </a:p>
        </p:txBody>
      </p:sp>
      <p:sp>
        <p:nvSpPr>
          <p:cNvPr id="4" name="Footer Placeholder 3">
            <a:extLst>
              <a:ext uri="{FF2B5EF4-FFF2-40B4-BE49-F238E27FC236}">
                <a16:creationId xmlns:a16="http://schemas.microsoft.com/office/drawing/2014/main" id="{48F32F4C-D8FB-F7DC-32DF-E15838F5170B}"/>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7608DA4B-1761-B0C6-EF2A-682CEBFD2EB6}"/>
              </a:ext>
            </a:extLst>
          </p:cNvPr>
          <p:cNvSpPr>
            <a:spLocks noGrp="1"/>
          </p:cNvSpPr>
          <p:nvPr>
            <p:ph type="sldNum" sz="quarter" idx="12"/>
          </p:nvPr>
        </p:nvSpPr>
        <p:spPr/>
        <p:txBody>
          <a:bodyPr/>
          <a:lstStyle/>
          <a:p>
            <a:fld id="{5AFE2CDC-18D4-4E7A-A4BC-D5EDA5D6481E}" type="slidenum">
              <a:rPr lang="en-IN" smtClean="0"/>
              <a:pPr/>
              <a:t>45</a:t>
            </a:fld>
            <a:endParaRPr lang="en-IN"/>
          </a:p>
        </p:txBody>
      </p:sp>
    </p:spTree>
    <p:extLst>
      <p:ext uri="{BB962C8B-B14F-4D97-AF65-F5344CB8AC3E}">
        <p14:creationId xmlns:p14="http://schemas.microsoft.com/office/powerpoint/2010/main" val="41817080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DF246-C82D-B9C3-03A3-0814DE0D2F5D}"/>
              </a:ext>
            </a:extLst>
          </p:cNvPr>
          <p:cNvSpPr>
            <a:spLocks noGrp="1"/>
          </p:cNvSpPr>
          <p:nvPr>
            <p:ph type="title"/>
          </p:nvPr>
        </p:nvSpPr>
        <p:spPr/>
        <p:txBody>
          <a:bodyPr/>
          <a:lstStyle/>
          <a:p>
            <a:r>
              <a:rPr lang="en-IN"/>
              <a:t>ग्रहाः ज्योतींशि च</a:t>
            </a:r>
          </a:p>
        </p:txBody>
      </p:sp>
      <p:sp>
        <p:nvSpPr>
          <p:cNvPr id="3" name="Text Placeholder 2">
            <a:extLst>
              <a:ext uri="{FF2B5EF4-FFF2-40B4-BE49-F238E27FC236}">
                <a16:creationId xmlns:a16="http://schemas.microsoft.com/office/drawing/2014/main" id="{B2073F2B-5ED0-B61A-30DA-B4C3D87EB5BB}"/>
              </a:ext>
            </a:extLst>
          </p:cNvPr>
          <p:cNvSpPr>
            <a:spLocks noGrp="1"/>
          </p:cNvSpPr>
          <p:nvPr>
            <p:ph type="body" sz="half" idx="2"/>
          </p:nvPr>
        </p:nvSpPr>
        <p:spPr/>
        <p:txBody>
          <a:bodyPr/>
          <a:lstStyle/>
          <a:p>
            <a:endParaRPr lang="en-IN"/>
          </a:p>
        </p:txBody>
      </p:sp>
      <p:sp>
        <p:nvSpPr>
          <p:cNvPr id="4" name="Slide Number Placeholder 3">
            <a:extLst>
              <a:ext uri="{FF2B5EF4-FFF2-40B4-BE49-F238E27FC236}">
                <a16:creationId xmlns:a16="http://schemas.microsoft.com/office/drawing/2014/main" id="{1C93771F-7B9C-D4A2-7822-08119C3D36B8}"/>
              </a:ext>
            </a:extLst>
          </p:cNvPr>
          <p:cNvSpPr>
            <a:spLocks noGrp="1"/>
          </p:cNvSpPr>
          <p:nvPr>
            <p:ph type="sldNum" sz="quarter" idx="12"/>
          </p:nvPr>
        </p:nvSpPr>
        <p:spPr/>
        <p:txBody>
          <a:bodyPr/>
          <a:lstStyle/>
          <a:p>
            <a:fld id="{5AFE2CDC-18D4-4E7A-A4BC-D5EDA5D6481E}" type="slidenum">
              <a:rPr lang="en-IN" smtClean="0"/>
              <a:t>46</a:t>
            </a:fld>
            <a:endParaRPr lang="en-IN"/>
          </a:p>
        </p:txBody>
      </p:sp>
      <p:sp>
        <p:nvSpPr>
          <p:cNvPr id="5" name="Footer Placeholder 4">
            <a:extLst>
              <a:ext uri="{FF2B5EF4-FFF2-40B4-BE49-F238E27FC236}">
                <a16:creationId xmlns:a16="http://schemas.microsoft.com/office/drawing/2014/main" id="{73B5B879-0F17-A361-EF98-8EF84307624C}"/>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8778336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DD2D9-8DC6-2DD7-864A-2E02DC192651}"/>
              </a:ext>
            </a:extLst>
          </p:cNvPr>
          <p:cNvSpPr>
            <a:spLocks noGrp="1"/>
          </p:cNvSpPr>
          <p:nvPr>
            <p:ph type="title"/>
          </p:nvPr>
        </p:nvSpPr>
        <p:spPr/>
        <p:txBody>
          <a:bodyPr/>
          <a:lstStyle/>
          <a:p>
            <a:r>
              <a:rPr lang="en-IN" sz="4000">
                <a:solidFill>
                  <a:srgbClr val="FFFF00"/>
                </a:solidFill>
              </a:rPr>
              <a:t>॥ ५४॥ </a:t>
            </a:r>
            <a:r>
              <a:rPr lang="en-IN" sz="4000"/>
              <a:t>वेदोक्तानां ग्रहाणाम् अष्टशतं संख्यायते। तत्र एकशतं केतूनां पठ्यते। सोमार्कौ पञ्च च ताराग्रहाः, तस्मत् अष्टशता संख्यायते। निग्रहार्थं च ग्रहाः प्रजानां देवैः उत्पादिताः। तेश्च निग्रहार्थम् उत्पन्नाः, तत् ग्रहाणां ग्रहत्वम्॥</a:t>
            </a:r>
            <a:endParaRPr lang="en-IN"/>
          </a:p>
        </p:txBody>
      </p:sp>
      <p:sp>
        <p:nvSpPr>
          <p:cNvPr id="3" name="Slide Number Placeholder 2">
            <a:extLst>
              <a:ext uri="{FF2B5EF4-FFF2-40B4-BE49-F238E27FC236}">
                <a16:creationId xmlns:a16="http://schemas.microsoft.com/office/drawing/2014/main" id="{229B6294-1D7B-5ADC-5333-0EE7B8D6F6E3}"/>
              </a:ext>
            </a:extLst>
          </p:cNvPr>
          <p:cNvSpPr>
            <a:spLocks noGrp="1"/>
          </p:cNvSpPr>
          <p:nvPr>
            <p:ph type="sldNum" sz="quarter" idx="12"/>
          </p:nvPr>
        </p:nvSpPr>
        <p:spPr/>
        <p:txBody>
          <a:bodyPr/>
          <a:lstStyle/>
          <a:p>
            <a:fld id="{5AFE2CDC-18D4-4E7A-A4BC-D5EDA5D6481E}" type="slidenum">
              <a:rPr lang="en-IN" smtClean="0"/>
              <a:t>47</a:t>
            </a:fld>
            <a:endParaRPr lang="en-IN"/>
          </a:p>
        </p:txBody>
      </p:sp>
      <p:sp>
        <p:nvSpPr>
          <p:cNvPr id="4" name="Footer Placeholder 3">
            <a:extLst>
              <a:ext uri="{FF2B5EF4-FFF2-40B4-BE49-F238E27FC236}">
                <a16:creationId xmlns:a16="http://schemas.microsoft.com/office/drawing/2014/main" id="{D5A91A61-66B1-7503-C0A4-E3A7B8C14429}"/>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4390701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95DC6-CA1D-99BE-2492-A124DFAA4F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55AE489-1BD3-598A-1386-577F9FA90658}"/>
              </a:ext>
            </a:extLst>
          </p:cNvPr>
          <p:cNvSpPr>
            <a:spLocks noGrp="1"/>
          </p:cNvSpPr>
          <p:nvPr>
            <p:ph idx="1"/>
          </p:nvPr>
        </p:nvSpPr>
        <p:spPr/>
        <p:txBody>
          <a:bodyPr/>
          <a:lstStyle/>
          <a:p>
            <a:r>
              <a:rPr lang="en-IN"/>
              <a:t>प्रजानां निग्रहार्थं देवैः ग्रहाः उत्पादिताः। ततः तेषां ग्रहत्वम्।</a:t>
            </a:r>
          </a:p>
          <a:p>
            <a:r>
              <a:rPr lang="en-IN"/>
              <a:t>वेदे १०८ ग्रहाः उक्ताः।</a:t>
            </a:r>
          </a:p>
          <a:p>
            <a:pPr lvl="1"/>
            <a:r>
              <a:rPr lang="en-IN"/>
              <a:t>तस्मात् १०१ केतवः </a:t>
            </a:r>
            <a:r>
              <a:rPr lang="en-IN" sz="1400" i="1"/>
              <a:t>(streak of light / comet)</a:t>
            </a:r>
            <a:r>
              <a:rPr lang="en-IN"/>
              <a:t>।</a:t>
            </a:r>
          </a:p>
          <a:p>
            <a:pPr lvl="1"/>
            <a:r>
              <a:rPr lang="en-IN"/>
              <a:t>सूर्यः चन्द्रः च द्वौ।</a:t>
            </a:r>
          </a:p>
          <a:p>
            <a:pPr lvl="1"/>
            <a:r>
              <a:rPr lang="en-IN"/>
              <a:t>पञ्च ताराग्रहाः – बुधः, शुक्रः, मङ्गलः, गुरुः, शनिः।</a:t>
            </a:r>
          </a:p>
        </p:txBody>
      </p:sp>
      <p:sp>
        <p:nvSpPr>
          <p:cNvPr id="4" name="Footer Placeholder 3">
            <a:extLst>
              <a:ext uri="{FF2B5EF4-FFF2-40B4-BE49-F238E27FC236}">
                <a16:creationId xmlns:a16="http://schemas.microsoft.com/office/drawing/2014/main" id="{F9E5CCAA-D5EE-D372-B5F6-1D0A84F20C8A}"/>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CCC59C54-E25F-9D73-51F3-64406E5C4758}"/>
              </a:ext>
            </a:extLst>
          </p:cNvPr>
          <p:cNvSpPr>
            <a:spLocks noGrp="1"/>
          </p:cNvSpPr>
          <p:nvPr>
            <p:ph type="sldNum" sz="quarter" idx="12"/>
          </p:nvPr>
        </p:nvSpPr>
        <p:spPr/>
        <p:txBody>
          <a:bodyPr/>
          <a:lstStyle/>
          <a:p>
            <a:fld id="{5AFE2CDC-18D4-4E7A-A4BC-D5EDA5D6481E}" type="slidenum">
              <a:rPr lang="en-IN" smtClean="0"/>
              <a:pPr/>
              <a:t>48</a:t>
            </a:fld>
            <a:endParaRPr lang="en-IN"/>
          </a:p>
        </p:txBody>
      </p:sp>
    </p:spTree>
    <p:extLst>
      <p:ext uri="{BB962C8B-B14F-4D97-AF65-F5344CB8AC3E}">
        <p14:creationId xmlns:p14="http://schemas.microsoft.com/office/powerpoint/2010/main" val="927245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98883-952A-FFD4-9DC7-328D31F47425}"/>
              </a:ext>
            </a:extLst>
          </p:cNvPr>
          <p:cNvSpPr>
            <a:spLocks noGrp="1"/>
          </p:cNvSpPr>
          <p:nvPr>
            <p:ph type="title"/>
          </p:nvPr>
        </p:nvSpPr>
        <p:spPr>
          <a:xfrm>
            <a:off x="0" y="137160"/>
            <a:ext cx="12192000" cy="4535424"/>
          </a:xfrm>
        </p:spPr>
        <p:txBody>
          <a:bodyPr>
            <a:normAutofit/>
          </a:bodyPr>
          <a:lstStyle/>
          <a:p>
            <a:r>
              <a:rPr lang="en-IN" sz="2900">
                <a:solidFill>
                  <a:srgbClr val="FFFF00"/>
                </a:solidFill>
              </a:rPr>
              <a:t>॥ ५५॥ </a:t>
            </a:r>
            <a:r>
              <a:rPr lang="en-IN" sz="2900"/>
              <a:t>तत्र पञ्च ताराग्रहाणि अभिनिर्दिक्ष्यामः। शुक्रस्त्वेषां प्रथमम्। अथास्य स्युः शुक्लवर्णरश्मयः षोडश। आप्त च वै सूर्याचन्द्रमसोः तिष्ठति। शुक्रः स्वकर्मणा उशनसः पुत्रः प्रादुर्भूतः। शुक्रः प्राग्द्वारश्च एषः क्षत्रियाणां पठ्यते॥ </a:t>
            </a:r>
            <a:br>
              <a:rPr lang="en-IN" sz="2900"/>
            </a:br>
            <a:r>
              <a:rPr lang="en-IN" sz="2900">
                <a:solidFill>
                  <a:srgbClr val="FFFF00"/>
                </a:solidFill>
              </a:rPr>
              <a:t>॥ ५६॥ </a:t>
            </a:r>
            <a:r>
              <a:rPr lang="en-IN" sz="2900"/>
              <a:t>पुत्रः अङ्गिरसः बृहत् वा अन्यः द्वादशरश्मिः बृहस्पतिः। बृहता तपसा समुद्भूतः इत्यतः बृहस्पतिः। उत्तरद्वारश्च एषः ब्राह्मणानां पठ्यते॥</a:t>
            </a:r>
            <a:br>
              <a:rPr lang="en-IN" sz="2900"/>
            </a:br>
            <a:r>
              <a:rPr lang="en-IN" sz="2900">
                <a:solidFill>
                  <a:srgbClr val="FFFF00"/>
                </a:solidFill>
              </a:rPr>
              <a:t>॥ ५७॥ </a:t>
            </a:r>
            <a:r>
              <a:rPr lang="en-IN" sz="2900"/>
              <a:t>प्रजातः ताम्रवर्णः नवरश्मिः अग्निप्रभवो वक्रगतिः अङ्गारक इति। विरोचते इति एषः अङ्गारकः। पश्चात् द्वारः स एव शूद्राणां पठ्यते॥</a:t>
            </a:r>
            <a:br>
              <a:rPr lang="en-IN" sz="2900"/>
            </a:br>
            <a:r>
              <a:rPr lang="en-IN" sz="2900">
                <a:solidFill>
                  <a:srgbClr val="FFFF00"/>
                </a:solidFill>
              </a:rPr>
              <a:t>॥ ५८॥ </a:t>
            </a:r>
            <a:r>
              <a:rPr lang="en-IN" sz="2900"/>
              <a:t>सूर्यपुत्रः पञ्चरश्मिः कृष्णवर्णः शनैः चरति इति शनैश्चरः दक्षिणद्वारश्च एषः वैश्यानां पठयते॥</a:t>
            </a:r>
            <a:br>
              <a:rPr lang="en-IN" sz="2900"/>
            </a:br>
            <a:r>
              <a:rPr lang="en-IN" sz="2900">
                <a:solidFill>
                  <a:srgbClr val="FFFF00"/>
                </a:solidFill>
              </a:rPr>
              <a:t>॥ ५९॥ </a:t>
            </a:r>
            <a:r>
              <a:rPr lang="en-IN" sz="2900"/>
              <a:t>अथातः पञ्चमं बुधम् अनुव्याख्यास्यामः। सोमपुत्रः सप्तरश्मिः बुधः बोधनः बुद्धिबोधाय इति। पूर्वापूर्वनिवृत्तानि वा कर्माणि इत्यतः बुधः सर्वत्र सर्वद्वारश्च एष येन ग्रहेण सम्पृक्तः भवति तत्कर्म भजते॥ </a:t>
            </a:r>
          </a:p>
        </p:txBody>
      </p:sp>
      <p:sp>
        <p:nvSpPr>
          <p:cNvPr id="3" name="Slide Number Placeholder 2">
            <a:extLst>
              <a:ext uri="{FF2B5EF4-FFF2-40B4-BE49-F238E27FC236}">
                <a16:creationId xmlns:a16="http://schemas.microsoft.com/office/drawing/2014/main" id="{EF3BA30B-DB7D-462E-C087-4B43D63386AD}"/>
              </a:ext>
            </a:extLst>
          </p:cNvPr>
          <p:cNvSpPr>
            <a:spLocks noGrp="1"/>
          </p:cNvSpPr>
          <p:nvPr>
            <p:ph type="sldNum" sz="quarter" idx="12"/>
          </p:nvPr>
        </p:nvSpPr>
        <p:spPr/>
        <p:txBody>
          <a:bodyPr/>
          <a:lstStyle/>
          <a:p>
            <a:fld id="{5AFE2CDC-18D4-4E7A-A4BC-D5EDA5D6481E}" type="slidenum">
              <a:rPr lang="en-IN" smtClean="0"/>
              <a:t>49</a:t>
            </a:fld>
            <a:endParaRPr lang="en-IN"/>
          </a:p>
        </p:txBody>
      </p:sp>
      <p:sp>
        <p:nvSpPr>
          <p:cNvPr id="4" name="Footer Placeholder 3">
            <a:extLst>
              <a:ext uri="{FF2B5EF4-FFF2-40B4-BE49-F238E27FC236}">
                <a16:creationId xmlns:a16="http://schemas.microsoft.com/office/drawing/2014/main" id="{59AA6763-7246-6C6E-63CE-544CEE0E8FF2}"/>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426814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8DB923-A2D2-A819-911B-88E05771C847}"/>
              </a:ext>
            </a:extLst>
          </p:cNvPr>
          <p:cNvSpPr>
            <a:spLocks noGrp="1"/>
          </p:cNvSpPr>
          <p:nvPr>
            <p:ph idx="1"/>
          </p:nvPr>
        </p:nvSpPr>
        <p:spPr>
          <a:xfrm>
            <a:off x="685799" y="1264886"/>
            <a:ext cx="5410200" cy="4330892"/>
          </a:xfrm>
        </p:spPr>
        <p:txBody>
          <a:bodyPr>
            <a:normAutofit/>
          </a:bodyPr>
          <a:lstStyle/>
          <a:p>
            <a:r>
              <a:rPr lang="en-IN"/>
              <a:t>पञ्चताराग्रहेषु भृगुपुत्रः शुक्रः प्रथमः।</a:t>
            </a:r>
          </a:p>
          <a:p>
            <a:pPr lvl="1"/>
            <a:r>
              <a:rPr lang="en-IN"/>
              <a:t>तस्य १६ शुक्लरश्मयः।</a:t>
            </a:r>
          </a:p>
          <a:p>
            <a:pPr lvl="1"/>
            <a:r>
              <a:rPr lang="en-IN"/>
              <a:t>सूर्यचन्द्रयोः समीपे तिष्ठति।</a:t>
            </a:r>
          </a:p>
          <a:p>
            <a:pPr lvl="1"/>
            <a:r>
              <a:rPr lang="en-IN"/>
              <a:t>प्राग्द्वारः शुक्रः क्षत्रियैः पठ्यते।</a:t>
            </a:r>
          </a:p>
          <a:p>
            <a:r>
              <a:rPr lang="en-IN"/>
              <a:t>द्वितीयः आङ्गिरसः बृहस्पतिः।</a:t>
            </a:r>
          </a:p>
          <a:p>
            <a:pPr lvl="1"/>
            <a:r>
              <a:rPr lang="en-IN"/>
              <a:t>तस्य १२ रश्मयः।</a:t>
            </a:r>
          </a:p>
          <a:p>
            <a:pPr lvl="1"/>
            <a:r>
              <a:rPr lang="en-IN"/>
              <a:t>बृहत्तपसा उद्भवः इति बृहस्पतिः।</a:t>
            </a:r>
          </a:p>
          <a:p>
            <a:pPr lvl="1"/>
            <a:r>
              <a:rPr lang="en-IN"/>
              <a:t>उत्तरद्वारः बृहस्पतिः ब्राह्मणैः पठ्यते।</a:t>
            </a:r>
          </a:p>
          <a:p>
            <a:r>
              <a:rPr lang="en-IN"/>
              <a:t>तृतीयः अङ्गारकः।</a:t>
            </a:r>
          </a:p>
          <a:p>
            <a:pPr lvl="1"/>
            <a:r>
              <a:rPr lang="en-IN"/>
              <a:t>ताम्रवर्णः वक्रगतिः अङ्गारकस्य ९ रश्मयः।</a:t>
            </a:r>
          </a:p>
          <a:p>
            <a:pPr lvl="1"/>
            <a:r>
              <a:rPr lang="en-IN"/>
              <a:t>विरोचते अङ्गारकः।</a:t>
            </a:r>
          </a:p>
          <a:p>
            <a:pPr lvl="1"/>
            <a:r>
              <a:rPr lang="en-IN"/>
              <a:t>पश्चात्द्वारः अङ्गारकः शूद्रैः पठ्यते।</a:t>
            </a:r>
          </a:p>
        </p:txBody>
      </p:sp>
      <p:sp>
        <p:nvSpPr>
          <p:cNvPr id="4" name="Footer Placeholder 3">
            <a:extLst>
              <a:ext uri="{FF2B5EF4-FFF2-40B4-BE49-F238E27FC236}">
                <a16:creationId xmlns:a16="http://schemas.microsoft.com/office/drawing/2014/main" id="{DAFCC5A0-CBBD-A390-19F2-F1B909F9AFFB}"/>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A42B7164-6E53-1FB8-EB98-9CE12CC71DA3}"/>
              </a:ext>
            </a:extLst>
          </p:cNvPr>
          <p:cNvSpPr>
            <a:spLocks noGrp="1"/>
          </p:cNvSpPr>
          <p:nvPr>
            <p:ph type="sldNum" sz="quarter" idx="12"/>
          </p:nvPr>
        </p:nvSpPr>
        <p:spPr/>
        <p:txBody>
          <a:bodyPr/>
          <a:lstStyle/>
          <a:p>
            <a:fld id="{5AFE2CDC-18D4-4E7A-A4BC-D5EDA5D6481E}" type="slidenum">
              <a:rPr lang="en-IN" smtClean="0"/>
              <a:pPr/>
              <a:t>50</a:t>
            </a:fld>
            <a:endParaRPr lang="en-IN"/>
          </a:p>
        </p:txBody>
      </p:sp>
      <p:sp>
        <p:nvSpPr>
          <p:cNvPr id="6" name="Content Placeholder 2">
            <a:extLst>
              <a:ext uri="{FF2B5EF4-FFF2-40B4-BE49-F238E27FC236}">
                <a16:creationId xmlns:a16="http://schemas.microsoft.com/office/drawing/2014/main" id="{1885991C-9452-CD75-A637-D591C14680D0}"/>
              </a:ext>
            </a:extLst>
          </p:cNvPr>
          <p:cNvSpPr txBox="1">
            <a:spLocks/>
          </p:cNvSpPr>
          <p:nvPr/>
        </p:nvSpPr>
        <p:spPr>
          <a:xfrm>
            <a:off x="6096000" y="1263554"/>
            <a:ext cx="5410200" cy="43308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en-IN"/>
              <a:t>चतुर्थः सूर्यपुत्रः शनिः।</a:t>
            </a:r>
          </a:p>
          <a:p>
            <a:pPr lvl="1"/>
            <a:r>
              <a:rPr lang="en-IN"/>
              <a:t>कृष्णवर्णः। </a:t>
            </a:r>
          </a:p>
          <a:p>
            <a:pPr lvl="1"/>
            <a:r>
              <a:rPr lang="en-IN"/>
              <a:t>तस्य ५ रश्मयः।</a:t>
            </a:r>
          </a:p>
          <a:p>
            <a:pPr lvl="1"/>
            <a:r>
              <a:rPr lang="en-IN"/>
              <a:t>सः शनैः चरति इति शनैश्चरः।</a:t>
            </a:r>
          </a:p>
          <a:p>
            <a:pPr lvl="1"/>
            <a:r>
              <a:rPr lang="en-IN"/>
              <a:t>दक्षिणद्वारः शनैश्चरः वैश्येभिः पठ्यते।</a:t>
            </a:r>
          </a:p>
          <a:p>
            <a:r>
              <a:rPr lang="en-IN"/>
              <a:t>ताराग्रहेषु पञ्चमः सोमपुत्रः बुधः।</a:t>
            </a:r>
          </a:p>
          <a:p>
            <a:pPr lvl="1"/>
            <a:r>
              <a:rPr lang="en-IN"/>
              <a:t>बुद्धिबोधयति इति बुधः।</a:t>
            </a:r>
          </a:p>
          <a:p>
            <a:pPr lvl="1"/>
            <a:r>
              <a:rPr lang="en-IN"/>
              <a:t>पूर्ववृत्तयः भविष्यवृत्तयः च सूचयति इत्यपि बुधः।</a:t>
            </a:r>
          </a:p>
          <a:p>
            <a:pPr lvl="1"/>
            <a:r>
              <a:rPr lang="en-IN"/>
              <a:t>तस्य ७ रश्मयः।</a:t>
            </a:r>
          </a:p>
          <a:p>
            <a:pPr lvl="1"/>
            <a:r>
              <a:rPr lang="en-IN"/>
              <a:t>तस्य सर्वत्र द्वाराः सन्ति।</a:t>
            </a:r>
          </a:p>
          <a:p>
            <a:pPr lvl="1"/>
            <a:r>
              <a:rPr lang="en-IN"/>
              <a:t>तेन ग्रहेण सह सः संयोजः भवति तस्य गुणं अनुसरति।</a:t>
            </a:r>
          </a:p>
        </p:txBody>
      </p:sp>
      <p:sp>
        <p:nvSpPr>
          <p:cNvPr id="7" name="TextBox 6">
            <a:extLst>
              <a:ext uri="{FF2B5EF4-FFF2-40B4-BE49-F238E27FC236}">
                <a16:creationId xmlns:a16="http://schemas.microsoft.com/office/drawing/2014/main" id="{2498DD81-C33A-EC93-6EE8-E40F0D0803A9}"/>
              </a:ext>
            </a:extLst>
          </p:cNvPr>
          <p:cNvSpPr txBox="1"/>
          <p:nvPr/>
        </p:nvSpPr>
        <p:spPr>
          <a:xfrm>
            <a:off x="2867331" y="5689050"/>
            <a:ext cx="6457336" cy="707886"/>
          </a:xfrm>
          <a:prstGeom prst="rect">
            <a:avLst/>
          </a:prstGeom>
          <a:noFill/>
        </p:spPr>
        <p:txBody>
          <a:bodyPr wrap="square" rtlCol="0">
            <a:spAutoFit/>
          </a:bodyPr>
          <a:lstStyle/>
          <a:p>
            <a:pPr marL="285750" indent="-285750">
              <a:buFont typeface="Arial" panose="020B0604020202020204" pitchFamily="34" charset="0"/>
              <a:buChar char="•"/>
            </a:pPr>
            <a:r>
              <a:rPr lang="en-IN" sz="2000"/>
              <a:t>सृष्टिकथायामपि प्रथमः भृगुः। तदनन्तम् ब्रह्मणा हुत्वा अङ्गिरसः अजायत।</a:t>
            </a:r>
          </a:p>
          <a:p>
            <a:pPr marL="285750" indent="-285750">
              <a:buFont typeface="Arial" panose="020B0604020202020204" pitchFamily="34" charset="0"/>
              <a:buChar char="•"/>
            </a:pPr>
            <a:r>
              <a:rPr lang="en-IN" sz="2000"/>
              <a:t>बुधः पञ्चमः – प्रायः तस्यविषये बहु ज्ञानं नासीत्।</a:t>
            </a:r>
          </a:p>
        </p:txBody>
      </p:sp>
    </p:spTree>
    <p:extLst>
      <p:ext uri="{BB962C8B-B14F-4D97-AF65-F5344CB8AC3E}">
        <p14:creationId xmlns:p14="http://schemas.microsoft.com/office/powerpoint/2010/main" val="2274548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4E834-8B38-E437-1ADB-F2D844E71A86}"/>
              </a:ext>
            </a:extLst>
          </p:cNvPr>
          <p:cNvSpPr>
            <a:spLocks noGrp="1"/>
          </p:cNvSpPr>
          <p:nvPr>
            <p:ph type="title"/>
          </p:nvPr>
        </p:nvSpPr>
        <p:spPr>
          <a:xfrm>
            <a:off x="0" y="753533"/>
            <a:ext cx="12192000" cy="3571579"/>
          </a:xfrm>
        </p:spPr>
        <p:txBody>
          <a:bodyPr>
            <a:normAutofit fontScale="90000"/>
          </a:bodyPr>
          <a:lstStyle/>
          <a:p>
            <a:r>
              <a:rPr lang="en-IN">
                <a:solidFill>
                  <a:srgbClr val="FFFF00"/>
                </a:solidFill>
              </a:rPr>
              <a:t>॥ ६०॥ </a:t>
            </a:r>
            <a:r>
              <a:rPr lang="en-IN"/>
              <a:t>अथ अपरः आगन्तुः मृत्युपुत्रः महातमसात्मकः राहुः उग्रंतपः तप्तवान्। तस्मै ब्रह्मा प्रीतः वरदः, चन्द्रादित्यौ ग्रसिष्यसि न त्वेतौ जरयिष्यसि। स वै षण्मास्ये पर्वणि युगपत् उपतिष्ठति। शरीरम् अकृत्वा शिरोवर्णान् विदर्शयन् बहुभिः च वर्णसंस्थानैः ग्रहणमोक्षाभ्यां हिंसति प्रजाः॥</a:t>
            </a:r>
            <a:br>
              <a:rPr lang="en-IN"/>
            </a:br>
            <a:r>
              <a:rPr lang="en-IN">
                <a:solidFill>
                  <a:srgbClr val="FFFF00"/>
                </a:solidFill>
              </a:rPr>
              <a:t>॥ ६१॥ </a:t>
            </a:r>
            <a:r>
              <a:rPr lang="en-IN"/>
              <a:t>भीमरूपः उदग्रो ग्रहो धूम्रवर्णः एकशिखः विभावसोः पुत्रः। धूम्रवर्णस्य शिखया च उपधूमयते नक्षत्राणि इति अतः धूमकेतुः। केतुर्हि, वालानां भावाभावम् उपस्थितम् इत्यर्थः॥</a:t>
            </a:r>
          </a:p>
        </p:txBody>
      </p:sp>
      <p:sp>
        <p:nvSpPr>
          <p:cNvPr id="3" name="Slide Number Placeholder 2">
            <a:extLst>
              <a:ext uri="{FF2B5EF4-FFF2-40B4-BE49-F238E27FC236}">
                <a16:creationId xmlns:a16="http://schemas.microsoft.com/office/drawing/2014/main" id="{A8CFA931-6CD5-BE82-564A-30E334BA2A71}"/>
              </a:ext>
            </a:extLst>
          </p:cNvPr>
          <p:cNvSpPr>
            <a:spLocks noGrp="1"/>
          </p:cNvSpPr>
          <p:nvPr>
            <p:ph type="sldNum" sz="quarter" idx="12"/>
          </p:nvPr>
        </p:nvSpPr>
        <p:spPr/>
        <p:txBody>
          <a:bodyPr/>
          <a:lstStyle/>
          <a:p>
            <a:fld id="{5AFE2CDC-18D4-4E7A-A4BC-D5EDA5D6481E}" type="slidenum">
              <a:rPr lang="en-IN" smtClean="0"/>
              <a:t>51</a:t>
            </a:fld>
            <a:endParaRPr lang="en-IN"/>
          </a:p>
        </p:txBody>
      </p:sp>
      <p:sp>
        <p:nvSpPr>
          <p:cNvPr id="4" name="Footer Placeholder 3">
            <a:extLst>
              <a:ext uri="{FF2B5EF4-FFF2-40B4-BE49-F238E27FC236}">
                <a16:creationId xmlns:a16="http://schemas.microsoft.com/office/drawing/2014/main" id="{1697092C-A0D5-EEA3-582A-22A142A4E7BB}"/>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1111094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89B118-5953-42E6-D8C6-11BC2D58264D}"/>
              </a:ext>
            </a:extLst>
          </p:cNvPr>
          <p:cNvSpPr>
            <a:spLocks noGrp="1"/>
          </p:cNvSpPr>
          <p:nvPr>
            <p:ph idx="1"/>
          </p:nvPr>
        </p:nvSpPr>
        <p:spPr>
          <a:xfrm>
            <a:off x="685800" y="2194560"/>
            <a:ext cx="5410200" cy="4024125"/>
          </a:xfrm>
        </p:spPr>
        <p:txBody>
          <a:bodyPr>
            <a:normAutofit lnSpcReduction="10000"/>
          </a:bodyPr>
          <a:lstStyle/>
          <a:p>
            <a:r>
              <a:rPr lang="en-IN"/>
              <a:t>राहुः आगन्तुः </a:t>
            </a:r>
            <a:r>
              <a:rPr lang="en-IN" sz="1600" i="1"/>
              <a:t>(unexpected visitor – </a:t>
            </a:r>
            <a:r>
              <a:rPr lang="en-IN" sz="1800"/>
              <a:t>आगम्य ग्रहणं उत्पादयति</a:t>
            </a:r>
            <a:r>
              <a:rPr lang="en-IN" sz="1600" i="1"/>
              <a:t>)</a:t>
            </a:r>
            <a:r>
              <a:rPr lang="en-IN"/>
              <a:t> मृत्युपुत्रः च। </a:t>
            </a:r>
          </a:p>
          <a:p>
            <a:r>
              <a:rPr lang="en-IN"/>
              <a:t>तपसा सः सूर्यचन्द्रौ स्रसति इति वरं स्वीकृतवान् परन्तु जीर्णं न कर्तुं शक्नोति।</a:t>
            </a:r>
          </a:p>
          <a:p>
            <a:r>
              <a:rPr lang="en-IN"/>
              <a:t>सः ~६ मासेषु पर्वदिने </a:t>
            </a:r>
            <a:r>
              <a:rPr lang="en-IN" sz="1800" i="1"/>
              <a:t>(अमावास्य/पौर्णिमा)</a:t>
            </a:r>
            <a:r>
              <a:rPr lang="en-IN"/>
              <a:t> आगच्छति। </a:t>
            </a:r>
          </a:p>
          <a:p>
            <a:pPr lvl="1"/>
            <a:r>
              <a:rPr lang="en-IN"/>
              <a:t>विषुवत्दिनसमये यदा सूर्यः चन्द्रः भूमिः च पङ्क्त्यां भवन्ति तदा ग्रहणं भवति स्म।</a:t>
            </a:r>
            <a:endParaRPr lang="en-IN" i="1"/>
          </a:p>
          <a:p>
            <a:pPr lvl="1"/>
            <a:r>
              <a:rPr lang="en-IN" sz="1800" i="1"/>
              <a:t>चन्द्रग्रहणस्य एषः प्रकारः ~१६०० </a:t>
            </a:r>
            <a:r>
              <a:rPr lang="en-IN" sz="1400" i="1"/>
              <a:t>BC</a:t>
            </a:r>
            <a:r>
              <a:rPr lang="en-IN" sz="1800" i="1"/>
              <a:t> मध्ये अभवत्।</a:t>
            </a:r>
          </a:p>
          <a:p>
            <a:r>
              <a:rPr lang="en-IN"/>
              <a:t>तस्य शरीरं नास्ति। शिरस्य वर्णान् एवम्।</a:t>
            </a:r>
          </a:p>
          <a:p>
            <a:r>
              <a:rPr lang="en-IN"/>
              <a:t>बहुभिः वर्णैः संस्थानैः च प्रजान् हिंसति।</a:t>
            </a:r>
          </a:p>
          <a:p>
            <a:r>
              <a:rPr lang="en-IN"/>
              <a:t>चन्द्रे वा सूर्ये वा छायां दृष्ट्वा अनुमानेन अस्य ज्ञानं भवति।</a:t>
            </a:r>
          </a:p>
        </p:txBody>
      </p:sp>
      <p:sp>
        <p:nvSpPr>
          <p:cNvPr id="4" name="Footer Placeholder 3">
            <a:extLst>
              <a:ext uri="{FF2B5EF4-FFF2-40B4-BE49-F238E27FC236}">
                <a16:creationId xmlns:a16="http://schemas.microsoft.com/office/drawing/2014/main" id="{1B617546-AA3A-FEC3-63A3-08660349349A}"/>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5E626C68-CF3C-C12B-6EF1-53227BF6A787}"/>
              </a:ext>
            </a:extLst>
          </p:cNvPr>
          <p:cNvSpPr>
            <a:spLocks noGrp="1"/>
          </p:cNvSpPr>
          <p:nvPr>
            <p:ph type="sldNum" sz="quarter" idx="12"/>
          </p:nvPr>
        </p:nvSpPr>
        <p:spPr/>
        <p:txBody>
          <a:bodyPr/>
          <a:lstStyle/>
          <a:p>
            <a:fld id="{5AFE2CDC-18D4-4E7A-A4BC-D5EDA5D6481E}" type="slidenum">
              <a:rPr lang="en-IN" smtClean="0"/>
              <a:pPr/>
              <a:t>52</a:t>
            </a:fld>
            <a:endParaRPr lang="en-IN"/>
          </a:p>
        </p:txBody>
      </p:sp>
      <p:sp>
        <p:nvSpPr>
          <p:cNvPr id="6" name="Content Placeholder 2">
            <a:extLst>
              <a:ext uri="{FF2B5EF4-FFF2-40B4-BE49-F238E27FC236}">
                <a16:creationId xmlns:a16="http://schemas.microsoft.com/office/drawing/2014/main" id="{E2E50792-24C9-CC87-64F4-65F0277871B6}"/>
              </a:ext>
            </a:extLst>
          </p:cNvPr>
          <p:cNvSpPr txBox="1">
            <a:spLocks/>
          </p:cNvSpPr>
          <p:nvPr/>
        </p:nvSpPr>
        <p:spPr>
          <a:xfrm>
            <a:off x="6096000" y="2194559"/>
            <a:ext cx="5410200" cy="4024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en-IN"/>
              <a:t>केतुः विभावसोः पुत्रः।</a:t>
            </a:r>
          </a:p>
          <a:p>
            <a:r>
              <a:rPr lang="en-IN"/>
              <a:t>तस्य धूमवर्णे एका शिखा भवति।</a:t>
            </a:r>
          </a:p>
          <a:p>
            <a:r>
              <a:rPr lang="en-IN"/>
              <a:t>सः नक्षत्राणि धूमेण अवच्छादयति इति धूमकेतुः।</a:t>
            </a:r>
          </a:p>
          <a:p>
            <a:r>
              <a:rPr lang="en-IN"/>
              <a:t>केतोः भावभावं तस्य शिखायां भवति।</a:t>
            </a:r>
          </a:p>
        </p:txBody>
      </p:sp>
    </p:spTree>
    <p:extLst>
      <p:ext uri="{BB962C8B-B14F-4D97-AF65-F5344CB8AC3E}">
        <p14:creationId xmlns:p14="http://schemas.microsoft.com/office/powerpoint/2010/main" val="25370111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D56F26-6750-0C34-5613-7E2CA7009558}"/>
              </a:ext>
            </a:extLst>
          </p:cNvPr>
          <p:cNvSpPr>
            <a:spLocks noGrp="1"/>
          </p:cNvSpPr>
          <p:nvPr>
            <p:ph idx="1"/>
          </p:nvPr>
        </p:nvSpPr>
        <p:spPr/>
        <p:txBody>
          <a:bodyPr/>
          <a:lstStyle/>
          <a:p>
            <a:r>
              <a:rPr lang="en-IN"/>
              <a:t>प्रतिषट्मासे चन्द्रग्रहनं भवति स्म। ततः ६ मासानि = १ राहुयुगम्।</a:t>
            </a:r>
          </a:p>
          <a:p>
            <a:r>
              <a:rPr lang="en-IN"/>
              <a:t>४ ग्रहणानि युगपत् वर्तन्ते स्म </a:t>
            </a:r>
            <a:r>
              <a:rPr lang="en-IN" sz="1600" i="1"/>
              <a:t>(tetrad)</a:t>
            </a:r>
            <a:r>
              <a:rPr lang="en-IN"/>
              <a:t>। </a:t>
            </a:r>
          </a:p>
          <a:p>
            <a:r>
              <a:rPr lang="en-IN"/>
              <a:t>४०० वर्षेभ्यः एषः चतुष्टयं भवति। तदनन्तरं २०० वर्षेभ्यः न भवति।</a:t>
            </a:r>
          </a:p>
          <a:p>
            <a:r>
              <a:rPr lang="en-IN"/>
              <a:t>अस्य ग्रन्थस्य काले (१६००-१६०० </a:t>
            </a:r>
            <a:r>
              <a:rPr lang="en-IN" sz="1600"/>
              <a:t>BC</a:t>
            </a:r>
            <a:r>
              <a:rPr lang="en-IN"/>
              <a:t>) ८ चतुष्टयाः अवर्तन्त। </a:t>
            </a:r>
          </a:p>
          <a:p>
            <a:pPr lvl="1"/>
            <a:r>
              <a:rPr lang="en-IN"/>
              <a:t>एतत् </a:t>
            </a:r>
            <a:r>
              <a:rPr lang="en-IN" sz="1800"/>
              <a:t>Five Millenium Catalogue </a:t>
            </a:r>
            <a:r>
              <a:rPr lang="en-IN"/>
              <a:t>तः ज्ञायते।</a:t>
            </a:r>
          </a:p>
          <a:p>
            <a:r>
              <a:rPr lang="en-IN"/>
              <a:t>अधिकतमाः ईदृशाः चतुष्टयाः ~१५०० शताब्दे अभवन्।</a:t>
            </a:r>
          </a:p>
        </p:txBody>
      </p:sp>
      <p:sp>
        <p:nvSpPr>
          <p:cNvPr id="4" name="Footer Placeholder 3">
            <a:extLst>
              <a:ext uri="{FF2B5EF4-FFF2-40B4-BE49-F238E27FC236}">
                <a16:creationId xmlns:a16="http://schemas.microsoft.com/office/drawing/2014/main" id="{BB3B7C75-E780-9F93-6D7C-28018855482C}"/>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F0560C75-8D1C-AE89-BCE4-8641C14899DB}"/>
              </a:ext>
            </a:extLst>
          </p:cNvPr>
          <p:cNvSpPr>
            <a:spLocks noGrp="1"/>
          </p:cNvSpPr>
          <p:nvPr>
            <p:ph type="sldNum" sz="quarter" idx="12"/>
          </p:nvPr>
        </p:nvSpPr>
        <p:spPr/>
        <p:txBody>
          <a:bodyPr/>
          <a:lstStyle/>
          <a:p>
            <a:fld id="{5AFE2CDC-18D4-4E7A-A4BC-D5EDA5D6481E}" type="slidenum">
              <a:rPr lang="en-IN" smtClean="0"/>
              <a:pPr/>
              <a:t>53</a:t>
            </a:fld>
            <a:endParaRPr lang="en-IN"/>
          </a:p>
        </p:txBody>
      </p:sp>
    </p:spTree>
    <p:extLst>
      <p:ext uri="{BB962C8B-B14F-4D97-AF65-F5344CB8AC3E}">
        <p14:creationId xmlns:p14="http://schemas.microsoft.com/office/powerpoint/2010/main" val="1147493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4A7E8-1664-972D-46F1-A1FAFAA17576}"/>
              </a:ext>
            </a:extLst>
          </p:cNvPr>
          <p:cNvSpPr>
            <a:spLocks noGrp="1"/>
          </p:cNvSpPr>
          <p:nvPr>
            <p:ph type="title"/>
          </p:nvPr>
        </p:nvSpPr>
        <p:spPr>
          <a:xfrm>
            <a:off x="0" y="98323"/>
            <a:ext cx="12192000" cy="4689988"/>
          </a:xfrm>
        </p:spPr>
        <p:txBody>
          <a:bodyPr>
            <a:normAutofit/>
          </a:bodyPr>
          <a:lstStyle/>
          <a:p>
            <a:r>
              <a:rPr lang="en-IN" sz="3325">
                <a:solidFill>
                  <a:srgbClr val="FFFF00"/>
                </a:solidFill>
              </a:rPr>
              <a:t>॥ ६२॥ </a:t>
            </a:r>
            <a:r>
              <a:rPr lang="en-IN" sz="3325"/>
              <a:t>केतवः तेषां च एकोत्तरं शतं परिसंख्यायते। तेषां च मृत्योः पुत्राः षड्विंशः श्वेतवर्णः चतुर्हस्ताः तेषां शिखाः पठ्यन्ते। षोडश अग्निपुत्रा रक्तवर्णाः त्रिहस्ताः तेषां शिखाः पठ्यन्ते। पञ्चविंशति सूर्यपुत्राः कञ्चनाभाः पञ्चहस्यताः तेषां शिखाः पठ्यन्ते। प्राङ्मुखा भूमिपुत्राः त्रयोदश पांसुवर्णाः। प्रजापत्याः सप्त महाशिखाः रक्तवर्णाः। चत्वारः ब्रह्मदण्डपुत्राः नानारूपवर्णाः संस्थानवैकृताः। सर्व एव बहुधाजाताः प्रजायाः विनाशकाले दर्शयन्ति इत्याह गर्गः॥</a:t>
            </a:r>
            <a:br>
              <a:rPr lang="en-IN" sz="3325"/>
            </a:br>
            <a:r>
              <a:rPr lang="en-IN" sz="3325">
                <a:solidFill>
                  <a:srgbClr val="FFFF00"/>
                </a:solidFill>
              </a:rPr>
              <a:t>॥ ६३॥ </a:t>
            </a:r>
            <a:r>
              <a:rPr lang="en-IN" sz="3325"/>
              <a:t>एते हि उदय-स्थान-धूपन-संस्पर्शैः नक्षत्राणि उपसृजन्ति। सर्व एव नैऋते सूर्यस्य अभितः चराः। न च एषाम् उदयास्तमनदर्शनानि इत्याह गर्गः॥ भागुरिस्त्वाह मत्तीति।  तत्वं नियतमेतेपि च मेरुं पर्यागच्छन्ति। सूर्यरश्मीन् वहमानाः सूर्यमुक्ताः दृश्यन्ते॥</a:t>
            </a:r>
          </a:p>
        </p:txBody>
      </p:sp>
      <p:sp>
        <p:nvSpPr>
          <p:cNvPr id="3" name="Slide Number Placeholder 2">
            <a:extLst>
              <a:ext uri="{FF2B5EF4-FFF2-40B4-BE49-F238E27FC236}">
                <a16:creationId xmlns:a16="http://schemas.microsoft.com/office/drawing/2014/main" id="{1B8A6863-53C8-A16F-B129-F1055BC2001A}"/>
              </a:ext>
            </a:extLst>
          </p:cNvPr>
          <p:cNvSpPr>
            <a:spLocks noGrp="1"/>
          </p:cNvSpPr>
          <p:nvPr>
            <p:ph type="sldNum" sz="quarter" idx="12"/>
          </p:nvPr>
        </p:nvSpPr>
        <p:spPr/>
        <p:txBody>
          <a:bodyPr/>
          <a:lstStyle/>
          <a:p>
            <a:fld id="{5AFE2CDC-18D4-4E7A-A4BC-D5EDA5D6481E}" type="slidenum">
              <a:rPr lang="en-IN" smtClean="0"/>
              <a:t>54</a:t>
            </a:fld>
            <a:endParaRPr lang="en-IN"/>
          </a:p>
        </p:txBody>
      </p:sp>
      <p:sp>
        <p:nvSpPr>
          <p:cNvPr id="4" name="Footer Placeholder 3">
            <a:extLst>
              <a:ext uri="{FF2B5EF4-FFF2-40B4-BE49-F238E27FC236}">
                <a16:creationId xmlns:a16="http://schemas.microsoft.com/office/drawing/2014/main" id="{63057305-593E-8A8B-3742-A30B778CB4CD}"/>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6468935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B1F64F-5697-7ABB-797A-8927C3DF9F67}"/>
              </a:ext>
            </a:extLst>
          </p:cNvPr>
          <p:cNvSpPr>
            <a:spLocks noGrp="1"/>
          </p:cNvSpPr>
          <p:nvPr>
            <p:ph idx="1"/>
          </p:nvPr>
        </p:nvSpPr>
        <p:spPr/>
        <p:txBody>
          <a:bodyPr>
            <a:normAutofit fontScale="92500" lnSpcReduction="20000"/>
          </a:bodyPr>
          <a:lstStyle/>
          <a:p>
            <a:r>
              <a:rPr lang="en-IN" sz="2400"/>
              <a:t>खगोलाग्निः इति केतुः।</a:t>
            </a:r>
          </a:p>
          <a:p>
            <a:r>
              <a:rPr lang="en-IN" sz="2400"/>
              <a:t>१०१ केतवः सन्ति।</a:t>
            </a:r>
          </a:p>
          <a:p>
            <a:pPr lvl="1"/>
            <a:r>
              <a:rPr lang="en-IN" sz="2200"/>
              <a:t>२६ मृत्युपुत्राः श्वेतवर्णाः। तेषां शिखाः ४ हस्ताः </a:t>
            </a:r>
            <a:r>
              <a:rPr lang="en-IN" sz="2200" i="1"/>
              <a:t>(cubits ~ 2°arc) </a:t>
            </a:r>
            <a:r>
              <a:rPr lang="en-IN" sz="2200"/>
              <a:t>सन्ति।</a:t>
            </a:r>
          </a:p>
          <a:p>
            <a:pPr lvl="1"/>
            <a:r>
              <a:rPr lang="en-IN" sz="2200"/>
              <a:t>१६ अग्निपुत्राः रक्तवर्णाः। तेषां शिखा ३ हर्ताः सन्ति।</a:t>
            </a:r>
          </a:p>
          <a:p>
            <a:pPr lvl="1"/>
            <a:r>
              <a:rPr lang="en-IN" sz="2200"/>
              <a:t>२५ सूर्यपुत्राः सुवर्णवर्णाः। तेषां शिखा ५ हर्ताः सन्ति।</a:t>
            </a:r>
          </a:p>
          <a:p>
            <a:pPr lvl="1"/>
            <a:r>
              <a:rPr lang="en-IN" sz="2200"/>
              <a:t>१३ भूमिपुत्राः धूम्रवर्णाः।</a:t>
            </a:r>
          </a:p>
          <a:p>
            <a:pPr lvl="1"/>
            <a:r>
              <a:rPr lang="en-IN" sz="2200"/>
              <a:t>७ प्रजापतेः पुत्राः महाशिखाः रक्तवर्णाः च।</a:t>
            </a:r>
          </a:p>
          <a:p>
            <a:pPr lvl="1"/>
            <a:r>
              <a:rPr lang="en-IN" sz="2200"/>
              <a:t>४ ब्रह्मदण्डस्य पुत्राः नानावर्णाः।</a:t>
            </a:r>
          </a:p>
          <a:p>
            <a:pPr lvl="1"/>
            <a:r>
              <a:rPr lang="en-IN" sz="1900" i="1"/>
              <a:t>अत्र ९१ एवं सन्ति। प्रायः एकंवाक्यं ग्रन्थे लुप्तम्।</a:t>
            </a:r>
          </a:p>
          <a:p>
            <a:r>
              <a:rPr lang="en-IN" sz="2400"/>
              <a:t>एते केतवः तेषां उदयस्थानेन धूपेन च नक्षत्राणि उपसृजन्ति।</a:t>
            </a:r>
          </a:p>
          <a:p>
            <a:r>
              <a:rPr lang="en-IN" sz="2400"/>
              <a:t>एते नैऋते (दक्षिणपश्चिमदिशायां) सूर्यस्य समीपे भवन्ति।</a:t>
            </a:r>
          </a:p>
          <a:p>
            <a:r>
              <a:rPr lang="en-IN" sz="2400"/>
              <a:t>तेषां उदयास्तमनं नास्ति इति गर्गः वदति। अस्ति इति भागुरिः वदति, ते अपि मेरुं परितः भ्रमन्ति इति।</a:t>
            </a:r>
          </a:p>
        </p:txBody>
      </p:sp>
      <p:sp>
        <p:nvSpPr>
          <p:cNvPr id="4" name="Footer Placeholder 3">
            <a:extLst>
              <a:ext uri="{FF2B5EF4-FFF2-40B4-BE49-F238E27FC236}">
                <a16:creationId xmlns:a16="http://schemas.microsoft.com/office/drawing/2014/main" id="{505F5240-4EAB-A8A9-B60E-E2A168741FEE}"/>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1C36FAA7-68E9-43CB-B0EA-9B9E77B0170B}"/>
              </a:ext>
            </a:extLst>
          </p:cNvPr>
          <p:cNvSpPr>
            <a:spLocks noGrp="1"/>
          </p:cNvSpPr>
          <p:nvPr>
            <p:ph type="sldNum" sz="quarter" idx="12"/>
          </p:nvPr>
        </p:nvSpPr>
        <p:spPr/>
        <p:txBody>
          <a:bodyPr/>
          <a:lstStyle/>
          <a:p>
            <a:fld id="{5AFE2CDC-18D4-4E7A-A4BC-D5EDA5D6481E}" type="slidenum">
              <a:rPr lang="en-IN" smtClean="0"/>
              <a:pPr/>
              <a:t>55</a:t>
            </a:fld>
            <a:endParaRPr lang="en-IN"/>
          </a:p>
        </p:txBody>
      </p:sp>
    </p:spTree>
    <p:extLst>
      <p:ext uri="{BB962C8B-B14F-4D97-AF65-F5344CB8AC3E}">
        <p14:creationId xmlns:p14="http://schemas.microsoft.com/office/powerpoint/2010/main" val="6820923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DE7488-ACF1-2352-2815-6F7EBB4A5D4C}"/>
              </a:ext>
            </a:extLst>
          </p:cNvPr>
          <p:cNvSpPr>
            <a:spLocks noGrp="1"/>
          </p:cNvSpPr>
          <p:nvPr>
            <p:ph idx="1"/>
          </p:nvPr>
        </p:nvSpPr>
        <p:spPr/>
        <p:txBody>
          <a:bodyPr>
            <a:normAutofit/>
          </a:bodyPr>
          <a:lstStyle/>
          <a:p>
            <a:r>
              <a:rPr lang="en-IN"/>
              <a:t> वेदे १०१ केतवः उल्लेखाः इति अस्मिन् ग्रन्थे उक्तम्। केचन </a:t>
            </a:r>
            <a:r>
              <a:rPr lang="en-IN" sz="1800"/>
              <a:t>comets</a:t>
            </a:r>
            <a:r>
              <a:rPr lang="en-IN"/>
              <a:t> सन्ति। </a:t>
            </a:r>
          </a:p>
          <a:p>
            <a:pPr lvl="1"/>
            <a:r>
              <a:rPr lang="en-IN"/>
              <a:t>धूमकेतुः इति शब्दं ७ वारं ऋग्वेदे अस्ति।</a:t>
            </a:r>
          </a:p>
          <a:p>
            <a:pPr lvl="1"/>
            <a:r>
              <a:rPr lang="en-IN"/>
              <a:t>केतुः इति शब्दं ७० वारं यजुर्वेदे अस्ति।</a:t>
            </a:r>
          </a:p>
          <a:p>
            <a:pPr lvl="1"/>
            <a:r>
              <a:rPr lang="en-IN"/>
              <a:t>केचन ऋक्देवताः प्रायः केतवः।</a:t>
            </a:r>
          </a:p>
          <a:p>
            <a:r>
              <a:rPr lang="en-IN"/>
              <a:t>वैदिकदेवताः अरुण-अग्निकेतु-आङ्गीरस-धूमकेतु-क-कबन्ध-त्वष्टा-त्रिशिखा-त्रिशिरस्‌-विभावसु-विश्वरूपा-श्वेतकेतु अस्मिन् ग्रन्थे पराशरतन्त्रे च प्रायः केतवः सन्ति।</a:t>
            </a:r>
          </a:p>
        </p:txBody>
      </p:sp>
      <p:sp>
        <p:nvSpPr>
          <p:cNvPr id="4" name="Footer Placeholder 3">
            <a:extLst>
              <a:ext uri="{FF2B5EF4-FFF2-40B4-BE49-F238E27FC236}">
                <a16:creationId xmlns:a16="http://schemas.microsoft.com/office/drawing/2014/main" id="{CB15FC04-19B8-25BC-036A-DE3FE0542F33}"/>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DD27F9B5-7F8B-A3DA-0F4B-03973120160E}"/>
              </a:ext>
            </a:extLst>
          </p:cNvPr>
          <p:cNvSpPr>
            <a:spLocks noGrp="1"/>
          </p:cNvSpPr>
          <p:nvPr>
            <p:ph type="sldNum" sz="quarter" idx="12"/>
          </p:nvPr>
        </p:nvSpPr>
        <p:spPr/>
        <p:txBody>
          <a:bodyPr/>
          <a:lstStyle/>
          <a:p>
            <a:fld id="{5AFE2CDC-18D4-4E7A-A4BC-D5EDA5D6481E}" type="slidenum">
              <a:rPr lang="en-IN" smtClean="0"/>
              <a:pPr/>
              <a:t>56</a:t>
            </a:fld>
            <a:endParaRPr lang="en-IN"/>
          </a:p>
        </p:txBody>
      </p:sp>
    </p:spTree>
    <p:extLst>
      <p:ext uri="{BB962C8B-B14F-4D97-AF65-F5344CB8AC3E}">
        <p14:creationId xmlns:p14="http://schemas.microsoft.com/office/powerpoint/2010/main" val="25887121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DCC25-1D6B-7E60-AEDB-D112949DBAE0}"/>
              </a:ext>
            </a:extLst>
          </p:cNvPr>
          <p:cNvSpPr>
            <a:spLocks noGrp="1"/>
          </p:cNvSpPr>
          <p:nvPr>
            <p:ph type="title"/>
          </p:nvPr>
        </p:nvSpPr>
        <p:spPr/>
        <p:txBody>
          <a:bodyPr>
            <a:normAutofit fontScale="90000"/>
          </a:bodyPr>
          <a:lstStyle/>
          <a:p>
            <a:r>
              <a:rPr lang="en-IN">
                <a:solidFill>
                  <a:srgbClr val="FFFF00"/>
                </a:solidFill>
              </a:rPr>
              <a:t>॥ ६४॥ </a:t>
            </a:r>
            <a:r>
              <a:rPr lang="en-IN"/>
              <a:t>नभसि मेरुपरिमाणात् च ऊर्ध्वाधः पञ्चाशद्योजना सूर्यगतिः। सूर्यगत्या च एकपञ्चाशतं सौराङ्गारकबुधकेतवः। ततः चतुःषष्टिभिरूर्ध्वं चन्द्रमा नभसोह्यधः। तस्यापि च परेण पञ्च पञ्चाशतिभिः शुक्रबृहस्पत्योः गतिः। ततः चतुःषष्टिभिः योजनैः ध्रुवं पूर्वं ज्योतिषाम् उपरि प्रतिष्ठितम्। एवं सति नक्षत्रतारागणा यथा सारं स्वैः स्वैः विमानैः पर्यागच्छन्ति वायुवशात् मेरुध्रुवं ज्योतिषाम् अल्पम् अनल्पार्थम्॥</a:t>
            </a:r>
          </a:p>
        </p:txBody>
      </p:sp>
      <p:sp>
        <p:nvSpPr>
          <p:cNvPr id="3" name="Slide Number Placeholder 2">
            <a:extLst>
              <a:ext uri="{FF2B5EF4-FFF2-40B4-BE49-F238E27FC236}">
                <a16:creationId xmlns:a16="http://schemas.microsoft.com/office/drawing/2014/main" id="{5F860634-CF2F-8B5B-7A5C-C474961A07FD}"/>
              </a:ext>
            </a:extLst>
          </p:cNvPr>
          <p:cNvSpPr>
            <a:spLocks noGrp="1"/>
          </p:cNvSpPr>
          <p:nvPr>
            <p:ph type="sldNum" sz="quarter" idx="12"/>
          </p:nvPr>
        </p:nvSpPr>
        <p:spPr/>
        <p:txBody>
          <a:bodyPr/>
          <a:lstStyle/>
          <a:p>
            <a:fld id="{5AFE2CDC-18D4-4E7A-A4BC-D5EDA5D6481E}" type="slidenum">
              <a:rPr lang="en-IN" smtClean="0"/>
              <a:t>57</a:t>
            </a:fld>
            <a:endParaRPr lang="en-IN"/>
          </a:p>
        </p:txBody>
      </p:sp>
      <p:sp>
        <p:nvSpPr>
          <p:cNvPr id="4" name="Footer Placeholder 3">
            <a:extLst>
              <a:ext uri="{FF2B5EF4-FFF2-40B4-BE49-F238E27FC236}">
                <a16:creationId xmlns:a16="http://schemas.microsoft.com/office/drawing/2014/main" id="{6E9B0DE3-E2BA-7945-8EC5-154100A4B763}"/>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0086535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DA2F5E-3B38-7455-6E31-2BB6162D7018}"/>
              </a:ext>
            </a:extLst>
          </p:cNvPr>
          <p:cNvSpPr>
            <a:spLocks noGrp="1"/>
          </p:cNvSpPr>
          <p:nvPr>
            <p:ph idx="1"/>
          </p:nvPr>
        </p:nvSpPr>
        <p:spPr/>
        <p:txBody>
          <a:bodyPr/>
          <a:lstStyle/>
          <a:p>
            <a:r>
              <a:rPr lang="en-IN"/>
              <a:t>सूर्यः नभसि मेरोः ५० योजने अस्ति। </a:t>
            </a:r>
          </a:p>
          <a:p>
            <a:r>
              <a:rPr lang="en-IN"/>
              <a:t>सूर्यात् शनैश्चरः अङ्गारकः बुधः केतवः च ५१ योजने सन्ति।</a:t>
            </a:r>
          </a:p>
          <a:p>
            <a:r>
              <a:rPr lang="en-IN"/>
              <a:t>चन्द्रः सूर्यात् ६४ योजने अधः अस्ति।</a:t>
            </a:r>
          </a:p>
          <a:p>
            <a:r>
              <a:rPr lang="en-IN"/>
              <a:t>चन्द्रात् ५५ योजने शुक्रः बृहस्पतिः च स्तः।</a:t>
            </a:r>
          </a:p>
          <a:p>
            <a:r>
              <a:rPr lang="en-IN"/>
              <a:t>तस्मात् ६४ योजने ध्रुवः अस्ति।</a:t>
            </a:r>
          </a:p>
          <a:p>
            <a:r>
              <a:rPr lang="en-IN"/>
              <a:t>नक्षत्राणि च तेषां मण्डले मेरुध्रुवं भ्रमन्ति।</a:t>
            </a:r>
          </a:p>
          <a:p>
            <a:r>
              <a:rPr lang="en-IN" sz="1800" i="1"/>
              <a:t>* एतानि मानानि मेरुध्रुवाधारेण सन्ति। जन्बुद्वीपे हेमन्तविषुवद्दिने सूर्यः अधः चन्द्रः उत्तरे स्तः इति भासते। ग्रीष्मे च सूर्यः उत्तरे दृष्यते।</a:t>
            </a:r>
          </a:p>
        </p:txBody>
      </p:sp>
      <p:sp>
        <p:nvSpPr>
          <p:cNvPr id="4" name="Footer Placeholder 3">
            <a:extLst>
              <a:ext uri="{FF2B5EF4-FFF2-40B4-BE49-F238E27FC236}">
                <a16:creationId xmlns:a16="http://schemas.microsoft.com/office/drawing/2014/main" id="{02CD1969-33EB-5ED2-D5F6-FF45F4C171EB}"/>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0F693AFF-9AAD-E067-4EA8-8E426E8614CB}"/>
              </a:ext>
            </a:extLst>
          </p:cNvPr>
          <p:cNvSpPr>
            <a:spLocks noGrp="1"/>
          </p:cNvSpPr>
          <p:nvPr>
            <p:ph type="sldNum" sz="quarter" idx="12"/>
          </p:nvPr>
        </p:nvSpPr>
        <p:spPr/>
        <p:txBody>
          <a:bodyPr/>
          <a:lstStyle/>
          <a:p>
            <a:fld id="{5AFE2CDC-18D4-4E7A-A4BC-D5EDA5D6481E}" type="slidenum">
              <a:rPr lang="en-IN" smtClean="0"/>
              <a:pPr/>
              <a:t>58</a:t>
            </a:fld>
            <a:endParaRPr lang="en-IN"/>
          </a:p>
        </p:txBody>
      </p:sp>
    </p:spTree>
    <p:extLst>
      <p:ext uri="{BB962C8B-B14F-4D97-AF65-F5344CB8AC3E}">
        <p14:creationId xmlns:p14="http://schemas.microsoft.com/office/powerpoint/2010/main" val="10819253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DA788-DF1D-584E-5E39-D8E6A4D2367B}"/>
              </a:ext>
            </a:extLst>
          </p:cNvPr>
          <p:cNvSpPr>
            <a:spLocks noGrp="1"/>
          </p:cNvSpPr>
          <p:nvPr>
            <p:ph type="title"/>
          </p:nvPr>
        </p:nvSpPr>
        <p:spPr>
          <a:xfrm>
            <a:off x="0" y="753533"/>
            <a:ext cx="12192000" cy="3641486"/>
          </a:xfrm>
        </p:spPr>
        <p:txBody>
          <a:bodyPr>
            <a:normAutofit fontScale="90000"/>
          </a:bodyPr>
          <a:lstStyle/>
          <a:p>
            <a:r>
              <a:rPr lang="en-IN">
                <a:solidFill>
                  <a:srgbClr val="FFFF00"/>
                </a:solidFill>
              </a:rPr>
              <a:t>॥ ६५॥ </a:t>
            </a:r>
            <a:r>
              <a:rPr lang="en-IN"/>
              <a:t>या च एषा त्रिंशदगस्त्यसप्तर्षिप्रभृतयः, सर्वा एव च ताराः, एतानि सुकृतिनां स्थानानि। स्वमण्डलगुणपरिभोगः तेषां द्योतते य एषा तारा च लक्ष्यते। यथा मण्डलपरिग्रहगुणत्वाच्च ज्योतिषाम् उच्चनीचत्वाच्च अनुबृहन्मध्यमानि तारकप्रमाणानि लक्ष्यन्ते। परिग्रहगुणाच्च यस्य आयतं तावन्मण्डलपरिग्रहः॥</a:t>
            </a:r>
            <a:br>
              <a:rPr lang="en-IN"/>
            </a:br>
            <a:r>
              <a:rPr lang="en-IN">
                <a:solidFill>
                  <a:srgbClr val="FFFF00"/>
                </a:solidFill>
              </a:rPr>
              <a:t>॥ ६६॥</a:t>
            </a:r>
            <a:r>
              <a:rPr lang="en-IN"/>
              <a:t>  यथा प्रधानाश्च ज्योतिषां प्रमाणानि वक्ष्यामः। दशयोजनविष्कंभः शुक्रो, नवयोजनो बृहस्पतिः। अष्टयोजनकः अङ्गारकः। सप्तयोजनविष्कंभः शनैश्चरः। बुधः पञ्चयोजनकः॥</a:t>
            </a:r>
          </a:p>
        </p:txBody>
      </p:sp>
      <p:sp>
        <p:nvSpPr>
          <p:cNvPr id="3" name="Slide Number Placeholder 2">
            <a:extLst>
              <a:ext uri="{FF2B5EF4-FFF2-40B4-BE49-F238E27FC236}">
                <a16:creationId xmlns:a16="http://schemas.microsoft.com/office/drawing/2014/main" id="{7E2E438A-DCBD-1D57-0EEE-86497FDC974D}"/>
              </a:ext>
            </a:extLst>
          </p:cNvPr>
          <p:cNvSpPr>
            <a:spLocks noGrp="1"/>
          </p:cNvSpPr>
          <p:nvPr>
            <p:ph type="sldNum" sz="quarter" idx="12"/>
          </p:nvPr>
        </p:nvSpPr>
        <p:spPr/>
        <p:txBody>
          <a:bodyPr/>
          <a:lstStyle/>
          <a:p>
            <a:fld id="{5AFE2CDC-18D4-4E7A-A4BC-D5EDA5D6481E}" type="slidenum">
              <a:rPr lang="en-IN" smtClean="0"/>
              <a:t>59</a:t>
            </a:fld>
            <a:endParaRPr lang="en-IN"/>
          </a:p>
        </p:txBody>
      </p:sp>
      <p:sp>
        <p:nvSpPr>
          <p:cNvPr id="4" name="Footer Placeholder 3">
            <a:extLst>
              <a:ext uri="{FF2B5EF4-FFF2-40B4-BE49-F238E27FC236}">
                <a16:creationId xmlns:a16="http://schemas.microsoft.com/office/drawing/2014/main" id="{FECEC0C9-910C-53C8-7507-140B49F644C9}"/>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41044608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C52664-07E4-308A-BEE4-EE32D5918F4C}"/>
              </a:ext>
            </a:extLst>
          </p:cNvPr>
          <p:cNvSpPr>
            <a:spLocks noGrp="1"/>
          </p:cNvSpPr>
          <p:nvPr>
            <p:ph idx="1"/>
          </p:nvPr>
        </p:nvSpPr>
        <p:spPr/>
        <p:txBody>
          <a:bodyPr/>
          <a:lstStyle/>
          <a:p>
            <a:r>
              <a:rPr lang="en-IN"/>
              <a:t>२८ नक्षत्राणि (२७+अभिजित्), अगस्त्य, सप्तर्षयः च सन्ति।</a:t>
            </a:r>
          </a:p>
          <a:p>
            <a:r>
              <a:rPr lang="en-IN"/>
              <a:t>स्वमण्डलानुसारेण ते प्रकाशन्ते।</a:t>
            </a:r>
          </a:p>
          <a:p>
            <a:r>
              <a:rPr lang="en-IN"/>
              <a:t>स्वमण्डलेण ग्रहाणां उच्चनीचस्थानेन च ताराणां प्रमाणं भवति। जनानां स्थानेन अपि ताराः लक्ष्यन्ते।</a:t>
            </a:r>
          </a:p>
          <a:p>
            <a:endParaRPr lang="en-IN"/>
          </a:p>
          <a:p>
            <a:r>
              <a:rPr lang="en-IN"/>
              <a:t>ग्रहाणां विष्कम्भः </a:t>
            </a:r>
            <a:r>
              <a:rPr lang="en-IN" sz="1400" i="1"/>
              <a:t>(diameter of the visible circular figure)</a:t>
            </a:r>
            <a:r>
              <a:rPr lang="en-IN"/>
              <a:t> – </a:t>
            </a:r>
          </a:p>
          <a:p>
            <a:pPr lvl="1"/>
            <a:r>
              <a:rPr lang="en-IN"/>
              <a:t>शुक्रस्य १० योजनानि।</a:t>
            </a:r>
          </a:p>
          <a:p>
            <a:pPr lvl="1"/>
            <a:r>
              <a:rPr lang="en-IN"/>
              <a:t>बृहस्पतेः ९ योजनानि ।</a:t>
            </a:r>
          </a:p>
          <a:p>
            <a:pPr lvl="1"/>
            <a:r>
              <a:rPr lang="en-IN"/>
              <a:t>अङ्गारकस्य ८ योजनानि ।</a:t>
            </a:r>
          </a:p>
          <a:p>
            <a:pPr lvl="1"/>
            <a:r>
              <a:rPr lang="en-IN"/>
              <a:t>शनैश्चरस्य ७ योजनानि ।</a:t>
            </a:r>
          </a:p>
          <a:p>
            <a:pPr lvl="1"/>
            <a:r>
              <a:rPr lang="en-IN"/>
              <a:t>बुधस्य ५ योजनानि।</a:t>
            </a:r>
          </a:p>
        </p:txBody>
      </p:sp>
      <p:sp>
        <p:nvSpPr>
          <p:cNvPr id="4" name="Footer Placeholder 3">
            <a:extLst>
              <a:ext uri="{FF2B5EF4-FFF2-40B4-BE49-F238E27FC236}">
                <a16:creationId xmlns:a16="http://schemas.microsoft.com/office/drawing/2014/main" id="{18A9DF3F-2D2E-06AA-553A-BC93B199A131}"/>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57D27B56-B5ED-ECE1-AA2E-C63491C195F4}"/>
              </a:ext>
            </a:extLst>
          </p:cNvPr>
          <p:cNvSpPr>
            <a:spLocks noGrp="1"/>
          </p:cNvSpPr>
          <p:nvPr>
            <p:ph type="sldNum" sz="quarter" idx="12"/>
          </p:nvPr>
        </p:nvSpPr>
        <p:spPr/>
        <p:txBody>
          <a:bodyPr/>
          <a:lstStyle/>
          <a:p>
            <a:fld id="{5AFE2CDC-18D4-4E7A-A4BC-D5EDA5D6481E}" type="slidenum">
              <a:rPr lang="en-IN" smtClean="0"/>
              <a:pPr/>
              <a:t>60</a:t>
            </a:fld>
            <a:endParaRPr lang="en-IN"/>
          </a:p>
        </p:txBody>
      </p:sp>
    </p:spTree>
    <p:extLst>
      <p:ext uri="{BB962C8B-B14F-4D97-AF65-F5344CB8AC3E}">
        <p14:creationId xmlns:p14="http://schemas.microsoft.com/office/powerpoint/2010/main" val="16204281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25733-0C8A-55CD-8611-FC738C85E9FD}"/>
              </a:ext>
            </a:extLst>
          </p:cNvPr>
          <p:cNvSpPr>
            <a:spLocks noGrp="1"/>
          </p:cNvSpPr>
          <p:nvPr>
            <p:ph type="title"/>
          </p:nvPr>
        </p:nvSpPr>
        <p:spPr>
          <a:xfrm>
            <a:off x="0" y="606049"/>
            <a:ext cx="12192000" cy="4123267"/>
          </a:xfrm>
        </p:spPr>
        <p:txBody>
          <a:bodyPr>
            <a:normAutofit fontScale="90000"/>
          </a:bodyPr>
          <a:lstStyle/>
          <a:p>
            <a:r>
              <a:rPr lang="en-IN">
                <a:solidFill>
                  <a:srgbClr val="FFFF00"/>
                </a:solidFill>
              </a:rPr>
              <a:t>॥ ६७॥ </a:t>
            </a:r>
            <a:r>
              <a:rPr lang="en-IN"/>
              <a:t>कृत्तिका-स्वाति-श्रवण-अभिजित्‌-वारुण-अगस्त्याः षड्योजनाः। सप्तयोजनाः सप्तर्षयः। रोहिणी-पुनर्वसु-त्वाष्ट्र-श्रविष्ठा-ज्येष्ठा-अहिर्बुध्न्य-ताराः पञ्चयोजनाः। शेषा नक्षत्रताराः चतुर्योजनाः। असङ्ख्याताः ताराः अन्याः। तासां तु काश्चित् अर्धयोजनविस्तीर्णविष्कंभाः। काश्चित् क्रोशद्विक्रोश संचिताः। यासां तु अल्पो मण्डलपरिग्रहः ताः न दृश्यन्ते। न च तासां परिसंख्यानमस्ति॥</a:t>
            </a:r>
            <a:br>
              <a:rPr lang="en-IN"/>
            </a:br>
            <a:r>
              <a:rPr lang="en-IN">
                <a:solidFill>
                  <a:srgbClr val="FFFF00"/>
                </a:solidFill>
              </a:rPr>
              <a:t>॥ ६८॥ </a:t>
            </a:r>
            <a:r>
              <a:rPr lang="en-IN"/>
              <a:t>अवपततीनां च आरोहतीनां चक्रवत्वात् पुण्यक्षयात् हि ताराणाम् अनुपतनम्। आरोहणं सुकृतत्वात्। न हि ताराणाम् अन्तोस्ति पततीनाम् आरोहतीनां वा। तस्मान्न तासां परिसंख्यानमस्ति॥</a:t>
            </a:r>
          </a:p>
        </p:txBody>
      </p:sp>
      <p:sp>
        <p:nvSpPr>
          <p:cNvPr id="3" name="Slide Number Placeholder 2">
            <a:extLst>
              <a:ext uri="{FF2B5EF4-FFF2-40B4-BE49-F238E27FC236}">
                <a16:creationId xmlns:a16="http://schemas.microsoft.com/office/drawing/2014/main" id="{95F324C9-5F5F-D163-D43F-F1C03912AE79}"/>
              </a:ext>
            </a:extLst>
          </p:cNvPr>
          <p:cNvSpPr>
            <a:spLocks noGrp="1"/>
          </p:cNvSpPr>
          <p:nvPr>
            <p:ph type="sldNum" sz="quarter" idx="12"/>
          </p:nvPr>
        </p:nvSpPr>
        <p:spPr/>
        <p:txBody>
          <a:bodyPr/>
          <a:lstStyle/>
          <a:p>
            <a:fld id="{5AFE2CDC-18D4-4E7A-A4BC-D5EDA5D6481E}" type="slidenum">
              <a:rPr lang="en-IN" smtClean="0"/>
              <a:t>61</a:t>
            </a:fld>
            <a:endParaRPr lang="en-IN"/>
          </a:p>
        </p:txBody>
      </p:sp>
      <p:sp>
        <p:nvSpPr>
          <p:cNvPr id="4" name="Footer Placeholder 3">
            <a:extLst>
              <a:ext uri="{FF2B5EF4-FFF2-40B4-BE49-F238E27FC236}">
                <a16:creationId xmlns:a16="http://schemas.microsoft.com/office/drawing/2014/main" id="{29320C51-7851-7EAC-B5DB-E99375490E25}"/>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42186932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BEDAC-6C8F-126B-5D00-EDE1664B4815}"/>
              </a:ext>
            </a:extLst>
          </p:cNvPr>
          <p:cNvSpPr>
            <a:spLocks noGrp="1"/>
          </p:cNvSpPr>
          <p:nvPr>
            <p:ph idx="1"/>
          </p:nvPr>
        </p:nvSpPr>
        <p:spPr/>
        <p:txBody>
          <a:bodyPr>
            <a:normAutofit/>
          </a:bodyPr>
          <a:lstStyle/>
          <a:p>
            <a:r>
              <a:rPr lang="en-IN"/>
              <a:t>ताराणां मानानि – </a:t>
            </a:r>
          </a:p>
          <a:p>
            <a:pPr lvl="1"/>
            <a:r>
              <a:rPr lang="en-IN"/>
              <a:t>कृत्तिका-स्वाति-श्रवण-अभिजित्‌-शतभिषक्‌-अगस्त्यानां ६ योजनानि। </a:t>
            </a:r>
            <a:r>
              <a:rPr lang="en-IN" sz="1800" i="1"/>
              <a:t>(१ योजन = </a:t>
            </a:r>
            <a:r>
              <a:rPr lang="en-IN" sz="1500" i="1"/>
              <a:t>5-10 km</a:t>
            </a:r>
            <a:r>
              <a:rPr lang="en-IN" sz="1800" i="1"/>
              <a:t>)</a:t>
            </a:r>
          </a:p>
          <a:p>
            <a:pPr lvl="1"/>
            <a:r>
              <a:rPr lang="en-IN"/>
              <a:t>सप्तर्षयानां ७ योजनानि।</a:t>
            </a:r>
          </a:p>
          <a:p>
            <a:pPr lvl="1"/>
            <a:r>
              <a:rPr lang="en-IN"/>
              <a:t>रोहिणी-पुनर्वसु-चित्रा-श्रविष्ठा-ज्येष्ठा-उत्तराभाद्राणां ५ योजनानि।</a:t>
            </a:r>
          </a:p>
          <a:p>
            <a:pPr lvl="1"/>
            <a:r>
              <a:rPr lang="en-IN"/>
              <a:t>अन्यनक्षत्राणां </a:t>
            </a:r>
            <a:r>
              <a:rPr lang="en-IN" sz="1800"/>
              <a:t>(अश्विनी-भरणी-मृगशीर्षा-आर्द्रा-पुष्य-आश्लेषा-मघा-पूर्वफाल्गुणी-उत्तरफाल्गुणी-हस्त-विशाखा-अनुराधा-मूला-पूर्वाषाढा-उत्तराषाढा-पूर्वभाद्र-रेवतीनां)</a:t>
            </a:r>
            <a:r>
              <a:rPr lang="en-IN"/>
              <a:t> ४ योजनानि।</a:t>
            </a:r>
          </a:p>
          <a:p>
            <a:r>
              <a:rPr lang="en-IN"/>
              <a:t>अन्याः ताराः असङ्ख्याकाः। </a:t>
            </a:r>
          </a:p>
          <a:p>
            <a:r>
              <a:rPr lang="en-IN"/>
              <a:t>काश्चन एकयोजनविस्तीर्णाः। काश्चन एकद्विक्रोशाः एवम्। बहवः न दृष्यन्ते। </a:t>
            </a:r>
            <a:r>
              <a:rPr lang="en-IN" sz="1800" i="1"/>
              <a:t>(क्रोशः = यावत् दूरम् उच्चः आक्रोशः श्रूयते)</a:t>
            </a:r>
          </a:p>
          <a:p>
            <a:r>
              <a:rPr lang="en-IN"/>
              <a:t>ताराणां आरोहणं पतनं च तेषां चक्रमण्डलेन पुण्यपापैः भवति।</a:t>
            </a:r>
          </a:p>
          <a:p>
            <a:r>
              <a:rPr lang="en-IN"/>
              <a:t>ताराणां अन्तः नास्ति। ते असङ्ख्याकाः।</a:t>
            </a:r>
          </a:p>
        </p:txBody>
      </p:sp>
      <p:sp>
        <p:nvSpPr>
          <p:cNvPr id="4" name="Footer Placeholder 3">
            <a:extLst>
              <a:ext uri="{FF2B5EF4-FFF2-40B4-BE49-F238E27FC236}">
                <a16:creationId xmlns:a16="http://schemas.microsoft.com/office/drawing/2014/main" id="{020DFE0A-AA44-D044-2592-FA009D7EFA59}"/>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8E3CDB94-C805-B571-6778-62A58023CECC}"/>
              </a:ext>
            </a:extLst>
          </p:cNvPr>
          <p:cNvSpPr>
            <a:spLocks noGrp="1"/>
          </p:cNvSpPr>
          <p:nvPr>
            <p:ph type="sldNum" sz="quarter" idx="12"/>
          </p:nvPr>
        </p:nvSpPr>
        <p:spPr/>
        <p:txBody>
          <a:bodyPr/>
          <a:lstStyle/>
          <a:p>
            <a:fld id="{5AFE2CDC-18D4-4E7A-A4BC-D5EDA5D6481E}" type="slidenum">
              <a:rPr lang="en-IN" smtClean="0"/>
              <a:pPr/>
              <a:t>62</a:t>
            </a:fld>
            <a:endParaRPr lang="en-IN"/>
          </a:p>
        </p:txBody>
      </p:sp>
    </p:spTree>
    <p:extLst>
      <p:ext uri="{BB962C8B-B14F-4D97-AF65-F5344CB8AC3E}">
        <p14:creationId xmlns:p14="http://schemas.microsoft.com/office/powerpoint/2010/main" val="36048413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F4909-17D5-9061-7656-5CE0B32127D5}"/>
              </a:ext>
            </a:extLst>
          </p:cNvPr>
          <p:cNvSpPr>
            <a:spLocks noGrp="1"/>
          </p:cNvSpPr>
          <p:nvPr>
            <p:ph type="title"/>
          </p:nvPr>
        </p:nvSpPr>
        <p:spPr>
          <a:xfrm>
            <a:off x="0" y="753533"/>
            <a:ext cx="12192000" cy="3159706"/>
          </a:xfrm>
        </p:spPr>
        <p:txBody>
          <a:bodyPr>
            <a:normAutofit fontScale="90000"/>
          </a:bodyPr>
          <a:lstStyle/>
          <a:p>
            <a:r>
              <a:rPr lang="en-IN">
                <a:solidFill>
                  <a:srgbClr val="FFFF00"/>
                </a:solidFill>
              </a:rPr>
              <a:t>॥ ६९॥ </a:t>
            </a:r>
            <a:r>
              <a:rPr lang="en-IN"/>
              <a:t>केतवस्तु अप्रमेयाः प्रमाणतः। शिखा हि तेषां प्राधान्यम्। राहोः वक्त्रसङ्घातः सोमस्य प्रमाणाः। स तु तमसान्वितं न द्योतते॥</a:t>
            </a:r>
            <a:br>
              <a:rPr lang="en-IN"/>
            </a:br>
            <a:r>
              <a:rPr lang="en-IN">
                <a:solidFill>
                  <a:srgbClr val="FFFF00"/>
                </a:solidFill>
              </a:rPr>
              <a:t>॥ ७०॥ </a:t>
            </a:r>
            <a:r>
              <a:rPr lang="en-IN"/>
              <a:t>सर्व एव ज्योतिर्गणाःअजस्रं परिवर्तन्ते चक्रवत् प्रदक्षिणम्। दिनवान् अर्कतेजसा न दृश्यते। गत्यन्तरविशेषात् तु सर्वज्योतींषि आदित्यं प्रविशन्ति। भास्करसन्निकृष्टानि च भानुप्रभातिप्रच्छादितानि दृश्यन्ते। विमुक्तानि च आदित्यप्रभाभिः उदितानि इति अभिधीयन्ते॥</a:t>
            </a:r>
          </a:p>
        </p:txBody>
      </p:sp>
      <p:sp>
        <p:nvSpPr>
          <p:cNvPr id="3" name="Slide Number Placeholder 2">
            <a:extLst>
              <a:ext uri="{FF2B5EF4-FFF2-40B4-BE49-F238E27FC236}">
                <a16:creationId xmlns:a16="http://schemas.microsoft.com/office/drawing/2014/main" id="{77CF9E5D-FA5F-BA54-E359-59006A26C2D9}"/>
              </a:ext>
            </a:extLst>
          </p:cNvPr>
          <p:cNvSpPr>
            <a:spLocks noGrp="1"/>
          </p:cNvSpPr>
          <p:nvPr>
            <p:ph type="sldNum" sz="quarter" idx="12"/>
          </p:nvPr>
        </p:nvSpPr>
        <p:spPr/>
        <p:txBody>
          <a:bodyPr/>
          <a:lstStyle/>
          <a:p>
            <a:fld id="{5AFE2CDC-18D4-4E7A-A4BC-D5EDA5D6481E}" type="slidenum">
              <a:rPr lang="en-IN" smtClean="0"/>
              <a:t>63</a:t>
            </a:fld>
            <a:endParaRPr lang="en-IN"/>
          </a:p>
        </p:txBody>
      </p:sp>
      <p:sp>
        <p:nvSpPr>
          <p:cNvPr id="4" name="Footer Placeholder 3">
            <a:extLst>
              <a:ext uri="{FF2B5EF4-FFF2-40B4-BE49-F238E27FC236}">
                <a16:creationId xmlns:a16="http://schemas.microsoft.com/office/drawing/2014/main" id="{2B3BD448-6D23-8788-6CE8-2CBC72B75477}"/>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166666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A0793-2B8E-93CB-4C3C-44453DD877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AF0463A-CF75-1F7F-C446-C1EE23E867CA}"/>
              </a:ext>
            </a:extLst>
          </p:cNvPr>
          <p:cNvSpPr>
            <a:spLocks noGrp="1"/>
          </p:cNvSpPr>
          <p:nvPr>
            <p:ph idx="1"/>
          </p:nvPr>
        </p:nvSpPr>
        <p:spPr/>
        <p:txBody>
          <a:bodyPr/>
          <a:lstStyle/>
          <a:p>
            <a:r>
              <a:rPr lang="en-IN"/>
              <a:t>केतवः तेषां शिखया लक्ष्यन्ते न तु मानेन।</a:t>
            </a:r>
          </a:p>
          <a:p>
            <a:r>
              <a:rPr lang="en-IN"/>
              <a:t>राहोः प्रमाणं चन्द्रेण सह मेलनेन ज्ञायते। स्वयमेव न दृष्यते।</a:t>
            </a:r>
          </a:p>
          <a:p>
            <a:r>
              <a:rPr lang="en-IN"/>
              <a:t>अन्यसर्वाणि ज्योतींषि चक्रवत् प्रदक्षिणं परिभ्रमन्ते।</a:t>
            </a:r>
          </a:p>
          <a:p>
            <a:r>
              <a:rPr lang="en-IN"/>
              <a:t>दिने सूर्यस्य प्रकाशात् तानि ज्योतींषि न दृष्यन्ते।</a:t>
            </a:r>
          </a:p>
          <a:p>
            <a:r>
              <a:rPr lang="en-IN"/>
              <a:t>प्रातस्सन्ध्याकाले ये सूर्यस्य बहु समीपे सन्ति तानि न दृश्यन्ते। ये दूरे सन्ति तानि उदयमाणानि एव दृश्यन्ते।</a:t>
            </a:r>
          </a:p>
        </p:txBody>
      </p:sp>
      <p:sp>
        <p:nvSpPr>
          <p:cNvPr id="4" name="Footer Placeholder 3">
            <a:extLst>
              <a:ext uri="{FF2B5EF4-FFF2-40B4-BE49-F238E27FC236}">
                <a16:creationId xmlns:a16="http://schemas.microsoft.com/office/drawing/2014/main" id="{89CBC1D8-A2C6-14F0-4DB5-556ED38C2814}"/>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D226DA8E-CCD4-E7E7-0770-2AA99F81DFCB}"/>
              </a:ext>
            </a:extLst>
          </p:cNvPr>
          <p:cNvSpPr>
            <a:spLocks noGrp="1"/>
          </p:cNvSpPr>
          <p:nvPr>
            <p:ph type="sldNum" sz="quarter" idx="12"/>
          </p:nvPr>
        </p:nvSpPr>
        <p:spPr/>
        <p:txBody>
          <a:bodyPr/>
          <a:lstStyle/>
          <a:p>
            <a:fld id="{5AFE2CDC-18D4-4E7A-A4BC-D5EDA5D6481E}" type="slidenum">
              <a:rPr lang="en-IN" smtClean="0"/>
              <a:pPr/>
              <a:t>64</a:t>
            </a:fld>
            <a:endParaRPr lang="en-IN"/>
          </a:p>
        </p:txBody>
      </p:sp>
    </p:spTree>
    <p:extLst>
      <p:ext uri="{BB962C8B-B14F-4D97-AF65-F5344CB8AC3E}">
        <p14:creationId xmlns:p14="http://schemas.microsoft.com/office/powerpoint/2010/main" val="31715647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1088D-4792-0F94-2CD0-148154E98968}"/>
              </a:ext>
            </a:extLst>
          </p:cNvPr>
          <p:cNvSpPr>
            <a:spLocks noGrp="1"/>
          </p:cNvSpPr>
          <p:nvPr>
            <p:ph type="title"/>
          </p:nvPr>
        </p:nvSpPr>
        <p:spPr>
          <a:xfrm>
            <a:off x="0" y="753533"/>
            <a:ext cx="12192000" cy="3130209"/>
          </a:xfrm>
        </p:spPr>
        <p:txBody>
          <a:bodyPr>
            <a:normAutofit fontScale="90000"/>
          </a:bodyPr>
          <a:lstStyle/>
          <a:p>
            <a:r>
              <a:rPr lang="en-IN">
                <a:solidFill>
                  <a:srgbClr val="FFFF00"/>
                </a:solidFill>
              </a:rPr>
              <a:t>॥ ७१॥ </a:t>
            </a:r>
            <a:r>
              <a:rPr lang="en-IN"/>
              <a:t>गतिविशेषात् ग्रहाणाम् आदित्यवशाच्च उदयास्तमयप्रवासाः। तथा परस्परसोमनक्षत्रैश्च सह समागमाः। तथा परस्परसव्यप्रादक्षिण्यैकीभावात् आदित्यवशात् एव युध्यन्ते ग्रहाः, परस्परेण च अन्योन्यं घ्नन्ति। जगतः ग्रहनक्षत्रभक्तीनां भावाभावनिदर्शनार्थं सर्व एवैते ग्रहाः परुषाः विवर्णाः प्रध्वस्ताः रूक्षाः विरश्मयः दक्षिणमार्गस्थाः यथा वै नक्षत्रम्। एभिः मर्ममानाः पीड्यन्ते भूतानि, यथाक्षेत्रवर्णाश्रितानि इत्याह गर्गः॥</a:t>
            </a:r>
          </a:p>
        </p:txBody>
      </p:sp>
      <p:sp>
        <p:nvSpPr>
          <p:cNvPr id="3" name="Slide Number Placeholder 2">
            <a:extLst>
              <a:ext uri="{FF2B5EF4-FFF2-40B4-BE49-F238E27FC236}">
                <a16:creationId xmlns:a16="http://schemas.microsoft.com/office/drawing/2014/main" id="{9F5AEF3D-38CD-3B8F-B68F-1821A54BD484}"/>
              </a:ext>
            </a:extLst>
          </p:cNvPr>
          <p:cNvSpPr>
            <a:spLocks noGrp="1"/>
          </p:cNvSpPr>
          <p:nvPr>
            <p:ph type="sldNum" sz="quarter" idx="12"/>
          </p:nvPr>
        </p:nvSpPr>
        <p:spPr/>
        <p:txBody>
          <a:bodyPr/>
          <a:lstStyle/>
          <a:p>
            <a:fld id="{5AFE2CDC-18D4-4E7A-A4BC-D5EDA5D6481E}" type="slidenum">
              <a:rPr lang="en-IN" smtClean="0"/>
              <a:t>65</a:t>
            </a:fld>
            <a:endParaRPr lang="en-IN"/>
          </a:p>
        </p:txBody>
      </p:sp>
      <p:sp>
        <p:nvSpPr>
          <p:cNvPr id="4" name="Footer Placeholder 3">
            <a:extLst>
              <a:ext uri="{FF2B5EF4-FFF2-40B4-BE49-F238E27FC236}">
                <a16:creationId xmlns:a16="http://schemas.microsoft.com/office/drawing/2014/main" id="{CEADC616-59D4-D2B8-F000-1CCA84F313A2}"/>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4520597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D8BE7-3A3C-B929-F858-2ABA11A71C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AB702E0-9B03-6979-C663-16F9867A5F07}"/>
              </a:ext>
            </a:extLst>
          </p:cNvPr>
          <p:cNvSpPr>
            <a:spLocks noGrp="1"/>
          </p:cNvSpPr>
          <p:nvPr>
            <p:ph idx="1"/>
          </p:nvPr>
        </p:nvSpPr>
        <p:spPr/>
        <p:txBody>
          <a:bodyPr/>
          <a:lstStyle/>
          <a:p>
            <a:r>
              <a:rPr lang="en-IN"/>
              <a:t>ग्रहाणां गतिविशेषात् आदित्यस्य समीपताया च तेषां उदय-अस्तमन-अदृश्य-प्रकारः भवति।</a:t>
            </a:r>
          </a:p>
          <a:p>
            <a:r>
              <a:rPr lang="en-IN"/>
              <a:t>सोमनक्षत्रैः सह च तेषां मेलनं भवति।</a:t>
            </a:r>
          </a:p>
          <a:p>
            <a:r>
              <a:rPr lang="en-IN"/>
              <a:t>सूर्यप्रभावेन ते परस्परं युध्यन्ते।</a:t>
            </a:r>
          </a:p>
          <a:p>
            <a:r>
              <a:rPr lang="en-IN"/>
              <a:t>सर्वे ग्रहाः कदापि अवर्णाः परुषाः विरश्मयः च भवन्ति। तदपि सूर्यप्रभावेन।</a:t>
            </a:r>
          </a:p>
          <a:p>
            <a:r>
              <a:rPr lang="en-IN"/>
              <a:t>तेषां क्षेत्रेण वा वर्णेन भूतानि पीड्यन्ते।</a:t>
            </a:r>
          </a:p>
        </p:txBody>
      </p:sp>
      <p:sp>
        <p:nvSpPr>
          <p:cNvPr id="4" name="Footer Placeholder 3">
            <a:extLst>
              <a:ext uri="{FF2B5EF4-FFF2-40B4-BE49-F238E27FC236}">
                <a16:creationId xmlns:a16="http://schemas.microsoft.com/office/drawing/2014/main" id="{FA18541B-493E-C7A9-060E-41B5E35100BA}"/>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3B13B9DA-524A-A4EF-A47D-AE847169C004}"/>
              </a:ext>
            </a:extLst>
          </p:cNvPr>
          <p:cNvSpPr>
            <a:spLocks noGrp="1"/>
          </p:cNvSpPr>
          <p:nvPr>
            <p:ph type="sldNum" sz="quarter" idx="12"/>
          </p:nvPr>
        </p:nvSpPr>
        <p:spPr/>
        <p:txBody>
          <a:bodyPr/>
          <a:lstStyle/>
          <a:p>
            <a:fld id="{5AFE2CDC-18D4-4E7A-A4BC-D5EDA5D6481E}" type="slidenum">
              <a:rPr lang="en-IN" smtClean="0"/>
              <a:pPr/>
              <a:t>66</a:t>
            </a:fld>
            <a:endParaRPr lang="en-IN"/>
          </a:p>
        </p:txBody>
      </p:sp>
    </p:spTree>
    <p:extLst>
      <p:ext uri="{BB962C8B-B14F-4D97-AF65-F5344CB8AC3E}">
        <p14:creationId xmlns:p14="http://schemas.microsoft.com/office/powerpoint/2010/main" val="33575070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163399B-E7BA-D08A-2620-12FDC93F931E}"/>
              </a:ext>
            </a:extLst>
          </p:cNvPr>
          <p:cNvSpPr>
            <a:spLocks noGrp="1"/>
          </p:cNvSpPr>
          <p:nvPr>
            <p:ph type="title"/>
          </p:nvPr>
        </p:nvSpPr>
        <p:spPr/>
        <p:txBody>
          <a:bodyPr/>
          <a:lstStyle/>
          <a:p>
            <a:r>
              <a:rPr lang="en-IN"/>
              <a:t>जलशास्त्रं भूविज्ञानञ्च</a:t>
            </a:r>
          </a:p>
        </p:txBody>
      </p:sp>
      <p:sp>
        <p:nvSpPr>
          <p:cNvPr id="9" name="Text Placeholder 8">
            <a:extLst>
              <a:ext uri="{FF2B5EF4-FFF2-40B4-BE49-F238E27FC236}">
                <a16:creationId xmlns:a16="http://schemas.microsoft.com/office/drawing/2014/main" id="{F17803C5-7E75-EE00-CD4E-D0306869A3D1}"/>
              </a:ext>
            </a:extLst>
          </p:cNvPr>
          <p:cNvSpPr>
            <a:spLocks noGrp="1"/>
          </p:cNvSpPr>
          <p:nvPr>
            <p:ph type="body" sz="half" idx="2"/>
          </p:nvPr>
        </p:nvSpPr>
        <p:spPr/>
        <p:txBody>
          <a:bodyPr/>
          <a:lstStyle/>
          <a:p>
            <a:endParaRPr lang="en-IN"/>
          </a:p>
        </p:txBody>
      </p:sp>
      <p:sp>
        <p:nvSpPr>
          <p:cNvPr id="5" name="Slide Number Placeholder 4">
            <a:extLst>
              <a:ext uri="{FF2B5EF4-FFF2-40B4-BE49-F238E27FC236}">
                <a16:creationId xmlns:a16="http://schemas.microsoft.com/office/drawing/2014/main" id="{CFE40CE8-A4E9-F91E-7303-4B665C0833BC}"/>
              </a:ext>
            </a:extLst>
          </p:cNvPr>
          <p:cNvSpPr>
            <a:spLocks noGrp="1"/>
          </p:cNvSpPr>
          <p:nvPr>
            <p:ph type="sldNum" sz="quarter" idx="12"/>
          </p:nvPr>
        </p:nvSpPr>
        <p:spPr/>
        <p:txBody>
          <a:bodyPr/>
          <a:lstStyle/>
          <a:p>
            <a:fld id="{5AFE2CDC-18D4-4E7A-A4BC-D5EDA5D6481E}" type="slidenum">
              <a:rPr lang="en-IN" smtClean="0"/>
              <a:pPr/>
              <a:t>67</a:t>
            </a:fld>
            <a:endParaRPr lang="en-IN"/>
          </a:p>
        </p:txBody>
      </p:sp>
      <p:sp>
        <p:nvSpPr>
          <p:cNvPr id="4" name="Footer Placeholder 3">
            <a:extLst>
              <a:ext uri="{FF2B5EF4-FFF2-40B4-BE49-F238E27FC236}">
                <a16:creationId xmlns:a16="http://schemas.microsoft.com/office/drawing/2014/main" id="{9D7839E9-3FC6-CBAA-317F-16DDE2B72EF1}"/>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5668681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88A33-649E-92C2-FDC6-BC296390C820}"/>
              </a:ext>
            </a:extLst>
          </p:cNvPr>
          <p:cNvSpPr>
            <a:spLocks noGrp="1"/>
          </p:cNvSpPr>
          <p:nvPr>
            <p:ph type="title"/>
          </p:nvPr>
        </p:nvSpPr>
        <p:spPr>
          <a:xfrm>
            <a:off x="0" y="393290"/>
            <a:ext cx="12192000" cy="4286864"/>
          </a:xfrm>
        </p:spPr>
        <p:txBody>
          <a:bodyPr>
            <a:normAutofit/>
          </a:bodyPr>
          <a:lstStyle/>
          <a:p>
            <a:r>
              <a:rPr lang="en-IN" sz="3350">
                <a:solidFill>
                  <a:srgbClr val="FFFF00"/>
                </a:solidFill>
              </a:rPr>
              <a:t>॥ ७२॥ </a:t>
            </a:r>
            <a:r>
              <a:rPr lang="en-IN" sz="3350"/>
              <a:t>यथा त्विमे मेघाः प्रादुर्भवन्ति तत्र व्याख्यास्यामः। आकाशात् वायुः प्रादुर्भवति। स वै दिवं च अन्तरिक्षं पृथिवीं च समीरयति। अभ्राणि उद्धरति। तानि प्रर्यमाणानि प्रवर्षन् एषु वर्षमाणेषु इतश्चेतश्च भूतलम् आपः आप्लावयन्ति। ताभिश्च आप्लाविते भूतले बीजानि उप्त्वा पाचयन्ति। तानि पक्वानि यथा आहारं भूतानि अदन्ति। तन्मूलं शुक्रं भवति। तत् प्रजननं काले विसृजति। स वै गर्भो भवति। तन्मूलाः प्रजा इत्याह वसिष्ठः॥</a:t>
            </a:r>
            <a:br>
              <a:rPr lang="en-IN" sz="3350"/>
            </a:br>
            <a:r>
              <a:rPr lang="en-IN" sz="3350">
                <a:solidFill>
                  <a:srgbClr val="FFFF00"/>
                </a:solidFill>
              </a:rPr>
              <a:t>॥ ७३॥ </a:t>
            </a:r>
            <a:r>
              <a:rPr lang="en-IN" sz="3350"/>
              <a:t>मारुतः तिर्यग्गतित्वात् हुताशनं उज्ज्वलयति। ऊर्ध्वगतिर्हि अग्निः प्राणिनाम् उपकाराय। उर्ध्वगतित्वात् देवताङ्गहविषा संयुज्य आदित्यं तर्पयति, यदि वा वनसमर्थत्वात् भवति। तस्य प्रज्वलतः ऊर्ध्वधूमात् उत्पततः, स च आन्तरिक्षो वायुः तिर्यग्गतित्वात् श्लीतः क्रियते। तानि अभ्राणि भवन्ति॥</a:t>
            </a:r>
          </a:p>
        </p:txBody>
      </p:sp>
      <p:sp>
        <p:nvSpPr>
          <p:cNvPr id="3" name="Slide Number Placeholder 2">
            <a:extLst>
              <a:ext uri="{FF2B5EF4-FFF2-40B4-BE49-F238E27FC236}">
                <a16:creationId xmlns:a16="http://schemas.microsoft.com/office/drawing/2014/main" id="{C1904C92-35D9-8783-5B6F-39FE0EA20649}"/>
              </a:ext>
            </a:extLst>
          </p:cNvPr>
          <p:cNvSpPr>
            <a:spLocks noGrp="1"/>
          </p:cNvSpPr>
          <p:nvPr>
            <p:ph type="sldNum" sz="quarter" idx="12"/>
          </p:nvPr>
        </p:nvSpPr>
        <p:spPr/>
        <p:txBody>
          <a:bodyPr/>
          <a:lstStyle/>
          <a:p>
            <a:fld id="{5AFE2CDC-18D4-4E7A-A4BC-D5EDA5D6481E}" type="slidenum">
              <a:rPr lang="en-IN" smtClean="0"/>
              <a:t>68</a:t>
            </a:fld>
            <a:endParaRPr lang="en-IN"/>
          </a:p>
        </p:txBody>
      </p:sp>
      <p:sp>
        <p:nvSpPr>
          <p:cNvPr id="4" name="Footer Placeholder 3">
            <a:extLst>
              <a:ext uri="{FF2B5EF4-FFF2-40B4-BE49-F238E27FC236}">
                <a16:creationId xmlns:a16="http://schemas.microsoft.com/office/drawing/2014/main" id="{2B5B740E-6003-0344-26B4-12BC916D3260}"/>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8097478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7910D4-FB7E-E5F4-BE0B-15FBB1A14BD9}"/>
              </a:ext>
            </a:extLst>
          </p:cNvPr>
          <p:cNvSpPr>
            <a:spLocks noGrp="1"/>
          </p:cNvSpPr>
          <p:nvPr>
            <p:ph idx="1"/>
          </p:nvPr>
        </p:nvSpPr>
        <p:spPr/>
        <p:txBody>
          <a:bodyPr>
            <a:normAutofit lnSpcReduction="10000"/>
          </a:bodyPr>
          <a:lstStyle/>
          <a:p>
            <a:r>
              <a:rPr lang="en-IN"/>
              <a:t>वायुः आकाशात् उद्भवति।</a:t>
            </a:r>
          </a:p>
          <a:p>
            <a:r>
              <a:rPr lang="en-IN"/>
              <a:t>सः वायुः पृथिवी अन्तरिक्षं च संतेजयित्वा अभ्राणि उत्पादयति।</a:t>
            </a:r>
          </a:p>
          <a:p>
            <a:r>
              <a:rPr lang="en-IN"/>
              <a:t>तानि अभ्राणि अत्रतत्र वर्षयित्वा भूम्यां जलं प्लवति।</a:t>
            </a:r>
          </a:p>
          <a:p>
            <a:r>
              <a:rPr lang="en-IN"/>
              <a:t>तस्मात् बीजानि आरोहन्ति सस्याः फलन्ति च। </a:t>
            </a:r>
          </a:p>
          <a:p>
            <a:r>
              <a:rPr lang="en-IN"/>
              <a:t>भूतानि तानि फलानि खदित्वा रेतः जनयन्ति। ऋतौ तत् विसृजन्ति च। तस्मात् गर्भाः भूत्वा प्रजानां सङ्ख्या वर्धते। </a:t>
            </a:r>
            <a:r>
              <a:rPr lang="en-IN" sz="1800" i="1"/>
              <a:t>(इति वसिष्ठः वदति)</a:t>
            </a:r>
            <a:endParaRPr lang="en-IN" i="1"/>
          </a:p>
          <a:p>
            <a:r>
              <a:rPr lang="en-IN"/>
              <a:t>मारुतः तस्य वक्रगतिकारणात् हुताशनान् ज्वालयति।</a:t>
            </a:r>
          </a:p>
          <a:p>
            <a:r>
              <a:rPr lang="en-IN"/>
              <a:t>अग्नेः ऊर्ध्वगतिकारणात् च सः हविषान् सूर्यं प्रति नयति।</a:t>
            </a:r>
          </a:p>
          <a:p>
            <a:r>
              <a:rPr lang="en-IN"/>
              <a:t>अन्तरिक्षवायोः गतित्वात् धूमः च घनीभवति।</a:t>
            </a:r>
          </a:p>
          <a:p>
            <a:r>
              <a:rPr lang="en-IN"/>
              <a:t>सः धूमः वायुना सह पुनः अभ्राणि उत्पादयन्ति।</a:t>
            </a:r>
          </a:p>
        </p:txBody>
      </p:sp>
      <p:sp>
        <p:nvSpPr>
          <p:cNvPr id="4" name="Footer Placeholder 3">
            <a:extLst>
              <a:ext uri="{FF2B5EF4-FFF2-40B4-BE49-F238E27FC236}">
                <a16:creationId xmlns:a16="http://schemas.microsoft.com/office/drawing/2014/main" id="{36AD5327-E04D-72B1-C86D-C68A4EBBDB1A}"/>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078C87BB-798C-3B9D-C637-3743824AA0FB}"/>
              </a:ext>
            </a:extLst>
          </p:cNvPr>
          <p:cNvSpPr>
            <a:spLocks noGrp="1"/>
          </p:cNvSpPr>
          <p:nvPr>
            <p:ph type="sldNum" sz="quarter" idx="12"/>
          </p:nvPr>
        </p:nvSpPr>
        <p:spPr/>
        <p:txBody>
          <a:bodyPr/>
          <a:lstStyle/>
          <a:p>
            <a:fld id="{5AFE2CDC-18D4-4E7A-A4BC-D5EDA5D6481E}" type="slidenum">
              <a:rPr lang="en-IN" smtClean="0"/>
              <a:pPr/>
              <a:t>69</a:t>
            </a:fld>
            <a:endParaRPr lang="en-IN"/>
          </a:p>
        </p:txBody>
      </p:sp>
    </p:spTree>
    <p:extLst>
      <p:ext uri="{BB962C8B-B14F-4D97-AF65-F5344CB8AC3E}">
        <p14:creationId xmlns:p14="http://schemas.microsoft.com/office/powerpoint/2010/main" val="23050650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75D89-6249-2F9D-8929-D2491DD59050}"/>
              </a:ext>
            </a:extLst>
          </p:cNvPr>
          <p:cNvSpPr>
            <a:spLocks noGrp="1"/>
          </p:cNvSpPr>
          <p:nvPr>
            <p:ph type="title"/>
          </p:nvPr>
        </p:nvSpPr>
        <p:spPr>
          <a:xfrm>
            <a:off x="0" y="615881"/>
            <a:ext cx="12192000" cy="4093770"/>
          </a:xfrm>
        </p:spPr>
        <p:txBody>
          <a:bodyPr>
            <a:normAutofit fontScale="90000"/>
          </a:bodyPr>
          <a:lstStyle/>
          <a:p>
            <a:r>
              <a:rPr lang="en-IN">
                <a:solidFill>
                  <a:srgbClr val="FFFF00"/>
                </a:solidFill>
              </a:rPr>
              <a:t>॥ ७४॥ </a:t>
            </a:r>
            <a:r>
              <a:rPr lang="en-IN"/>
              <a:t>वायुः एव तिर्यग्गतित्वात् वारयते, तीर्यप्रमाणात् द्विधा वायुः मेघान् नाशयेत्। इति एष कृष्णात्रेयः। पृथिव्यां ह्यूष्मारजश्च मूतः पर्वताच्च उदकं च धूमश्च वातसमीरिताः ऊर्ध्वम् उत्पतन्ति। तैजसत्वाच्च अन्तरिक्षे सूर्यरश्मिभिः सञ्चाल्यमानाः तु आकाशे सङ्घातं गच्छन्ति। तानि अभ्राणि प्रादुर्भवन्ति॥</a:t>
            </a:r>
            <a:br>
              <a:rPr lang="en-IN"/>
            </a:br>
            <a:r>
              <a:rPr lang="en-IN">
                <a:solidFill>
                  <a:srgbClr val="FFFF00"/>
                </a:solidFill>
              </a:rPr>
              <a:t>॥ ७५॥ </a:t>
            </a:r>
            <a:r>
              <a:rPr lang="en-IN"/>
              <a:t>वायुना च संवीज्यमानाः प्यायन्ते। तानि अन्तरिक्षम् अवपतन्ति। सूर्यस्त्वेनां रश्मिभिः उदकम् आनयित्वा सर्वतः पूरयति। वायुना संयुक्तैः हिमरश्मिभिः भास्करे अपः ऊर्ध्वम् आरोपयति यथा उत्पलनालेन। ऊर्ध्वं वायुसंयुक्तेन तानि च उदकपूर्णानि सूर्यः रश्मिभिः वारयते तपति च॥</a:t>
            </a:r>
          </a:p>
        </p:txBody>
      </p:sp>
      <p:sp>
        <p:nvSpPr>
          <p:cNvPr id="3" name="Slide Number Placeholder 2">
            <a:extLst>
              <a:ext uri="{FF2B5EF4-FFF2-40B4-BE49-F238E27FC236}">
                <a16:creationId xmlns:a16="http://schemas.microsoft.com/office/drawing/2014/main" id="{1A664176-2565-DA00-541E-BA63BA602122}"/>
              </a:ext>
            </a:extLst>
          </p:cNvPr>
          <p:cNvSpPr>
            <a:spLocks noGrp="1"/>
          </p:cNvSpPr>
          <p:nvPr>
            <p:ph type="sldNum" sz="quarter" idx="12"/>
          </p:nvPr>
        </p:nvSpPr>
        <p:spPr/>
        <p:txBody>
          <a:bodyPr/>
          <a:lstStyle/>
          <a:p>
            <a:fld id="{5AFE2CDC-18D4-4E7A-A4BC-D5EDA5D6481E}" type="slidenum">
              <a:rPr lang="en-IN" smtClean="0"/>
              <a:t>70</a:t>
            </a:fld>
            <a:endParaRPr lang="en-IN"/>
          </a:p>
        </p:txBody>
      </p:sp>
      <p:sp>
        <p:nvSpPr>
          <p:cNvPr id="4" name="Footer Placeholder 3">
            <a:extLst>
              <a:ext uri="{FF2B5EF4-FFF2-40B4-BE49-F238E27FC236}">
                <a16:creationId xmlns:a16="http://schemas.microsoft.com/office/drawing/2014/main" id="{6878E581-6BC2-7AF9-1EB8-F9809F32BF7C}"/>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4518216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FB23CF-7130-45E2-764C-7D90065C1EF6}"/>
              </a:ext>
            </a:extLst>
          </p:cNvPr>
          <p:cNvSpPr>
            <a:spLocks noGrp="1"/>
          </p:cNvSpPr>
          <p:nvPr>
            <p:ph idx="1"/>
          </p:nvPr>
        </p:nvSpPr>
        <p:spPr/>
        <p:txBody>
          <a:bodyPr/>
          <a:lstStyle/>
          <a:p>
            <a:r>
              <a:rPr lang="en-IN"/>
              <a:t>वायुः तस्य गतित्वात् मेघान् वारयते नाशयते च। </a:t>
            </a:r>
            <a:r>
              <a:rPr lang="en-IN" sz="1800" i="1"/>
              <a:t>(इति कृष्णात्रेयः वदति)</a:t>
            </a:r>
            <a:endParaRPr lang="en-IN"/>
          </a:p>
          <a:p>
            <a:r>
              <a:rPr lang="en-IN"/>
              <a:t>पृथिव्याः मूतः ऊष्मारजः </a:t>
            </a:r>
            <a:r>
              <a:rPr lang="en-IN" sz="1600" i="1"/>
              <a:t>(vaporised bundles of particles)</a:t>
            </a:r>
            <a:r>
              <a:rPr lang="en-IN"/>
              <a:t> पर्वतेभ्यः च उदकं ऊर्ध्वम् गच्छन्ति।</a:t>
            </a:r>
          </a:p>
          <a:p>
            <a:r>
              <a:rPr lang="en-IN"/>
              <a:t>अन्तरिक्षे सूर्यस्य तपात् आकाशे सङ्गम्य अभ्राणि भवन्ति। </a:t>
            </a:r>
            <a:r>
              <a:rPr lang="en-IN" sz="1400" i="1"/>
              <a:t>(condensation)</a:t>
            </a:r>
            <a:endParaRPr lang="en-IN"/>
          </a:p>
          <a:p>
            <a:r>
              <a:rPr lang="en-IN"/>
              <a:t>वायुः अभ्राणि पोषयति।</a:t>
            </a:r>
          </a:p>
          <a:p>
            <a:r>
              <a:rPr lang="en-IN"/>
              <a:t>ततः घनात् ते आकाशात् नीचैः आगच्छन्ति। </a:t>
            </a:r>
            <a:r>
              <a:rPr lang="en-IN" sz="1400" i="1"/>
              <a:t>(precipitation)</a:t>
            </a:r>
            <a:endParaRPr lang="en-IN"/>
          </a:p>
          <a:p>
            <a:r>
              <a:rPr lang="en-IN"/>
              <a:t>सूर्यः रश्मिभिः उदकम् आनीत्वा तं पातयति।</a:t>
            </a:r>
          </a:p>
          <a:p>
            <a:r>
              <a:rPr lang="en-IN"/>
              <a:t>भूम्यां हिमरश्मिभिः वायुः सूर्यं प्रति उदकं आरोपयति। </a:t>
            </a:r>
            <a:r>
              <a:rPr lang="en-IN" sz="1400" i="1"/>
              <a:t>(evaporation)</a:t>
            </a:r>
            <a:endParaRPr lang="en-IN"/>
          </a:p>
          <a:p>
            <a:r>
              <a:rPr lang="en-IN"/>
              <a:t>सूर्यः च वायुना सह तत् जलं वारयते तपति च।</a:t>
            </a:r>
          </a:p>
          <a:p>
            <a:endParaRPr lang="en-IN"/>
          </a:p>
        </p:txBody>
      </p:sp>
      <p:sp>
        <p:nvSpPr>
          <p:cNvPr id="4" name="Footer Placeholder 3">
            <a:extLst>
              <a:ext uri="{FF2B5EF4-FFF2-40B4-BE49-F238E27FC236}">
                <a16:creationId xmlns:a16="http://schemas.microsoft.com/office/drawing/2014/main" id="{A428DA59-DA4B-64F7-07E0-0D1EBD407E34}"/>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9015E589-C3BF-4146-DA3B-3962E7EDF532}"/>
              </a:ext>
            </a:extLst>
          </p:cNvPr>
          <p:cNvSpPr>
            <a:spLocks noGrp="1"/>
          </p:cNvSpPr>
          <p:nvPr>
            <p:ph type="sldNum" sz="quarter" idx="12"/>
          </p:nvPr>
        </p:nvSpPr>
        <p:spPr/>
        <p:txBody>
          <a:bodyPr/>
          <a:lstStyle/>
          <a:p>
            <a:fld id="{5AFE2CDC-18D4-4E7A-A4BC-D5EDA5D6481E}" type="slidenum">
              <a:rPr lang="en-IN" smtClean="0"/>
              <a:pPr/>
              <a:t>71</a:t>
            </a:fld>
            <a:endParaRPr lang="en-IN"/>
          </a:p>
        </p:txBody>
      </p:sp>
    </p:spTree>
    <p:extLst>
      <p:ext uri="{BB962C8B-B14F-4D97-AF65-F5344CB8AC3E}">
        <p14:creationId xmlns:p14="http://schemas.microsoft.com/office/powerpoint/2010/main" val="36584070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D9D38-6A3D-44B9-8F3D-F892051B905B}"/>
              </a:ext>
            </a:extLst>
          </p:cNvPr>
          <p:cNvSpPr>
            <a:spLocks noGrp="1"/>
          </p:cNvSpPr>
          <p:nvPr>
            <p:ph type="title"/>
          </p:nvPr>
        </p:nvSpPr>
        <p:spPr>
          <a:xfrm>
            <a:off x="0" y="753533"/>
            <a:ext cx="12192000" cy="3120377"/>
          </a:xfrm>
        </p:spPr>
        <p:txBody>
          <a:bodyPr>
            <a:normAutofit fontScale="90000"/>
          </a:bodyPr>
          <a:lstStyle/>
          <a:p>
            <a:r>
              <a:rPr lang="en-IN">
                <a:solidFill>
                  <a:srgbClr val="FFFF00"/>
                </a:solidFill>
              </a:rPr>
              <a:t>॥ ७६॥ </a:t>
            </a:r>
            <a:r>
              <a:rPr lang="en-IN"/>
              <a:t>ज्योतिषां च आपो मैथुनं वायुवशात्। परिसरणगतः आदित्यः शतक्रतुम् आदिशति वर्षेति। शतक्रतुः पर्जन्यम् आदिशति वर्षेति। पर्जन्यः मारुतम् आदिशति वर्षेति। एते हि वृष्टिप्रदातारः सूर्यचन्द्रपर्जन्याः। तानि च मारुतेन प्रेर्यमाणानि धार्यमाणानि च अभ्राणि आविशन्ति। तानि मरुद्भिः आदिष्टानि प्रवर्षन्ति। आपः ह्यन्तरिक्षे सङ्घातः, वायुना भिन्नः गुरुत्वात् द्रवत्वात् च अधः पतन्ति। तत् वर्षम् इति अभिधीयते॥</a:t>
            </a:r>
          </a:p>
        </p:txBody>
      </p:sp>
      <p:sp>
        <p:nvSpPr>
          <p:cNvPr id="3" name="Slide Number Placeholder 2">
            <a:extLst>
              <a:ext uri="{FF2B5EF4-FFF2-40B4-BE49-F238E27FC236}">
                <a16:creationId xmlns:a16="http://schemas.microsoft.com/office/drawing/2014/main" id="{4813B455-E284-6117-28E5-63F05C62FCE8}"/>
              </a:ext>
            </a:extLst>
          </p:cNvPr>
          <p:cNvSpPr>
            <a:spLocks noGrp="1"/>
          </p:cNvSpPr>
          <p:nvPr>
            <p:ph type="sldNum" sz="quarter" idx="12"/>
          </p:nvPr>
        </p:nvSpPr>
        <p:spPr/>
        <p:txBody>
          <a:bodyPr/>
          <a:lstStyle/>
          <a:p>
            <a:fld id="{5AFE2CDC-18D4-4E7A-A4BC-D5EDA5D6481E}" type="slidenum">
              <a:rPr lang="en-IN" smtClean="0"/>
              <a:t>72</a:t>
            </a:fld>
            <a:endParaRPr lang="en-IN"/>
          </a:p>
        </p:txBody>
      </p:sp>
      <p:sp>
        <p:nvSpPr>
          <p:cNvPr id="4" name="Footer Placeholder 3">
            <a:extLst>
              <a:ext uri="{FF2B5EF4-FFF2-40B4-BE49-F238E27FC236}">
                <a16:creationId xmlns:a16="http://schemas.microsoft.com/office/drawing/2014/main" id="{690756F6-103D-7067-1D2C-E64AAB981AC8}"/>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4430096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E06E4C-7F4E-52A9-80FE-BC7E777DFF58}"/>
              </a:ext>
            </a:extLst>
          </p:cNvPr>
          <p:cNvSpPr>
            <a:spLocks noGrp="1"/>
          </p:cNvSpPr>
          <p:nvPr>
            <p:ph idx="1"/>
          </p:nvPr>
        </p:nvSpPr>
        <p:spPr/>
        <p:txBody>
          <a:bodyPr/>
          <a:lstStyle/>
          <a:p>
            <a:r>
              <a:rPr lang="en-IN"/>
              <a:t>सूर्यः वर्षां कर्तुम् शतक्रतुम् (इन्द्रम्) आदिशति।</a:t>
            </a:r>
          </a:p>
          <a:p>
            <a:r>
              <a:rPr lang="en-IN"/>
              <a:t>शतक्रतुश्च पर्जन्यम् आदिशति।</a:t>
            </a:r>
          </a:p>
          <a:p>
            <a:r>
              <a:rPr lang="en-IN"/>
              <a:t>पर्जन्यः मारुतम् आदिशति।</a:t>
            </a:r>
          </a:p>
          <a:p>
            <a:r>
              <a:rPr lang="en-IN"/>
              <a:t>सूर्यः शतक्रतुः पर्जन्यश्च वृष्टेः प्रदाताराः। ते अभ्रेषु वसन्ति।</a:t>
            </a:r>
          </a:p>
          <a:p>
            <a:r>
              <a:rPr lang="en-IN"/>
              <a:t>तानि अभ्राणि च मरुद्भिः आदिष्टानि वर्षन्ति।</a:t>
            </a:r>
          </a:p>
          <a:p>
            <a:r>
              <a:rPr lang="en-IN"/>
              <a:t>तत् जलं तस्य गुरुत्वात् द्रवत्वात् च भूमौ पतति। </a:t>
            </a:r>
          </a:p>
          <a:p>
            <a:r>
              <a:rPr lang="en-IN"/>
              <a:t>एषा वर्षा।</a:t>
            </a:r>
          </a:p>
        </p:txBody>
      </p:sp>
      <p:sp>
        <p:nvSpPr>
          <p:cNvPr id="4" name="Footer Placeholder 3">
            <a:extLst>
              <a:ext uri="{FF2B5EF4-FFF2-40B4-BE49-F238E27FC236}">
                <a16:creationId xmlns:a16="http://schemas.microsoft.com/office/drawing/2014/main" id="{4E9AB6A2-1BDB-1EAE-55C5-0E64558C8BEC}"/>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260C0BF4-3133-D33A-5C76-7843647758AC}"/>
              </a:ext>
            </a:extLst>
          </p:cNvPr>
          <p:cNvSpPr>
            <a:spLocks noGrp="1"/>
          </p:cNvSpPr>
          <p:nvPr>
            <p:ph type="sldNum" sz="quarter" idx="12"/>
          </p:nvPr>
        </p:nvSpPr>
        <p:spPr/>
        <p:txBody>
          <a:bodyPr/>
          <a:lstStyle/>
          <a:p>
            <a:fld id="{5AFE2CDC-18D4-4E7A-A4BC-D5EDA5D6481E}" type="slidenum">
              <a:rPr lang="en-IN" smtClean="0"/>
              <a:pPr/>
              <a:t>73</a:t>
            </a:fld>
            <a:endParaRPr lang="en-IN"/>
          </a:p>
        </p:txBody>
      </p:sp>
    </p:spTree>
    <p:extLst>
      <p:ext uri="{BB962C8B-B14F-4D97-AF65-F5344CB8AC3E}">
        <p14:creationId xmlns:p14="http://schemas.microsoft.com/office/powerpoint/2010/main" val="41218207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9DD4E-4F31-57EA-54A4-5A86352FC8AE}"/>
              </a:ext>
            </a:extLst>
          </p:cNvPr>
          <p:cNvSpPr>
            <a:spLocks noGrp="1"/>
          </p:cNvSpPr>
          <p:nvPr>
            <p:ph type="title"/>
          </p:nvPr>
        </p:nvSpPr>
        <p:spPr>
          <a:xfrm>
            <a:off x="0" y="753533"/>
            <a:ext cx="12192000" cy="3641486"/>
          </a:xfrm>
        </p:spPr>
        <p:txBody>
          <a:bodyPr>
            <a:normAutofit fontScale="90000"/>
          </a:bodyPr>
          <a:lstStyle/>
          <a:p>
            <a:r>
              <a:rPr lang="en-IN">
                <a:solidFill>
                  <a:srgbClr val="FFFF00"/>
                </a:solidFill>
              </a:rPr>
              <a:t>॥ ७७॥ </a:t>
            </a:r>
            <a:r>
              <a:rPr lang="en-IN"/>
              <a:t>यदा तु तत्र अनिलः समेथ्य निर्मथ्यते ततः तानि अभ्राणि सहसा क्षिप्यन्ते। मेघमारुतौ च अन्तरिक्षेण भगवान् आदित्यः रश्मिभिः तिर्यक् प्रणयते। सा विद्युत् संभवति तिर्यक्ताङ्गारिणी च। तासां च निर्मथ्यमानानां महावायुना गर्जतीनां तेजः आपोह्यग्निः स्तनयित्नुः भवति। यदि तु अतिनिर्मथ्यते ततः अशिनः प्रज्वालितो माहेश्वरो भूमौ निपतति इत्याह गर्गः। एवं मेघानां पञ्चेश्वरात्मकः सङ्घातो भवति। पार्थिवशरीरम् आकाशात् मारुतस्त नितात्प्लवते। विद्युदग्नेरद्भ्यश्च उदकं मारुतश्चैव आदित्यरश्मिभिः सम्पृक्तो वर्णान् नानाप्रकारान् निष्पादयते॥</a:t>
            </a:r>
          </a:p>
        </p:txBody>
      </p:sp>
      <p:sp>
        <p:nvSpPr>
          <p:cNvPr id="3" name="Slide Number Placeholder 2">
            <a:extLst>
              <a:ext uri="{FF2B5EF4-FFF2-40B4-BE49-F238E27FC236}">
                <a16:creationId xmlns:a16="http://schemas.microsoft.com/office/drawing/2014/main" id="{43833D2A-BF42-9AE1-FE3D-DEA6E5A69159}"/>
              </a:ext>
            </a:extLst>
          </p:cNvPr>
          <p:cNvSpPr>
            <a:spLocks noGrp="1"/>
          </p:cNvSpPr>
          <p:nvPr>
            <p:ph type="sldNum" sz="quarter" idx="12"/>
          </p:nvPr>
        </p:nvSpPr>
        <p:spPr/>
        <p:txBody>
          <a:bodyPr/>
          <a:lstStyle/>
          <a:p>
            <a:fld id="{5AFE2CDC-18D4-4E7A-A4BC-D5EDA5D6481E}" type="slidenum">
              <a:rPr lang="en-IN" smtClean="0"/>
              <a:t>74</a:t>
            </a:fld>
            <a:endParaRPr lang="en-IN"/>
          </a:p>
        </p:txBody>
      </p:sp>
      <p:sp>
        <p:nvSpPr>
          <p:cNvPr id="4" name="Footer Placeholder 3">
            <a:extLst>
              <a:ext uri="{FF2B5EF4-FFF2-40B4-BE49-F238E27FC236}">
                <a16:creationId xmlns:a16="http://schemas.microsoft.com/office/drawing/2014/main" id="{2646AB46-8BE2-C87B-6348-F76446879C32}"/>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2803226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C7B2AD-6CFC-184E-4965-26E8B55001BA}"/>
              </a:ext>
            </a:extLst>
          </p:cNvPr>
          <p:cNvSpPr>
            <a:spLocks noGrp="1"/>
          </p:cNvSpPr>
          <p:nvPr>
            <p:ph idx="1"/>
          </p:nvPr>
        </p:nvSpPr>
        <p:spPr/>
        <p:txBody>
          <a:bodyPr/>
          <a:lstStyle/>
          <a:p>
            <a:r>
              <a:rPr lang="en-IN"/>
              <a:t>आकाशे यदि अनिलः संभूय मन्थनं करोति तदा अभ्राणि सहसा क्षिप्यन्ते। </a:t>
            </a:r>
            <a:r>
              <a:rPr lang="en-IN" sz="1600" i="1"/>
              <a:t>(storm)</a:t>
            </a:r>
            <a:endParaRPr lang="en-IN" i="1"/>
          </a:p>
          <a:p>
            <a:r>
              <a:rPr lang="en-IN"/>
              <a:t>सूर्यः तानि अभ्राणि मारुतश्च तिर्यक् नयति।</a:t>
            </a:r>
          </a:p>
          <a:p>
            <a:r>
              <a:rPr lang="en-IN"/>
              <a:t>तदा विद्युत् उत्पद्यते। </a:t>
            </a:r>
            <a:r>
              <a:rPr lang="en-IN" sz="1600" i="1"/>
              <a:t>(lightning)</a:t>
            </a:r>
            <a:endParaRPr lang="en-IN" i="1"/>
          </a:p>
          <a:p>
            <a:r>
              <a:rPr lang="en-IN"/>
              <a:t>मन्थनस्य कारणात् मेघाः गर्जन्ति। </a:t>
            </a:r>
            <a:r>
              <a:rPr lang="en-IN" sz="1600" i="1"/>
              <a:t>(thunder)</a:t>
            </a:r>
            <a:endParaRPr lang="en-IN" i="1"/>
          </a:p>
          <a:p>
            <a:r>
              <a:rPr lang="en-IN"/>
              <a:t>यदि मन्थनं परुषम् अस्ति चेत् सा विद्युत् भूमौ पतति अपि च पञ्चभूतानां सङ्घातः भवति।</a:t>
            </a:r>
          </a:p>
          <a:p>
            <a:r>
              <a:rPr lang="en-IN"/>
              <a:t>वायुना अभ्राणि अन्तरिक्षे भ्रमन्ति।</a:t>
            </a:r>
          </a:p>
          <a:p>
            <a:r>
              <a:rPr lang="en-IN"/>
              <a:t>विद्युत् मारुतः सूर्यरश्मिः मिलित्वा नानाप्रकारान् वर्णान् प्रदर्शयन्ति।</a:t>
            </a:r>
          </a:p>
        </p:txBody>
      </p:sp>
      <p:sp>
        <p:nvSpPr>
          <p:cNvPr id="4" name="Footer Placeholder 3">
            <a:extLst>
              <a:ext uri="{FF2B5EF4-FFF2-40B4-BE49-F238E27FC236}">
                <a16:creationId xmlns:a16="http://schemas.microsoft.com/office/drawing/2014/main" id="{A2238B47-613B-D50D-24AE-52C26D8192D5}"/>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41CA4872-B43A-4146-FD53-D7DBF11E7EDA}"/>
              </a:ext>
            </a:extLst>
          </p:cNvPr>
          <p:cNvSpPr>
            <a:spLocks noGrp="1"/>
          </p:cNvSpPr>
          <p:nvPr>
            <p:ph type="sldNum" sz="quarter" idx="12"/>
          </p:nvPr>
        </p:nvSpPr>
        <p:spPr/>
        <p:txBody>
          <a:bodyPr/>
          <a:lstStyle/>
          <a:p>
            <a:fld id="{5AFE2CDC-18D4-4E7A-A4BC-D5EDA5D6481E}" type="slidenum">
              <a:rPr lang="en-IN" smtClean="0"/>
              <a:pPr/>
              <a:t>75</a:t>
            </a:fld>
            <a:endParaRPr lang="en-IN"/>
          </a:p>
        </p:txBody>
      </p:sp>
    </p:spTree>
    <p:extLst>
      <p:ext uri="{BB962C8B-B14F-4D97-AF65-F5344CB8AC3E}">
        <p14:creationId xmlns:p14="http://schemas.microsoft.com/office/powerpoint/2010/main" val="18290873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3D4D4-5797-1846-567D-AD701C822EB7}"/>
              </a:ext>
            </a:extLst>
          </p:cNvPr>
          <p:cNvSpPr>
            <a:spLocks noGrp="1"/>
          </p:cNvSpPr>
          <p:nvPr>
            <p:ph type="title"/>
          </p:nvPr>
        </p:nvSpPr>
        <p:spPr>
          <a:xfrm>
            <a:off x="0" y="753533"/>
            <a:ext cx="12192000" cy="3140041"/>
          </a:xfrm>
        </p:spPr>
        <p:txBody>
          <a:bodyPr>
            <a:normAutofit fontScale="90000"/>
          </a:bodyPr>
          <a:lstStyle/>
          <a:p>
            <a:r>
              <a:rPr lang="en-IN">
                <a:solidFill>
                  <a:srgbClr val="FFFF00"/>
                </a:solidFill>
              </a:rPr>
              <a:t>॥ ७८॥ </a:t>
            </a:r>
            <a:r>
              <a:rPr lang="en-IN"/>
              <a:t>मारुतवच्च मन्दं शीघ्रं वा वर्षति। तथाप्यभ्रम् अयतीति। यत्रयत्रवता मारुतोपरंस्यति तत्रतत्र वर्षति। यत्र सम्बध्यति तत्र इन्द्रकार्मुकं भवति इत्याह गर्गः। तत् वियदाधारो हि। तदा मत्स्यश्च प्रतिसूर्यकश्च भवति। वायुवशात् एव नानारचनावकीर्यमाणानि अभ्राण्युपशाम्यन्ति। यास्तु सूरसन्निकृष्टाः आपः वायुविशेषान्न पतन्ति, ताः सौर्येण तेजसा अपहन्यन्ते। तेन करकाः सम्भवन्ति। ते निपतन्तो पतन्ति। तेषां तु पतितानां भौमेन तेजसा विलयनं भवति इत्याह गर्गः॥</a:t>
            </a:r>
          </a:p>
        </p:txBody>
      </p:sp>
      <p:sp>
        <p:nvSpPr>
          <p:cNvPr id="3" name="Slide Number Placeholder 2">
            <a:extLst>
              <a:ext uri="{FF2B5EF4-FFF2-40B4-BE49-F238E27FC236}">
                <a16:creationId xmlns:a16="http://schemas.microsoft.com/office/drawing/2014/main" id="{DC2300FA-149A-6304-A308-541A404B1439}"/>
              </a:ext>
            </a:extLst>
          </p:cNvPr>
          <p:cNvSpPr>
            <a:spLocks noGrp="1"/>
          </p:cNvSpPr>
          <p:nvPr>
            <p:ph type="sldNum" sz="quarter" idx="12"/>
          </p:nvPr>
        </p:nvSpPr>
        <p:spPr/>
        <p:txBody>
          <a:bodyPr/>
          <a:lstStyle/>
          <a:p>
            <a:fld id="{5AFE2CDC-18D4-4E7A-A4BC-D5EDA5D6481E}" type="slidenum">
              <a:rPr lang="en-IN" smtClean="0"/>
              <a:t>76</a:t>
            </a:fld>
            <a:endParaRPr lang="en-IN"/>
          </a:p>
        </p:txBody>
      </p:sp>
      <p:sp>
        <p:nvSpPr>
          <p:cNvPr id="4" name="Footer Placeholder 3">
            <a:extLst>
              <a:ext uri="{FF2B5EF4-FFF2-40B4-BE49-F238E27FC236}">
                <a16:creationId xmlns:a16="http://schemas.microsoft.com/office/drawing/2014/main" id="{AE2ACA08-B772-A021-752B-3D11397B7D56}"/>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2146617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19329-51C8-15EE-DFB1-5413EE507F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4CF052F-9E9A-EF92-B0F2-2F4E1693463D}"/>
              </a:ext>
            </a:extLst>
          </p:cNvPr>
          <p:cNvSpPr>
            <a:spLocks noGrp="1"/>
          </p:cNvSpPr>
          <p:nvPr>
            <p:ph idx="1"/>
          </p:nvPr>
        </p:nvSpPr>
        <p:spPr/>
        <p:txBody>
          <a:bodyPr/>
          <a:lstStyle/>
          <a:p>
            <a:r>
              <a:rPr lang="en-IN"/>
              <a:t>वायुमाश्रित्वा शीघ्रं वा मन्दं वा वर्षति। </a:t>
            </a:r>
          </a:p>
          <a:p>
            <a:r>
              <a:rPr lang="en-IN"/>
              <a:t>अभ्राणि सर्वदा भ्रमन्ति। यत्र वायुः तिष्ठति तत्र वर्षति।</a:t>
            </a:r>
          </a:p>
          <a:p>
            <a:r>
              <a:rPr lang="en-IN"/>
              <a:t>यत्र अभ्रणां प्रतिबन्धनं भवति तत्र इन्द्रधनुः भवति। </a:t>
            </a:r>
          </a:p>
          <a:p>
            <a:r>
              <a:rPr lang="en-IN"/>
              <a:t>कदापि प्रतिसूर्यः अपि </a:t>
            </a:r>
            <a:r>
              <a:rPr lang="en-IN" sz="1600" i="1"/>
              <a:t>(parhelion – halo around the sun)</a:t>
            </a:r>
            <a:r>
              <a:rPr lang="en-IN"/>
              <a:t> भवति।</a:t>
            </a:r>
          </a:p>
          <a:p>
            <a:r>
              <a:rPr lang="en-IN"/>
              <a:t>वायुवशात् अभ्राणि शाम्यन्ति।</a:t>
            </a:r>
          </a:p>
          <a:p>
            <a:r>
              <a:rPr lang="en-IN"/>
              <a:t>यत् जलं सूर्यस्य समीपे अस्ति तत् न पतति। सूर्यतेजसा बद्धं भवति।</a:t>
            </a:r>
          </a:p>
          <a:p>
            <a:r>
              <a:rPr lang="en-IN"/>
              <a:t>तस्मात् हिमखण्डाः उत्पाद्यन्ते पतन्ति च। </a:t>
            </a:r>
            <a:r>
              <a:rPr lang="en-IN" sz="1600" i="1"/>
              <a:t>(hail/snow)</a:t>
            </a:r>
            <a:endParaRPr lang="en-IN" i="1"/>
          </a:p>
          <a:p>
            <a:r>
              <a:rPr lang="en-IN"/>
              <a:t>ये हिमखण्डाः पतन्ति ते भूमेः तेजसा विद्रवन्ति।</a:t>
            </a:r>
          </a:p>
        </p:txBody>
      </p:sp>
      <p:sp>
        <p:nvSpPr>
          <p:cNvPr id="4" name="Footer Placeholder 3">
            <a:extLst>
              <a:ext uri="{FF2B5EF4-FFF2-40B4-BE49-F238E27FC236}">
                <a16:creationId xmlns:a16="http://schemas.microsoft.com/office/drawing/2014/main" id="{9C4AF3AD-0B7C-660E-F123-0113AB9B2FE6}"/>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B2F89052-9E76-B29D-6BFE-97DB0D7EA977}"/>
              </a:ext>
            </a:extLst>
          </p:cNvPr>
          <p:cNvSpPr>
            <a:spLocks noGrp="1"/>
          </p:cNvSpPr>
          <p:nvPr>
            <p:ph type="sldNum" sz="quarter" idx="12"/>
          </p:nvPr>
        </p:nvSpPr>
        <p:spPr/>
        <p:txBody>
          <a:bodyPr/>
          <a:lstStyle/>
          <a:p>
            <a:fld id="{5AFE2CDC-18D4-4E7A-A4BC-D5EDA5D6481E}" type="slidenum">
              <a:rPr lang="en-IN" smtClean="0"/>
              <a:pPr/>
              <a:t>77</a:t>
            </a:fld>
            <a:endParaRPr lang="en-IN"/>
          </a:p>
        </p:txBody>
      </p:sp>
      <p:pic>
        <p:nvPicPr>
          <p:cNvPr id="7" name="Picture 6">
            <a:extLst>
              <a:ext uri="{FF2B5EF4-FFF2-40B4-BE49-F238E27FC236}">
                <a16:creationId xmlns:a16="http://schemas.microsoft.com/office/drawing/2014/main" id="{4E7C745A-9B99-9E7B-C909-32B008571B1D}"/>
              </a:ext>
            </a:extLst>
          </p:cNvPr>
          <p:cNvPicPr>
            <a:picLocks noChangeAspect="1"/>
          </p:cNvPicPr>
          <p:nvPr/>
        </p:nvPicPr>
        <p:blipFill>
          <a:blip r:embed="rId2"/>
          <a:stretch>
            <a:fillRect/>
          </a:stretch>
        </p:blipFill>
        <p:spPr>
          <a:xfrm>
            <a:off x="8258009" y="2194560"/>
            <a:ext cx="2381582" cy="1781424"/>
          </a:xfrm>
          <a:prstGeom prst="rect">
            <a:avLst/>
          </a:prstGeom>
        </p:spPr>
      </p:pic>
    </p:spTree>
    <p:extLst>
      <p:ext uri="{BB962C8B-B14F-4D97-AF65-F5344CB8AC3E}">
        <p14:creationId xmlns:p14="http://schemas.microsoft.com/office/powerpoint/2010/main" val="27231155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30291-AF97-5C03-5A82-103F5A15B2D5}"/>
              </a:ext>
            </a:extLst>
          </p:cNvPr>
          <p:cNvSpPr>
            <a:spLocks noGrp="1"/>
          </p:cNvSpPr>
          <p:nvPr>
            <p:ph type="title"/>
          </p:nvPr>
        </p:nvSpPr>
        <p:spPr>
          <a:xfrm>
            <a:off x="0" y="212758"/>
            <a:ext cx="12192000" cy="4477228"/>
          </a:xfrm>
        </p:spPr>
        <p:txBody>
          <a:bodyPr>
            <a:noAutofit/>
          </a:bodyPr>
          <a:lstStyle/>
          <a:p>
            <a:r>
              <a:rPr lang="en-IN" sz="3500">
                <a:solidFill>
                  <a:srgbClr val="FFFF00"/>
                </a:solidFill>
              </a:rPr>
              <a:t>॥ ७९॥ </a:t>
            </a:r>
            <a:r>
              <a:rPr lang="en-IN" sz="3500"/>
              <a:t>बृहस्पतिशुक्रदिवाकराः तु अन्ये एते सर्व एव च ग्रहाः भावाभावं निर्देशतो याति निर्देशति इत्याह गर्हः॥</a:t>
            </a:r>
            <a:br>
              <a:rPr lang="en-IN" sz="3500"/>
            </a:br>
            <a:r>
              <a:rPr lang="en-IN" sz="3500">
                <a:solidFill>
                  <a:srgbClr val="FFFF00"/>
                </a:solidFill>
              </a:rPr>
              <a:t>॥ ८०॥ </a:t>
            </a:r>
            <a:r>
              <a:rPr lang="en-IN" sz="3500"/>
              <a:t>संहता मारुताः सर्वतो मुखाः, सर्वासु दिक्षु वान्ति, नीचैः चोच्चैः मन्दं शीघ्रं च। सूर्यरश्मिभिः तु पृच्यमानानि च अत्यन्तर्हिताः धुन्वन्ति स्थावरजङ्गमानि भूतानि। न चैषां शरीराणि दृश्यन्ते। सर्वगतित्वाच्चैते सर्व तुष्ट-इष्टतो निवर्तन्ति॥</a:t>
            </a:r>
            <a:br>
              <a:rPr lang="en-IN" sz="3500"/>
            </a:br>
            <a:r>
              <a:rPr lang="en-IN" sz="3500">
                <a:solidFill>
                  <a:srgbClr val="FFFF00"/>
                </a:solidFill>
              </a:rPr>
              <a:t>॥ ८१॥ </a:t>
            </a:r>
            <a:r>
              <a:rPr lang="en-IN" sz="3500"/>
              <a:t>सन्ध्यां पुनः आदित्यो दीपयति। तथा दिशासु दिग्मोहो भवति। नानाप्रकारान् वर्नान् अभ्रांश्च पुष्यन्ति। विकारात् ऐरावतेन्द्रधनुः प्रतिसूर्यकः तु, अभ्राणां च वर्णाकृतिविकाराः सर्वम् आदित्यरश्मिविकारात् भवति। आदित्य-गत्या चैव दिवसस्य रात्रेश्च, अहोरात्रयोः सन्धिः भवति, सा सन्ध्या। तस्मात् सन्ध्या उच्यते॥</a:t>
            </a:r>
          </a:p>
        </p:txBody>
      </p:sp>
      <p:sp>
        <p:nvSpPr>
          <p:cNvPr id="3" name="Slide Number Placeholder 2">
            <a:extLst>
              <a:ext uri="{FF2B5EF4-FFF2-40B4-BE49-F238E27FC236}">
                <a16:creationId xmlns:a16="http://schemas.microsoft.com/office/drawing/2014/main" id="{6C3244FD-93BC-712F-95A1-119E358F6B01}"/>
              </a:ext>
            </a:extLst>
          </p:cNvPr>
          <p:cNvSpPr>
            <a:spLocks noGrp="1"/>
          </p:cNvSpPr>
          <p:nvPr>
            <p:ph type="sldNum" sz="quarter" idx="12"/>
          </p:nvPr>
        </p:nvSpPr>
        <p:spPr/>
        <p:txBody>
          <a:bodyPr/>
          <a:lstStyle/>
          <a:p>
            <a:fld id="{5AFE2CDC-18D4-4E7A-A4BC-D5EDA5D6481E}" type="slidenum">
              <a:rPr lang="en-IN" smtClean="0"/>
              <a:t>78</a:t>
            </a:fld>
            <a:endParaRPr lang="en-IN"/>
          </a:p>
        </p:txBody>
      </p:sp>
      <p:sp>
        <p:nvSpPr>
          <p:cNvPr id="4" name="Footer Placeholder 3">
            <a:extLst>
              <a:ext uri="{FF2B5EF4-FFF2-40B4-BE49-F238E27FC236}">
                <a16:creationId xmlns:a16="http://schemas.microsoft.com/office/drawing/2014/main" id="{E2056474-4D1B-A451-9001-E27AD8A31727}"/>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1416355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FAE34D-09CE-809B-D39A-83BE3F9EA69C}"/>
              </a:ext>
            </a:extLst>
          </p:cNvPr>
          <p:cNvSpPr>
            <a:spLocks noGrp="1"/>
          </p:cNvSpPr>
          <p:nvPr>
            <p:ph idx="1"/>
          </p:nvPr>
        </p:nvSpPr>
        <p:spPr/>
        <p:txBody>
          <a:bodyPr/>
          <a:lstStyle/>
          <a:p>
            <a:r>
              <a:rPr lang="en-IN"/>
              <a:t>सर्वे ग्रहाः भावाभावं निर्देशनार्थं चलन्ति।</a:t>
            </a:r>
          </a:p>
          <a:p>
            <a:r>
              <a:rPr lang="en-IN"/>
              <a:t>सर्वतोमुखाः मारुताः सर्वासु दिक्षु सर्वप्रकारेषु अनिश्चितसमयेशु वान्ति।</a:t>
            </a:r>
          </a:p>
          <a:p>
            <a:r>
              <a:rPr lang="en-IN"/>
              <a:t>सूर्यरश्मिभिः सह ते सर्वाणि भूतानि स्थावरगङ्गमानि च कम्पयन्ति।</a:t>
            </a:r>
          </a:p>
          <a:p>
            <a:r>
              <a:rPr lang="en-IN"/>
              <a:t>तदा दिशासु भ्रमः भवति। नानाप्रकाराणि अभ्राणि उत्पाद्यन्ते।</a:t>
            </a:r>
          </a:p>
          <a:p>
            <a:r>
              <a:rPr lang="en-IN"/>
              <a:t>तदा ऐरावतः </a:t>
            </a:r>
            <a:r>
              <a:rPr lang="en-IN" sz="1600" i="1"/>
              <a:t>(elephantine clouds)</a:t>
            </a:r>
            <a:r>
              <a:rPr lang="en-IN"/>
              <a:t> इन्द्रधनुः </a:t>
            </a:r>
            <a:r>
              <a:rPr lang="en-IN" sz="1600" i="1"/>
              <a:t>(rainbow)</a:t>
            </a:r>
            <a:r>
              <a:rPr lang="en-IN"/>
              <a:t> प्रतिसूर्यः </a:t>
            </a:r>
            <a:r>
              <a:rPr lang="en-IN" sz="1600" i="1"/>
              <a:t>(halos)</a:t>
            </a:r>
            <a:r>
              <a:rPr lang="en-IN"/>
              <a:t> वा दृष्यन्ते। एते सर्वे सूर्यरश्मीनां विकारात् वर्तन्ते। </a:t>
            </a:r>
            <a:r>
              <a:rPr lang="en-IN" sz="1400" i="1"/>
              <a:t>(diffraction)</a:t>
            </a:r>
            <a:endParaRPr lang="en-IN"/>
          </a:p>
          <a:p>
            <a:r>
              <a:rPr lang="en-IN"/>
              <a:t>सूर्यस्य गतिना दिनरात्र्योः सन्धिः भवति। सा सन्ध्या।</a:t>
            </a:r>
          </a:p>
        </p:txBody>
      </p:sp>
      <p:sp>
        <p:nvSpPr>
          <p:cNvPr id="4" name="Footer Placeholder 3">
            <a:extLst>
              <a:ext uri="{FF2B5EF4-FFF2-40B4-BE49-F238E27FC236}">
                <a16:creationId xmlns:a16="http://schemas.microsoft.com/office/drawing/2014/main" id="{068986DA-EF12-E692-1386-49E4A59814BF}"/>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D88B302E-97B1-0F8D-36F0-40707CBFF2FD}"/>
              </a:ext>
            </a:extLst>
          </p:cNvPr>
          <p:cNvSpPr>
            <a:spLocks noGrp="1"/>
          </p:cNvSpPr>
          <p:nvPr>
            <p:ph type="sldNum" sz="quarter" idx="12"/>
          </p:nvPr>
        </p:nvSpPr>
        <p:spPr/>
        <p:txBody>
          <a:bodyPr/>
          <a:lstStyle/>
          <a:p>
            <a:fld id="{5AFE2CDC-18D4-4E7A-A4BC-D5EDA5D6481E}" type="slidenum">
              <a:rPr lang="en-IN" smtClean="0"/>
              <a:pPr/>
              <a:t>79</a:t>
            </a:fld>
            <a:endParaRPr lang="en-IN"/>
          </a:p>
        </p:txBody>
      </p:sp>
    </p:spTree>
    <p:extLst>
      <p:ext uri="{BB962C8B-B14F-4D97-AF65-F5344CB8AC3E}">
        <p14:creationId xmlns:p14="http://schemas.microsoft.com/office/powerpoint/2010/main" val="39565225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963D-442B-4282-C7A1-6C27912315BB}"/>
              </a:ext>
            </a:extLst>
          </p:cNvPr>
          <p:cNvSpPr>
            <a:spLocks noGrp="1"/>
          </p:cNvSpPr>
          <p:nvPr>
            <p:ph type="title"/>
          </p:nvPr>
        </p:nvSpPr>
        <p:spPr/>
        <p:txBody>
          <a:bodyPr>
            <a:normAutofit fontScale="90000"/>
          </a:bodyPr>
          <a:lstStyle/>
          <a:p>
            <a:r>
              <a:rPr lang="en-IN">
                <a:solidFill>
                  <a:srgbClr val="FFFF00"/>
                </a:solidFill>
              </a:rPr>
              <a:t>॥ ८२॥ </a:t>
            </a:r>
            <a:r>
              <a:rPr lang="en-IN"/>
              <a:t>यावान् आदित्यो रात्रौ दिवा वा परिवर्तमानो मेरुं वायुना सह समाविशति, स तावानेव सोग्निं रमति। रश्मिभिः संपीडते रश्मिभूतस्तेजसा सह वायुना प्रधावति। सा उल्का भवति। वायुवशात् प्रधावती महीं वान्तरिक्षे मन्दप्रभावा। तथा अङ्गारिणी दूरशनिः मन्दगतिः वा सर्वभूतानि उपतापयन्ति इति। भावाभावनिदर्शनार्थम् इत्याह गर्गः॥</a:t>
            </a:r>
          </a:p>
        </p:txBody>
      </p:sp>
      <p:sp>
        <p:nvSpPr>
          <p:cNvPr id="3" name="Slide Number Placeholder 2">
            <a:extLst>
              <a:ext uri="{FF2B5EF4-FFF2-40B4-BE49-F238E27FC236}">
                <a16:creationId xmlns:a16="http://schemas.microsoft.com/office/drawing/2014/main" id="{E12AA7F4-F730-B1C2-91C4-26E5BF69EF01}"/>
              </a:ext>
            </a:extLst>
          </p:cNvPr>
          <p:cNvSpPr>
            <a:spLocks noGrp="1"/>
          </p:cNvSpPr>
          <p:nvPr>
            <p:ph type="sldNum" sz="quarter" idx="12"/>
          </p:nvPr>
        </p:nvSpPr>
        <p:spPr/>
        <p:txBody>
          <a:bodyPr/>
          <a:lstStyle/>
          <a:p>
            <a:fld id="{5AFE2CDC-18D4-4E7A-A4BC-D5EDA5D6481E}" type="slidenum">
              <a:rPr lang="en-IN" smtClean="0"/>
              <a:t>80</a:t>
            </a:fld>
            <a:endParaRPr lang="en-IN"/>
          </a:p>
        </p:txBody>
      </p:sp>
      <p:sp>
        <p:nvSpPr>
          <p:cNvPr id="4" name="Footer Placeholder 3">
            <a:extLst>
              <a:ext uri="{FF2B5EF4-FFF2-40B4-BE49-F238E27FC236}">
                <a16:creationId xmlns:a16="http://schemas.microsoft.com/office/drawing/2014/main" id="{B22FB65A-A79D-C606-0642-80D3672FE25E}"/>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5676234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E9C820-7584-D046-BD45-D8A8962DE170}"/>
              </a:ext>
            </a:extLst>
          </p:cNvPr>
          <p:cNvSpPr>
            <a:spLocks noGrp="1"/>
          </p:cNvSpPr>
          <p:nvPr>
            <p:ph idx="1"/>
          </p:nvPr>
        </p:nvSpPr>
        <p:spPr/>
        <p:txBody>
          <a:bodyPr/>
          <a:lstStyle/>
          <a:p>
            <a:r>
              <a:rPr lang="en-IN"/>
              <a:t>सूर्यः वायुना सह यावान् मेरौ तिष्ठति तावान् एव सः अग्निसहितः भवति।</a:t>
            </a:r>
          </a:p>
          <a:p>
            <a:r>
              <a:rPr lang="en-IN"/>
              <a:t>सः रश्मिभिः पीडयन् अग्निः वायुना सह वहन् उल्कः </a:t>
            </a:r>
            <a:r>
              <a:rPr lang="en-IN" sz="1600" i="1"/>
              <a:t>(meteor)</a:t>
            </a:r>
            <a:r>
              <a:rPr lang="en-IN"/>
              <a:t> भवति।</a:t>
            </a:r>
          </a:p>
          <a:p>
            <a:r>
              <a:rPr lang="en-IN"/>
              <a:t>सः उल्कः च वायुवशात् भूमिं प्रति आगच्छति। </a:t>
            </a:r>
          </a:p>
          <a:p>
            <a:r>
              <a:rPr lang="en-IN"/>
              <a:t>परन्तु अन्तरिक्षे मन्धं भवति।</a:t>
            </a:r>
          </a:p>
          <a:p>
            <a:r>
              <a:rPr lang="en-IN"/>
              <a:t>तथा ते मन्दगतयः भूतानि पीडयन्ति।</a:t>
            </a:r>
          </a:p>
        </p:txBody>
      </p:sp>
      <p:sp>
        <p:nvSpPr>
          <p:cNvPr id="4" name="Footer Placeholder 3">
            <a:extLst>
              <a:ext uri="{FF2B5EF4-FFF2-40B4-BE49-F238E27FC236}">
                <a16:creationId xmlns:a16="http://schemas.microsoft.com/office/drawing/2014/main" id="{8ADC3D02-85D8-16A8-6FF6-B44D14D49E47}"/>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BD61DA64-CD56-33AC-F0C2-EC28B8E85366}"/>
              </a:ext>
            </a:extLst>
          </p:cNvPr>
          <p:cNvSpPr>
            <a:spLocks noGrp="1"/>
          </p:cNvSpPr>
          <p:nvPr>
            <p:ph type="sldNum" sz="quarter" idx="12"/>
          </p:nvPr>
        </p:nvSpPr>
        <p:spPr/>
        <p:txBody>
          <a:bodyPr/>
          <a:lstStyle/>
          <a:p>
            <a:fld id="{5AFE2CDC-18D4-4E7A-A4BC-D5EDA5D6481E}" type="slidenum">
              <a:rPr lang="en-IN" smtClean="0"/>
              <a:pPr/>
              <a:t>81</a:t>
            </a:fld>
            <a:endParaRPr lang="en-IN"/>
          </a:p>
        </p:txBody>
      </p:sp>
    </p:spTree>
    <p:extLst>
      <p:ext uri="{BB962C8B-B14F-4D97-AF65-F5344CB8AC3E}">
        <p14:creationId xmlns:p14="http://schemas.microsoft.com/office/powerpoint/2010/main" val="42332614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E208E-EC72-99B9-ADF5-EE1F057B5197}"/>
              </a:ext>
            </a:extLst>
          </p:cNvPr>
          <p:cNvSpPr>
            <a:spLocks noGrp="1"/>
          </p:cNvSpPr>
          <p:nvPr>
            <p:ph type="title"/>
          </p:nvPr>
        </p:nvSpPr>
        <p:spPr>
          <a:xfrm>
            <a:off x="0" y="124269"/>
            <a:ext cx="12192000" cy="4605048"/>
          </a:xfrm>
        </p:spPr>
        <p:txBody>
          <a:bodyPr>
            <a:normAutofit fontScale="90000"/>
          </a:bodyPr>
          <a:lstStyle/>
          <a:p>
            <a:r>
              <a:rPr lang="en-IN">
                <a:solidFill>
                  <a:srgbClr val="FFFF00"/>
                </a:solidFill>
              </a:rPr>
              <a:t>॥ ८३॥ </a:t>
            </a:r>
            <a:r>
              <a:rPr lang="en-IN"/>
              <a:t>पृथिवीमिमां चत्वारः महीधराः स्ववीर्येण पालयन्ति। इन्द्रश्च अग्निश्च वायुश्च अपांपतिरिति भवन्ति। स्थानं भवति इत्याह गर्गः। वसिष्ठस्त्वाह इति हि स्वात्मप्रतिष्ठितत्वात्। प्रतिष्ठितम् आकाशम्। प्रतिष्ठिताः आपः। अप्सु सत्यं च प्रतिष्ठितम्। तेन पृथिवी। नस्यो __* यदा कर्णवायुरना __* पृथिवीं धारयन्ति। सेयमनिलोद्धता कम्पति दर्शनार्थम् इति॥</a:t>
            </a:r>
            <a:br>
              <a:rPr lang="en-IN"/>
            </a:br>
            <a:r>
              <a:rPr lang="en-IN">
                <a:solidFill>
                  <a:srgbClr val="FFFF00"/>
                </a:solidFill>
              </a:rPr>
              <a:t>॥ ८४॥ </a:t>
            </a:r>
            <a:r>
              <a:rPr lang="en-IN"/>
              <a:t>यदा अन्तरिक्षे वायुः शीघ्रो प्रतिहतः अनिलः पतत्यधशः निर्घातः भवति इत्याह गर्गः॥</a:t>
            </a:r>
            <a:br>
              <a:rPr lang="en-IN"/>
            </a:br>
            <a:r>
              <a:rPr lang="en-IN">
                <a:solidFill>
                  <a:srgbClr val="FFFF00"/>
                </a:solidFill>
              </a:rPr>
              <a:t>॥ ८५॥ </a:t>
            </a:r>
            <a:r>
              <a:rPr lang="en-IN"/>
              <a:t>सूर्याचन्द्रमसोस्त्विमे ग्रहाणां परिवेषाः सर्वे रश्मिविकारात् ह्रस्वाः महान्तो वा खण्डखण्डमण्डलाः शुभाशुभानुलक्षणाः वा लोकं सन्दर्शयन्ति इत्याह गर्गः॥</a:t>
            </a:r>
          </a:p>
        </p:txBody>
      </p:sp>
      <p:sp>
        <p:nvSpPr>
          <p:cNvPr id="3" name="Slide Number Placeholder 2">
            <a:extLst>
              <a:ext uri="{FF2B5EF4-FFF2-40B4-BE49-F238E27FC236}">
                <a16:creationId xmlns:a16="http://schemas.microsoft.com/office/drawing/2014/main" id="{9025FEF9-9B6D-251A-136F-B99C3B36A175}"/>
              </a:ext>
            </a:extLst>
          </p:cNvPr>
          <p:cNvSpPr>
            <a:spLocks noGrp="1"/>
          </p:cNvSpPr>
          <p:nvPr>
            <p:ph type="sldNum" sz="quarter" idx="12"/>
          </p:nvPr>
        </p:nvSpPr>
        <p:spPr/>
        <p:txBody>
          <a:bodyPr/>
          <a:lstStyle/>
          <a:p>
            <a:fld id="{5AFE2CDC-18D4-4E7A-A4BC-D5EDA5D6481E}" type="slidenum">
              <a:rPr lang="en-IN" smtClean="0"/>
              <a:t>82</a:t>
            </a:fld>
            <a:endParaRPr lang="en-IN"/>
          </a:p>
        </p:txBody>
      </p:sp>
      <p:sp>
        <p:nvSpPr>
          <p:cNvPr id="4" name="Footer Placeholder 3">
            <a:extLst>
              <a:ext uri="{FF2B5EF4-FFF2-40B4-BE49-F238E27FC236}">
                <a16:creationId xmlns:a16="http://schemas.microsoft.com/office/drawing/2014/main" id="{73EC5EFF-A033-2B90-0DE1-130DCD4B768B}"/>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1FEC88-FACA-0216-F994-EB537B21A952}"/>
                  </a:ext>
                </a:extLst>
              </p:cNvPr>
              <p:cNvSpPr txBox="1"/>
              <p:nvPr/>
            </p:nvSpPr>
            <p:spPr>
              <a:xfrm>
                <a:off x="2772696" y="5614219"/>
                <a:ext cx="2646878" cy="369332"/>
              </a:xfrm>
              <a:prstGeom prst="rect">
                <a:avLst/>
              </a:prstGeom>
              <a:noFill/>
            </p:spPr>
            <p:txBody>
              <a:bodyPr wrap="none" rtlCol="0">
                <a:spAutoFit/>
              </a:bodyPr>
              <a:lstStyle/>
              <a:p>
                <a:r>
                  <a:rPr lang="en-IN" sz="1800"/>
                  <a:t>* </a:t>
                </a:r>
                <a14:m>
                  <m:oMath xmlns:m="http://schemas.openxmlformats.org/officeDocument/2006/math">
                    <m:r>
                      <a:rPr lang="en-IN" sz="1800" smtClean="0">
                        <a:latin typeface="Cambria Math" panose="02040503050406030204" pitchFamily="18" charset="0"/>
                      </a:rPr>
                      <m:t>⇒</m:t>
                    </m:r>
                    <m:r>
                      <a:rPr lang="en-IN" sz="1800" b="0" i="0" smtClean="0">
                        <a:latin typeface="Cambria Math" panose="02040503050406030204" pitchFamily="18" charset="0"/>
                      </a:rPr>
                      <m:t> </m:t>
                    </m:r>
                  </m:oMath>
                </a14:m>
                <a:r>
                  <a:rPr lang="en-IN" sz="1800"/>
                  <a:t>कानिचन वाक्यानि लुप्तानि।</a:t>
                </a:r>
                <a:endParaRPr lang="en-IN" sz="1800" i="1"/>
              </a:p>
            </p:txBody>
          </p:sp>
        </mc:Choice>
        <mc:Fallback xmlns="">
          <p:sp>
            <p:nvSpPr>
              <p:cNvPr id="5" name="TextBox 4">
                <a:extLst>
                  <a:ext uri="{FF2B5EF4-FFF2-40B4-BE49-F238E27FC236}">
                    <a16:creationId xmlns:a16="http://schemas.microsoft.com/office/drawing/2014/main" id="{171FEC88-FACA-0216-F994-EB537B21A952}"/>
                  </a:ext>
                </a:extLst>
              </p:cNvPr>
              <p:cNvSpPr txBox="1">
                <a:spLocks noRot="1" noChangeAspect="1" noMove="1" noResize="1" noEditPoints="1" noAdjustHandles="1" noChangeArrowheads="1" noChangeShapeType="1" noTextEdit="1"/>
              </p:cNvSpPr>
              <p:nvPr/>
            </p:nvSpPr>
            <p:spPr>
              <a:xfrm>
                <a:off x="2772696" y="5614219"/>
                <a:ext cx="2646878" cy="369332"/>
              </a:xfrm>
              <a:prstGeom prst="rect">
                <a:avLst/>
              </a:prstGeom>
              <a:blipFill>
                <a:blip r:embed="rId2"/>
                <a:stretch>
                  <a:fillRect l="-2074" t="-8197" r="-1152" b="-26230"/>
                </a:stretch>
              </a:blipFill>
            </p:spPr>
            <p:txBody>
              <a:bodyPr/>
              <a:lstStyle/>
              <a:p>
                <a:r>
                  <a:rPr lang="en-IN">
                    <a:noFill/>
                  </a:rPr>
                  <a:t> </a:t>
                </a:r>
              </a:p>
            </p:txBody>
          </p:sp>
        </mc:Fallback>
      </mc:AlternateContent>
    </p:spTree>
    <p:extLst>
      <p:ext uri="{BB962C8B-B14F-4D97-AF65-F5344CB8AC3E}">
        <p14:creationId xmlns:p14="http://schemas.microsoft.com/office/powerpoint/2010/main" val="23190206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4892F0-E564-D4F9-A142-097339A2823A}"/>
              </a:ext>
            </a:extLst>
          </p:cNvPr>
          <p:cNvSpPr>
            <a:spLocks noGrp="1"/>
          </p:cNvSpPr>
          <p:nvPr>
            <p:ph idx="1"/>
          </p:nvPr>
        </p:nvSpPr>
        <p:spPr/>
        <p:txBody>
          <a:bodyPr>
            <a:normAutofit/>
          </a:bodyPr>
          <a:lstStyle/>
          <a:p>
            <a:r>
              <a:rPr lang="en-IN"/>
              <a:t>चत्वारः महीधराः (इन्द्रः अग्निः वायुः अपांपतिः) पृथिवीं पालयति। तैः पृथिवी एकस्थानं भवति।</a:t>
            </a:r>
          </a:p>
          <a:p>
            <a:r>
              <a:rPr lang="en-IN"/>
              <a:t>अत्र आकाशः प्रतिष्ठितः। जलं च प्रतिष्ठितम्। जले सत्यं प्रतिष्ठति। तस्मात् पृथिवी प्रतिष्ठिता। </a:t>
            </a:r>
            <a:r>
              <a:rPr lang="en-IN" sz="1800"/>
              <a:t>(इति वसिष्ठः वदति)</a:t>
            </a:r>
          </a:p>
          <a:p>
            <a:r>
              <a:rPr lang="en-IN"/>
              <a:t>अनिलेन पृथिवी कम्पति। </a:t>
            </a:r>
            <a:r>
              <a:rPr lang="en-IN" sz="1600" i="1"/>
              <a:t>(earthquake)</a:t>
            </a:r>
            <a:endParaRPr lang="en-IN"/>
          </a:p>
          <a:p>
            <a:r>
              <a:rPr lang="en-IN"/>
              <a:t>अन्तरिक्षवायुः यदि अन्यैः शीघ्रं प्रतिहतः भवति तदा निर्घातः </a:t>
            </a:r>
            <a:r>
              <a:rPr lang="en-IN" sz="1600" i="1"/>
              <a:t>(thunderstorm)</a:t>
            </a:r>
            <a:r>
              <a:rPr lang="en-IN"/>
              <a:t> पतति।</a:t>
            </a:r>
          </a:p>
          <a:p>
            <a:r>
              <a:rPr lang="en-IN"/>
              <a:t>आकाशे ज्योतींषि रश्मेः व्याभङ्गात् </a:t>
            </a:r>
            <a:r>
              <a:rPr lang="en-IN" sz="1600" i="1"/>
              <a:t>(diffraction)</a:t>
            </a:r>
            <a:r>
              <a:rPr lang="en-IN"/>
              <a:t> दृश्यन्ते।</a:t>
            </a:r>
          </a:p>
          <a:p>
            <a:r>
              <a:rPr lang="en-IN"/>
              <a:t>तेषां मण्डलस्य खण्डाः लोके दृष्यन्ते। ते शुभाशुभानां अनुलक्षणाः।</a:t>
            </a:r>
          </a:p>
        </p:txBody>
      </p:sp>
      <p:sp>
        <p:nvSpPr>
          <p:cNvPr id="4" name="Footer Placeholder 3">
            <a:extLst>
              <a:ext uri="{FF2B5EF4-FFF2-40B4-BE49-F238E27FC236}">
                <a16:creationId xmlns:a16="http://schemas.microsoft.com/office/drawing/2014/main" id="{2BC56670-0323-63C4-B944-668432E7BE70}"/>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B5BE6A0E-7744-483E-8554-DF17028E6AB8}"/>
              </a:ext>
            </a:extLst>
          </p:cNvPr>
          <p:cNvSpPr>
            <a:spLocks noGrp="1"/>
          </p:cNvSpPr>
          <p:nvPr>
            <p:ph type="sldNum" sz="quarter" idx="12"/>
          </p:nvPr>
        </p:nvSpPr>
        <p:spPr/>
        <p:txBody>
          <a:bodyPr/>
          <a:lstStyle/>
          <a:p>
            <a:fld id="{5AFE2CDC-18D4-4E7A-A4BC-D5EDA5D6481E}" type="slidenum">
              <a:rPr lang="en-IN" smtClean="0"/>
              <a:pPr/>
              <a:t>83</a:t>
            </a:fld>
            <a:endParaRPr lang="en-IN"/>
          </a:p>
        </p:txBody>
      </p:sp>
    </p:spTree>
    <p:extLst>
      <p:ext uri="{BB962C8B-B14F-4D97-AF65-F5344CB8AC3E}">
        <p14:creationId xmlns:p14="http://schemas.microsoft.com/office/powerpoint/2010/main" val="34169331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25D5B16-31CA-B411-CB39-DDBB55B3C5F7}"/>
              </a:ext>
            </a:extLst>
          </p:cNvPr>
          <p:cNvSpPr>
            <a:spLocks noGrp="1"/>
          </p:cNvSpPr>
          <p:nvPr>
            <p:ph type="title"/>
          </p:nvPr>
        </p:nvSpPr>
        <p:spPr/>
        <p:txBody>
          <a:bodyPr/>
          <a:lstStyle/>
          <a:p>
            <a:r>
              <a:rPr lang="en-IN"/>
              <a:t>नक्षत्राणि</a:t>
            </a:r>
          </a:p>
        </p:txBody>
      </p:sp>
      <p:sp>
        <p:nvSpPr>
          <p:cNvPr id="7" name="Text Placeholder 6">
            <a:extLst>
              <a:ext uri="{FF2B5EF4-FFF2-40B4-BE49-F238E27FC236}">
                <a16:creationId xmlns:a16="http://schemas.microsoft.com/office/drawing/2014/main" id="{834C9FDA-72FC-97EB-CACB-5259CBB977A0}"/>
              </a:ext>
            </a:extLst>
          </p:cNvPr>
          <p:cNvSpPr>
            <a:spLocks noGrp="1"/>
          </p:cNvSpPr>
          <p:nvPr>
            <p:ph type="body" sz="half" idx="2"/>
          </p:nvPr>
        </p:nvSpPr>
        <p:spPr/>
        <p:txBody>
          <a:bodyPr/>
          <a:lstStyle/>
          <a:p>
            <a:endParaRPr lang="en-IN"/>
          </a:p>
        </p:txBody>
      </p:sp>
      <p:sp>
        <p:nvSpPr>
          <p:cNvPr id="5" name="Slide Number Placeholder 4">
            <a:extLst>
              <a:ext uri="{FF2B5EF4-FFF2-40B4-BE49-F238E27FC236}">
                <a16:creationId xmlns:a16="http://schemas.microsoft.com/office/drawing/2014/main" id="{4CE4DB75-37C8-2E67-F113-B1EBE869AE98}"/>
              </a:ext>
            </a:extLst>
          </p:cNvPr>
          <p:cNvSpPr>
            <a:spLocks noGrp="1"/>
          </p:cNvSpPr>
          <p:nvPr>
            <p:ph type="sldNum" sz="quarter" idx="12"/>
          </p:nvPr>
        </p:nvSpPr>
        <p:spPr/>
        <p:txBody>
          <a:bodyPr/>
          <a:lstStyle/>
          <a:p>
            <a:fld id="{5AFE2CDC-18D4-4E7A-A4BC-D5EDA5D6481E}" type="slidenum">
              <a:rPr lang="en-IN" smtClean="0"/>
              <a:pPr/>
              <a:t>84</a:t>
            </a:fld>
            <a:endParaRPr lang="en-IN"/>
          </a:p>
        </p:txBody>
      </p:sp>
      <p:sp>
        <p:nvSpPr>
          <p:cNvPr id="4" name="Footer Placeholder 3">
            <a:extLst>
              <a:ext uri="{FF2B5EF4-FFF2-40B4-BE49-F238E27FC236}">
                <a16:creationId xmlns:a16="http://schemas.microsoft.com/office/drawing/2014/main" id="{2B6BD0E3-44AF-6BB0-B489-127628B709B7}"/>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5910092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E458C-740B-A2E2-B660-340A5F88AD16}"/>
              </a:ext>
            </a:extLst>
          </p:cNvPr>
          <p:cNvSpPr>
            <a:spLocks noGrp="1"/>
          </p:cNvSpPr>
          <p:nvPr>
            <p:ph type="title"/>
          </p:nvPr>
        </p:nvSpPr>
        <p:spPr>
          <a:xfrm>
            <a:off x="0" y="412954"/>
            <a:ext cx="12192000" cy="4280583"/>
          </a:xfrm>
        </p:spPr>
        <p:txBody>
          <a:bodyPr>
            <a:noAutofit/>
          </a:bodyPr>
          <a:lstStyle/>
          <a:p>
            <a:r>
              <a:rPr lang="en-IN" sz="3310">
                <a:solidFill>
                  <a:srgbClr val="FFFF00"/>
                </a:solidFill>
              </a:rPr>
              <a:t>॥ ८६॥ </a:t>
            </a:r>
            <a:r>
              <a:rPr lang="en-IN" sz="3310"/>
              <a:t>प्रजापतेः तु दक्षस्य दुहितरः सप्तविंशतिम् अष्टाविंशतिम् अन्ये मन्यन्ते। ताः सर्वाः आवृत्य द्रव्यवत्यः सोमाय प्रयच्छता धर्मं चरस्व सर्वासु संवर्तस्व इति। स तथा इति उवाच, पुत्र इति, परमम् इति, उवाच। सोमः तु आसां इदाणीम् अतीव रोचिष्मती दर्शनीया च सती रोहिणी तस्यां वै रोहिण्यां कामाभिभूतः सोमः रोहिण्याम् एव अवसत् नेतरासु॥</a:t>
            </a:r>
            <a:br>
              <a:rPr lang="en-IN" sz="3310"/>
            </a:br>
            <a:r>
              <a:rPr lang="en-IN" sz="3310">
                <a:solidFill>
                  <a:srgbClr val="FFFF00"/>
                </a:solidFill>
              </a:rPr>
              <a:t>॥ ८७॥ </a:t>
            </a:r>
            <a:r>
              <a:rPr lang="en-IN" sz="3310"/>
              <a:t>ततः अन्याः दक्षसुताः सर्वाः समेत्य प्रजापतिशकासम् अगच्छन्। इमाः वै भवता सर्वाः सदृशी भवतः दुहितरः सर्वाश्च आस्म भगवतः सोमाय दत्ताः। सोमः अस्मान्नातिमात्रं बुभूषति। रोहिण्याम् एव वसति। सवै प्रजापतिः अब्रवीत् अयमानयामि सोमम्। स सोममानाय्य भगवानुवाच। शुश्रूषमाणाः सम्यक्सर्वाः इमाः पत्न्यः ब्रुवन्ते नास्मासु सोमः समं वर्तत इति। चन्द्रमा अब्रवीत् सममहं सर्वासु वर्तामि नातिचरामि इति॥</a:t>
            </a:r>
          </a:p>
        </p:txBody>
      </p:sp>
      <p:sp>
        <p:nvSpPr>
          <p:cNvPr id="3" name="Slide Number Placeholder 2">
            <a:extLst>
              <a:ext uri="{FF2B5EF4-FFF2-40B4-BE49-F238E27FC236}">
                <a16:creationId xmlns:a16="http://schemas.microsoft.com/office/drawing/2014/main" id="{97B23C72-D282-E708-07F6-AE8DEA9873B0}"/>
              </a:ext>
            </a:extLst>
          </p:cNvPr>
          <p:cNvSpPr>
            <a:spLocks noGrp="1"/>
          </p:cNvSpPr>
          <p:nvPr>
            <p:ph type="sldNum" sz="quarter" idx="12"/>
          </p:nvPr>
        </p:nvSpPr>
        <p:spPr/>
        <p:txBody>
          <a:bodyPr/>
          <a:lstStyle/>
          <a:p>
            <a:fld id="{5AFE2CDC-18D4-4E7A-A4BC-D5EDA5D6481E}" type="slidenum">
              <a:rPr lang="en-IN" smtClean="0"/>
              <a:t>85</a:t>
            </a:fld>
            <a:endParaRPr lang="en-IN"/>
          </a:p>
        </p:txBody>
      </p:sp>
      <p:sp>
        <p:nvSpPr>
          <p:cNvPr id="4" name="Footer Placeholder 3">
            <a:extLst>
              <a:ext uri="{FF2B5EF4-FFF2-40B4-BE49-F238E27FC236}">
                <a16:creationId xmlns:a16="http://schemas.microsoft.com/office/drawing/2014/main" id="{5494E258-BDD8-9774-AA52-065A99FCB397}"/>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2712320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B5B097-6EB4-651B-FD0C-8A98FC31D269}"/>
              </a:ext>
            </a:extLst>
          </p:cNvPr>
          <p:cNvSpPr>
            <a:spLocks noGrp="1"/>
          </p:cNvSpPr>
          <p:nvPr>
            <p:ph idx="1"/>
          </p:nvPr>
        </p:nvSpPr>
        <p:spPr/>
        <p:txBody>
          <a:bodyPr/>
          <a:lstStyle/>
          <a:p>
            <a:r>
              <a:rPr lang="en-IN"/>
              <a:t>दक्षप्रजापतेः २७ पुत्र्याः सन्ति। केचन २८ इति मन्यन्ते।</a:t>
            </a:r>
          </a:p>
          <a:p>
            <a:r>
              <a:rPr lang="en-IN"/>
              <a:t>तासां विवाहं सोमेन सह अभवत्।</a:t>
            </a:r>
          </a:p>
          <a:p>
            <a:r>
              <a:rPr lang="en-IN"/>
              <a:t>परन्तु सोमः केवलं रोहिण्या सह तिष्ठवान्।</a:t>
            </a:r>
          </a:p>
          <a:p>
            <a:r>
              <a:rPr lang="en-IN"/>
              <a:t>अन्याः च प्रजापतिं एतत् विषयम् उक्तवन्त्याः। </a:t>
            </a:r>
          </a:p>
          <a:p>
            <a:r>
              <a:rPr lang="en-IN"/>
              <a:t>प्रजापतिना सोमं पृष्टे सोमः सर्वाभिः समं तिष्ठामि इति अनृतं वदति।</a:t>
            </a:r>
          </a:p>
        </p:txBody>
      </p:sp>
      <p:sp>
        <p:nvSpPr>
          <p:cNvPr id="4" name="Footer Placeholder 3">
            <a:extLst>
              <a:ext uri="{FF2B5EF4-FFF2-40B4-BE49-F238E27FC236}">
                <a16:creationId xmlns:a16="http://schemas.microsoft.com/office/drawing/2014/main" id="{184D8037-3AFD-8C50-C248-4E5275C9A7CE}"/>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7A74CF6C-86C7-38DB-50AD-4B040EB5F822}"/>
              </a:ext>
            </a:extLst>
          </p:cNvPr>
          <p:cNvSpPr>
            <a:spLocks noGrp="1"/>
          </p:cNvSpPr>
          <p:nvPr>
            <p:ph type="sldNum" sz="quarter" idx="12"/>
          </p:nvPr>
        </p:nvSpPr>
        <p:spPr/>
        <p:txBody>
          <a:bodyPr/>
          <a:lstStyle/>
          <a:p>
            <a:fld id="{5AFE2CDC-18D4-4E7A-A4BC-D5EDA5D6481E}" type="slidenum">
              <a:rPr lang="en-IN" smtClean="0"/>
              <a:pPr/>
              <a:t>86</a:t>
            </a:fld>
            <a:endParaRPr lang="en-IN"/>
          </a:p>
        </p:txBody>
      </p:sp>
    </p:spTree>
    <p:extLst>
      <p:ext uri="{BB962C8B-B14F-4D97-AF65-F5344CB8AC3E}">
        <p14:creationId xmlns:p14="http://schemas.microsoft.com/office/powerpoint/2010/main" val="35560891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0E18-A23C-65C8-240B-0B59E9C092D2}"/>
              </a:ext>
            </a:extLst>
          </p:cNvPr>
          <p:cNvSpPr>
            <a:spLocks noGrp="1"/>
          </p:cNvSpPr>
          <p:nvPr>
            <p:ph type="title"/>
          </p:nvPr>
        </p:nvSpPr>
        <p:spPr>
          <a:xfrm>
            <a:off x="0" y="753533"/>
            <a:ext cx="12192000" cy="3110544"/>
          </a:xfrm>
        </p:spPr>
        <p:txBody>
          <a:bodyPr>
            <a:normAutofit fontScale="90000"/>
          </a:bodyPr>
          <a:lstStyle/>
          <a:p>
            <a:r>
              <a:rPr lang="en-IN">
                <a:solidFill>
                  <a:srgbClr val="FFFF00"/>
                </a:solidFill>
              </a:rPr>
              <a:t>॥ ८८॥ </a:t>
            </a:r>
            <a:r>
              <a:rPr lang="en-IN"/>
              <a:t>अथ चन्द्रमसम् उवाच भगवान्प्रजापतिः अनृतवागसीति। तस्मात्त्वां राजयक्ष्मा ग्रहः ग्रहीष्यतीति। रोहिणीं च अब्रुवन् मा अभिचारं वर्तस्व इति भगिन्यः। तस्मात्सोमः राजयक्षमणा गृहीतः। सोमः निरस्रवत् पराभवच्च। सः प्रजापतिं अभ्यवगच्छन् इतोर्ध्वं तानि च ऋक्षाणि नक्षत्रं प्रसीदतु भगवान् विसृष्टवान् अयं इच्छामि इति अब्रवीत्। ततः सपत्न्यः भगवान् स्यात् इति। स सोमः ततः प्रभृति __* सर्वासु वर्तते अहोरात्रम्॥</a:t>
            </a:r>
          </a:p>
        </p:txBody>
      </p:sp>
      <p:sp>
        <p:nvSpPr>
          <p:cNvPr id="3" name="Slide Number Placeholder 2">
            <a:extLst>
              <a:ext uri="{FF2B5EF4-FFF2-40B4-BE49-F238E27FC236}">
                <a16:creationId xmlns:a16="http://schemas.microsoft.com/office/drawing/2014/main" id="{45C904CC-BB87-1EA6-06F7-A5F4B760B49F}"/>
              </a:ext>
            </a:extLst>
          </p:cNvPr>
          <p:cNvSpPr>
            <a:spLocks noGrp="1"/>
          </p:cNvSpPr>
          <p:nvPr>
            <p:ph type="sldNum" sz="quarter" idx="12"/>
          </p:nvPr>
        </p:nvSpPr>
        <p:spPr/>
        <p:txBody>
          <a:bodyPr/>
          <a:lstStyle/>
          <a:p>
            <a:fld id="{5AFE2CDC-18D4-4E7A-A4BC-D5EDA5D6481E}" type="slidenum">
              <a:rPr lang="en-IN" smtClean="0"/>
              <a:t>87</a:t>
            </a:fld>
            <a:endParaRPr lang="en-IN"/>
          </a:p>
        </p:txBody>
      </p:sp>
      <p:sp>
        <p:nvSpPr>
          <p:cNvPr id="4" name="Footer Placeholder 3">
            <a:extLst>
              <a:ext uri="{FF2B5EF4-FFF2-40B4-BE49-F238E27FC236}">
                <a16:creationId xmlns:a16="http://schemas.microsoft.com/office/drawing/2014/main" id="{819D084E-16C1-CCFD-E63F-B3756A1AF6DE}"/>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071A8EF-8A89-0923-49A7-CA466C3A486A}"/>
                  </a:ext>
                </a:extLst>
              </p:cNvPr>
              <p:cNvSpPr txBox="1"/>
              <p:nvPr/>
            </p:nvSpPr>
            <p:spPr>
              <a:xfrm>
                <a:off x="2369574" y="5083277"/>
                <a:ext cx="3804247" cy="369332"/>
              </a:xfrm>
              <a:prstGeom prst="rect">
                <a:avLst/>
              </a:prstGeom>
              <a:noFill/>
            </p:spPr>
            <p:txBody>
              <a:bodyPr wrap="none" rtlCol="0">
                <a:spAutoFit/>
              </a:bodyPr>
              <a:lstStyle/>
              <a:p>
                <a:r>
                  <a:rPr lang="en-IN" sz="1800"/>
                  <a:t>* </a:t>
                </a:r>
                <a14:m>
                  <m:oMath xmlns:m="http://schemas.openxmlformats.org/officeDocument/2006/math">
                    <m:r>
                      <a:rPr lang="en-IN" sz="1800" smtClean="0">
                        <a:latin typeface="Cambria Math" panose="02040503050406030204" pitchFamily="18" charset="0"/>
                      </a:rPr>
                      <m:t>⇒</m:t>
                    </m:r>
                  </m:oMath>
                </a14:m>
                <a:r>
                  <a:rPr lang="en-IN" sz="1800"/>
                  <a:t> लुप्तानि अक्षराणी, प्रायः ‘समम्/समवत्’।</a:t>
                </a:r>
              </a:p>
            </p:txBody>
          </p:sp>
        </mc:Choice>
        <mc:Fallback xmlns="">
          <p:sp>
            <p:nvSpPr>
              <p:cNvPr id="5" name="TextBox 4">
                <a:extLst>
                  <a:ext uri="{FF2B5EF4-FFF2-40B4-BE49-F238E27FC236}">
                    <a16:creationId xmlns:a16="http://schemas.microsoft.com/office/drawing/2014/main" id="{9071A8EF-8A89-0923-49A7-CA466C3A486A}"/>
                  </a:ext>
                </a:extLst>
              </p:cNvPr>
              <p:cNvSpPr txBox="1">
                <a:spLocks noRot="1" noChangeAspect="1" noMove="1" noResize="1" noEditPoints="1" noAdjustHandles="1" noChangeArrowheads="1" noChangeShapeType="1" noTextEdit="1"/>
              </p:cNvSpPr>
              <p:nvPr/>
            </p:nvSpPr>
            <p:spPr>
              <a:xfrm>
                <a:off x="2369574" y="5083277"/>
                <a:ext cx="3804247" cy="369332"/>
              </a:xfrm>
              <a:prstGeom prst="rect">
                <a:avLst/>
              </a:prstGeom>
              <a:blipFill>
                <a:blip r:embed="rId2"/>
                <a:stretch>
                  <a:fillRect l="-1442" t="-8333" b="-28333"/>
                </a:stretch>
              </a:blipFill>
            </p:spPr>
            <p:txBody>
              <a:bodyPr/>
              <a:lstStyle/>
              <a:p>
                <a:r>
                  <a:rPr lang="en-IN">
                    <a:noFill/>
                  </a:rPr>
                  <a:t> </a:t>
                </a:r>
              </a:p>
            </p:txBody>
          </p:sp>
        </mc:Fallback>
      </mc:AlternateContent>
    </p:spTree>
    <p:extLst>
      <p:ext uri="{BB962C8B-B14F-4D97-AF65-F5344CB8AC3E}">
        <p14:creationId xmlns:p14="http://schemas.microsoft.com/office/powerpoint/2010/main" val="10842559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EFDAD0-1D61-990A-83C3-F980B8AA0343}"/>
              </a:ext>
            </a:extLst>
          </p:cNvPr>
          <p:cNvSpPr>
            <a:spLocks noGrp="1"/>
          </p:cNvSpPr>
          <p:nvPr>
            <p:ph idx="1"/>
          </p:nvPr>
        </p:nvSpPr>
        <p:spPr>
          <a:xfrm>
            <a:off x="685800" y="2194560"/>
            <a:ext cx="7772400" cy="4024125"/>
          </a:xfrm>
        </p:spPr>
        <p:txBody>
          <a:bodyPr/>
          <a:lstStyle/>
          <a:p>
            <a:r>
              <a:rPr lang="en-IN"/>
              <a:t>अनृतत्वात् प्रजापतिः शपति सोमः राजयक्षमाग्रहः </a:t>
            </a:r>
            <a:r>
              <a:rPr lang="en-IN" sz="1600" i="1"/>
              <a:t>(afflicted by consumption)</a:t>
            </a:r>
            <a:r>
              <a:rPr lang="en-IN"/>
              <a:t> भवति इति।</a:t>
            </a:r>
          </a:p>
          <a:p>
            <a:r>
              <a:rPr lang="en-IN"/>
              <a:t>ततः सोमः अवगतवान् तानि ऋक्षाणि नक्षत्राणि भवन्ति इति। </a:t>
            </a:r>
          </a:p>
          <a:p>
            <a:pPr lvl="1"/>
            <a:r>
              <a:rPr lang="en-IN"/>
              <a:t>८६ ऋक्षाणि (ताराः) २७ नक्षत्राणि भवन्ति। </a:t>
            </a:r>
          </a:p>
          <a:p>
            <a:pPr lvl="1"/>
            <a:r>
              <a:rPr lang="en-IN"/>
              <a:t>एकस्मिन् नक्षत्रे १-६ ताराः भवन्ति।</a:t>
            </a:r>
          </a:p>
          <a:p>
            <a:pPr lvl="2"/>
            <a:r>
              <a:rPr lang="en-IN"/>
              <a:t>यथा वेदे कृत्तिकाः श्राविष्ठाः मघाः इत्यादि बहुवचने भवन्ति। </a:t>
            </a:r>
          </a:p>
          <a:p>
            <a:pPr lvl="2"/>
            <a:r>
              <a:rPr lang="en-IN"/>
              <a:t>विशाखे इति द्विवचने भवति। </a:t>
            </a:r>
          </a:p>
          <a:p>
            <a:pPr lvl="2"/>
            <a:r>
              <a:rPr lang="en-IN"/>
              <a:t>रोहिणी स्वाति चित्रा इति एकवचने भवन्ति।</a:t>
            </a:r>
          </a:p>
          <a:p>
            <a:r>
              <a:rPr lang="en-IN"/>
              <a:t>तदनन्तरं सोमः प्रजापतिं प्रार्थयित्वा सर्वैः नक्षत्रैः सह समं चलति।</a:t>
            </a:r>
          </a:p>
        </p:txBody>
      </p:sp>
      <p:sp>
        <p:nvSpPr>
          <p:cNvPr id="4" name="Footer Placeholder 3">
            <a:extLst>
              <a:ext uri="{FF2B5EF4-FFF2-40B4-BE49-F238E27FC236}">
                <a16:creationId xmlns:a16="http://schemas.microsoft.com/office/drawing/2014/main" id="{2853A0B3-A28F-0230-6971-40042DC0C740}"/>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9870907B-D0E1-6CA3-6883-114B826665DE}"/>
              </a:ext>
            </a:extLst>
          </p:cNvPr>
          <p:cNvSpPr>
            <a:spLocks noGrp="1"/>
          </p:cNvSpPr>
          <p:nvPr>
            <p:ph type="sldNum" sz="quarter" idx="12"/>
          </p:nvPr>
        </p:nvSpPr>
        <p:spPr/>
        <p:txBody>
          <a:bodyPr/>
          <a:lstStyle/>
          <a:p>
            <a:fld id="{5AFE2CDC-18D4-4E7A-A4BC-D5EDA5D6481E}" type="slidenum">
              <a:rPr lang="en-IN" smtClean="0"/>
              <a:pPr/>
              <a:t>88</a:t>
            </a:fld>
            <a:endParaRPr lang="en-IN"/>
          </a:p>
        </p:txBody>
      </p:sp>
      <p:pic>
        <p:nvPicPr>
          <p:cNvPr id="7" name="Picture 6">
            <a:extLst>
              <a:ext uri="{FF2B5EF4-FFF2-40B4-BE49-F238E27FC236}">
                <a16:creationId xmlns:a16="http://schemas.microsoft.com/office/drawing/2014/main" id="{320C84D1-D661-00FD-970C-354D31E93C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8200" y="2385197"/>
            <a:ext cx="3536230" cy="3642850"/>
          </a:xfrm>
          <a:prstGeom prst="rect">
            <a:avLst/>
          </a:prstGeom>
        </p:spPr>
      </p:pic>
    </p:spTree>
    <p:extLst>
      <p:ext uri="{BB962C8B-B14F-4D97-AF65-F5344CB8AC3E}">
        <p14:creationId xmlns:p14="http://schemas.microsoft.com/office/powerpoint/2010/main" val="6682185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D111-AC44-D074-9264-F536A6C1D91E}"/>
              </a:ext>
            </a:extLst>
          </p:cNvPr>
          <p:cNvSpPr>
            <a:spLocks noGrp="1"/>
          </p:cNvSpPr>
          <p:nvPr>
            <p:ph type="title"/>
          </p:nvPr>
        </p:nvSpPr>
        <p:spPr/>
        <p:txBody>
          <a:bodyPr>
            <a:normAutofit/>
          </a:bodyPr>
          <a:lstStyle/>
          <a:p>
            <a:r>
              <a:rPr lang="en-IN">
                <a:solidFill>
                  <a:srgbClr val="FFFF00"/>
                </a:solidFill>
              </a:rPr>
              <a:t>॥ ८९॥ </a:t>
            </a:r>
            <a:r>
              <a:rPr lang="en-IN"/>
              <a:t>सप्तदशकलां प्रजापतिश्च अस्मै वैश्वदेवं चरुं निर्वापयति अमावास्याम्। तेन आप्यायितः सान्नाय्यं दर्शपौर्णमास्यं च अतः कुर्वति। नेत्वेतानि नक्षत्राणि क्षीयन्ते। तेन नक्षत्रं भवति। कर्मविभागं नक्षत्रत्वं भवति। प्रयोजनं च नक्षत्राणाम् अनुव्याख्यास्यामः॥</a:t>
            </a:r>
          </a:p>
        </p:txBody>
      </p:sp>
      <p:sp>
        <p:nvSpPr>
          <p:cNvPr id="3" name="Slide Number Placeholder 2">
            <a:extLst>
              <a:ext uri="{FF2B5EF4-FFF2-40B4-BE49-F238E27FC236}">
                <a16:creationId xmlns:a16="http://schemas.microsoft.com/office/drawing/2014/main" id="{3686C087-20A5-15BD-1362-D1E1C53E0777}"/>
              </a:ext>
            </a:extLst>
          </p:cNvPr>
          <p:cNvSpPr>
            <a:spLocks noGrp="1"/>
          </p:cNvSpPr>
          <p:nvPr>
            <p:ph type="sldNum" sz="quarter" idx="12"/>
          </p:nvPr>
        </p:nvSpPr>
        <p:spPr/>
        <p:txBody>
          <a:bodyPr/>
          <a:lstStyle/>
          <a:p>
            <a:fld id="{5AFE2CDC-18D4-4E7A-A4BC-D5EDA5D6481E}" type="slidenum">
              <a:rPr lang="en-IN" smtClean="0"/>
              <a:t>89</a:t>
            </a:fld>
            <a:endParaRPr lang="en-IN"/>
          </a:p>
        </p:txBody>
      </p:sp>
      <p:sp>
        <p:nvSpPr>
          <p:cNvPr id="4" name="Footer Placeholder 3">
            <a:extLst>
              <a:ext uri="{FF2B5EF4-FFF2-40B4-BE49-F238E27FC236}">
                <a16:creationId xmlns:a16="http://schemas.microsoft.com/office/drawing/2014/main" id="{3AF8EC84-FFB2-AE5D-2D5A-2C0798C11E5A}"/>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29961313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E5D2BC-6906-C5E6-38DE-7055B0E514A4}"/>
              </a:ext>
            </a:extLst>
          </p:cNvPr>
          <p:cNvSpPr>
            <a:spLocks noGrp="1"/>
          </p:cNvSpPr>
          <p:nvPr>
            <p:ph idx="1"/>
          </p:nvPr>
        </p:nvSpPr>
        <p:spPr/>
        <p:txBody>
          <a:bodyPr/>
          <a:lstStyle/>
          <a:p>
            <a:r>
              <a:rPr lang="en-IN"/>
              <a:t>अमावास्यायां प्रजापतिः सप्तदशमः कलां सोमाय ददाति। </a:t>
            </a:r>
            <a:endParaRPr lang="en-IN" sz="1800"/>
          </a:p>
          <a:p>
            <a:pPr lvl="1"/>
            <a:r>
              <a:rPr lang="en-IN"/>
              <a:t>अम्मवास्यायामपि सोमस्य १/१६ कलां अवशिष्यते। </a:t>
            </a:r>
          </a:p>
          <a:p>
            <a:pPr lvl="1"/>
            <a:r>
              <a:rPr lang="en-IN"/>
              <a:t>तदा प्रजापतिः अवशिष्यभागं अपाकरोति सन्नाय्यं भवेत् इति।</a:t>
            </a:r>
          </a:p>
          <a:p>
            <a:r>
              <a:rPr lang="en-IN"/>
              <a:t>ततः सोमः सान्नाय्यं दर्शपौणमास्यं च करोति।</a:t>
            </a:r>
          </a:p>
          <a:p>
            <a:pPr lvl="1"/>
            <a:r>
              <a:rPr lang="en-IN"/>
              <a:t>सान्नाय्यं अमवास्यायाः परं दर्शस्य पूर्वं च भवति।</a:t>
            </a:r>
          </a:p>
          <a:p>
            <a:r>
              <a:rPr lang="en-IN"/>
              <a:t>सोमः क्षीयति वर्धति च परन्तु नक्षत्राणि स्थिराणि भवन्ति।</a:t>
            </a:r>
          </a:p>
        </p:txBody>
      </p:sp>
      <p:sp>
        <p:nvSpPr>
          <p:cNvPr id="4" name="Footer Placeholder 3">
            <a:extLst>
              <a:ext uri="{FF2B5EF4-FFF2-40B4-BE49-F238E27FC236}">
                <a16:creationId xmlns:a16="http://schemas.microsoft.com/office/drawing/2014/main" id="{1410A73D-A9EA-EB18-2BD3-D2DA01892AB6}"/>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060673B4-9E04-3BED-FB6A-7E9D7BCDC49C}"/>
              </a:ext>
            </a:extLst>
          </p:cNvPr>
          <p:cNvSpPr>
            <a:spLocks noGrp="1"/>
          </p:cNvSpPr>
          <p:nvPr>
            <p:ph type="sldNum" sz="quarter" idx="12"/>
          </p:nvPr>
        </p:nvSpPr>
        <p:spPr/>
        <p:txBody>
          <a:bodyPr/>
          <a:lstStyle/>
          <a:p>
            <a:fld id="{5AFE2CDC-18D4-4E7A-A4BC-D5EDA5D6481E}" type="slidenum">
              <a:rPr lang="en-IN" smtClean="0"/>
              <a:pPr/>
              <a:t>90</a:t>
            </a:fld>
            <a:endParaRPr lang="en-IN"/>
          </a:p>
        </p:txBody>
      </p:sp>
    </p:spTree>
    <p:extLst>
      <p:ext uri="{BB962C8B-B14F-4D97-AF65-F5344CB8AC3E}">
        <p14:creationId xmlns:p14="http://schemas.microsoft.com/office/powerpoint/2010/main" val="2553253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36EAA-4D31-224D-A4A3-89A9AA845B76}"/>
              </a:ext>
            </a:extLst>
          </p:cNvPr>
          <p:cNvSpPr>
            <a:spLocks noGrp="1"/>
          </p:cNvSpPr>
          <p:nvPr>
            <p:ph type="title"/>
          </p:nvPr>
        </p:nvSpPr>
        <p:spPr>
          <a:xfrm>
            <a:off x="0" y="255638"/>
            <a:ext cx="12192000" cy="4444181"/>
          </a:xfrm>
        </p:spPr>
        <p:txBody>
          <a:bodyPr>
            <a:noAutofit/>
          </a:bodyPr>
          <a:lstStyle/>
          <a:p>
            <a:r>
              <a:rPr lang="en-IN" sz="3460">
                <a:solidFill>
                  <a:srgbClr val="FFFF00"/>
                </a:solidFill>
              </a:rPr>
              <a:t>॥ ९०॥ </a:t>
            </a:r>
            <a:r>
              <a:rPr lang="en-IN" sz="3460"/>
              <a:t>दक्षेण हि प्रजापतिना दुहितरः सप्तविंशति नक्षत्राणि सोमाय राज्ञे दत्तानि। स च उक्तः समम् एतासु वर्तितव्यम्। एतासां योगं च जगतो ध्रुव-उग्र-क्षिप्र-साधारण-मृदु-चर-दारुणानां कर्मणां कस्त्वया नक्षत्रयुक्तेन अनुष्ठेयानि निष्पादयितव्याश्च इति। सर्वकर्मणां हि सोमसंयुक्ताक्षत्रं योनिः। सोमयुक्तं च नक्षत्रं कर्मण्यं भवति। सोमयुक्तैश्च नक्षत्रैः जगतः सर्वकर्मणाम् इज्यानां च आरम्भो भविष्यति। ह्येतदर्थं ह्येतो मया दुहितरः तव दत्ताः इति॥</a:t>
            </a:r>
            <a:br>
              <a:rPr lang="en-IN" sz="3460"/>
            </a:br>
            <a:r>
              <a:rPr lang="en-IN" sz="3460">
                <a:solidFill>
                  <a:srgbClr val="FFFF00"/>
                </a:solidFill>
              </a:rPr>
              <a:t>॥ ९१॥  </a:t>
            </a:r>
            <a:r>
              <a:rPr lang="en-IN" sz="3460"/>
              <a:t>ततः सोम उवाच। एवम् अस्तु। अथ तु भगवन्नेतास्तव दुहितरः तुल्यदाक्षिण्याः। अहम् अपि च सौम्यत्वात्सोमः। कर्मणां च उग्र-क्षिप्र-ध्रुव-दारुण-मृदु-चर-साधारणानां कर्मकालाः जगतो निवर्तयितव्याः। कथम् अत्र मया अनुष्ठेयम् इति॥</a:t>
            </a:r>
          </a:p>
        </p:txBody>
      </p:sp>
      <p:sp>
        <p:nvSpPr>
          <p:cNvPr id="3" name="Slide Number Placeholder 2">
            <a:extLst>
              <a:ext uri="{FF2B5EF4-FFF2-40B4-BE49-F238E27FC236}">
                <a16:creationId xmlns:a16="http://schemas.microsoft.com/office/drawing/2014/main" id="{2761B038-F2FC-4D0C-B9F3-E77D69988CBE}"/>
              </a:ext>
            </a:extLst>
          </p:cNvPr>
          <p:cNvSpPr>
            <a:spLocks noGrp="1"/>
          </p:cNvSpPr>
          <p:nvPr>
            <p:ph type="sldNum" sz="quarter" idx="12"/>
          </p:nvPr>
        </p:nvSpPr>
        <p:spPr/>
        <p:txBody>
          <a:bodyPr/>
          <a:lstStyle/>
          <a:p>
            <a:fld id="{5AFE2CDC-18D4-4E7A-A4BC-D5EDA5D6481E}" type="slidenum">
              <a:rPr lang="en-IN" smtClean="0"/>
              <a:t>91</a:t>
            </a:fld>
            <a:endParaRPr lang="en-IN"/>
          </a:p>
        </p:txBody>
      </p:sp>
      <p:sp>
        <p:nvSpPr>
          <p:cNvPr id="4" name="Footer Placeholder 3">
            <a:extLst>
              <a:ext uri="{FF2B5EF4-FFF2-40B4-BE49-F238E27FC236}">
                <a16:creationId xmlns:a16="http://schemas.microsoft.com/office/drawing/2014/main" id="{321AF609-E63C-0D1D-67B3-7DC751E7513F}"/>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5668930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745B22-F127-53E8-89DE-1479FCBB5F64}"/>
              </a:ext>
            </a:extLst>
          </p:cNvPr>
          <p:cNvSpPr>
            <a:spLocks noGrp="1"/>
          </p:cNvSpPr>
          <p:nvPr>
            <p:ph idx="1"/>
          </p:nvPr>
        </p:nvSpPr>
        <p:spPr/>
        <p:txBody>
          <a:bodyPr/>
          <a:lstStyle/>
          <a:p>
            <a:r>
              <a:rPr lang="en-IN"/>
              <a:t>प्रजापतिः तस्य २७ पुत्र्याः सोमाय पुनः ददाति। सोमः सर्वाभिः सह समं तिष्ठेत् इति नियमेन तेषां सर्वेषां योगं च भवेत् इति ।</a:t>
            </a:r>
          </a:p>
          <a:p>
            <a:r>
              <a:rPr lang="en-IN"/>
              <a:t>सोमेन संयुक्तं नक्षत्रम् एवं कर्मण्यं भवति। </a:t>
            </a:r>
          </a:p>
          <a:p>
            <a:r>
              <a:rPr lang="en-IN"/>
              <a:t>लोके सर्वाणि कार्याणि सोमनक्षत्रयोः संयुक्तं दृष्ट्वा भवन्ति।</a:t>
            </a:r>
          </a:p>
          <a:p>
            <a:r>
              <a:rPr lang="en-IN"/>
              <a:t>ततः सोमः पृच्छति – तस्य योगं सौम्यत्वम् एवम् अस्ति। तर्हि कथं सः अन्ययोगान् निवर्तयति इति।</a:t>
            </a:r>
          </a:p>
        </p:txBody>
      </p:sp>
      <p:sp>
        <p:nvSpPr>
          <p:cNvPr id="4" name="Footer Placeholder 3">
            <a:extLst>
              <a:ext uri="{FF2B5EF4-FFF2-40B4-BE49-F238E27FC236}">
                <a16:creationId xmlns:a16="http://schemas.microsoft.com/office/drawing/2014/main" id="{7CE6F196-6CA8-1E30-47D4-E933112AE69A}"/>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3C765379-477D-DD64-D223-65741A5532A7}"/>
              </a:ext>
            </a:extLst>
          </p:cNvPr>
          <p:cNvSpPr>
            <a:spLocks noGrp="1"/>
          </p:cNvSpPr>
          <p:nvPr>
            <p:ph type="sldNum" sz="quarter" idx="12"/>
          </p:nvPr>
        </p:nvSpPr>
        <p:spPr/>
        <p:txBody>
          <a:bodyPr/>
          <a:lstStyle/>
          <a:p>
            <a:fld id="{5AFE2CDC-18D4-4E7A-A4BC-D5EDA5D6481E}" type="slidenum">
              <a:rPr lang="en-IN" smtClean="0"/>
              <a:pPr/>
              <a:t>92</a:t>
            </a:fld>
            <a:endParaRPr lang="en-IN"/>
          </a:p>
        </p:txBody>
      </p:sp>
    </p:spTree>
    <p:extLst>
      <p:ext uri="{BB962C8B-B14F-4D97-AF65-F5344CB8AC3E}">
        <p14:creationId xmlns:p14="http://schemas.microsoft.com/office/powerpoint/2010/main" val="38841272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69B31-6D45-6658-329C-1AF27D06236D}"/>
              </a:ext>
            </a:extLst>
          </p:cNvPr>
          <p:cNvSpPr>
            <a:spLocks noGrp="1"/>
          </p:cNvSpPr>
          <p:nvPr>
            <p:ph type="title"/>
          </p:nvPr>
        </p:nvSpPr>
        <p:spPr/>
        <p:txBody>
          <a:bodyPr>
            <a:normAutofit fontScale="90000"/>
          </a:bodyPr>
          <a:lstStyle/>
          <a:p>
            <a:r>
              <a:rPr lang="en-IN">
                <a:solidFill>
                  <a:srgbClr val="FFFF00"/>
                </a:solidFill>
              </a:rPr>
              <a:t>॥ ९२॥ </a:t>
            </a:r>
            <a:r>
              <a:rPr lang="en-IN"/>
              <a:t>प्रजापतिः उवाच। विकरणधर्मेण एतासो तृष्य इते काले समुपागच्छन्यस्याः येन विकरणविशेन उपस्थातासीः, स तस्याः दैवतम् इति संज्ञितं भविष्यति। यादृक् दैवतपरिग्रहो भविष्यति तादृशानि कर्माणि भविष्यन्ति। न हि एषां दैवतं गतिश्च। किं तु जगतः कर्मनिष्पादनार्थं नक्षत्रम् उपसर्पस्व इति॥</a:t>
            </a:r>
          </a:p>
        </p:txBody>
      </p:sp>
      <p:sp>
        <p:nvSpPr>
          <p:cNvPr id="3" name="Slide Number Placeholder 2">
            <a:extLst>
              <a:ext uri="{FF2B5EF4-FFF2-40B4-BE49-F238E27FC236}">
                <a16:creationId xmlns:a16="http://schemas.microsoft.com/office/drawing/2014/main" id="{44F1AA58-DD48-8310-0857-0A3264F6C53C}"/>
              </a:ext>
            </a:extLst>
          </p:cNvPr>
          <p:cNvSpPr>
            <a:spLocks noGrp="1"/>
          </p:cNvSpPr>
          <p:nvPr>
            <p:ph type="sldNum" sz="quarter" idx="12"/>
          </p:nvPr>
        </p:nvSpPr>
        <p:spPr/>
        <p:txBody>
          <a:bodyPr/>
          <a:lstStyle/>
          <a:p>
            <a:fld id="{5AFE2CDC-18D4-4E7A-A4BC-D5EDA5D6481E}" type="slidenum">
              <a:rPr lang="en-IN" smtClean="0"/>
              <a:t>93</a:t>
            </a:fld>
            <a:endParaRPr lang="en-IN"/>
          </a:p>
        </p:txBody>
      </p:sp>
      <p:sp>
        <p:nvSpPr>
          <p:cNvPr id="4" name="Footer Placeholder 3">
            <a:extLst>
              <a:ext uri="{FF2B5EF4-FFF2-40B4-BE49-F238E27FC236}">
                <a16:creationId xmlns:a16="http://schemas.microsoft.com/office/drawing/2014/main" id="{FA585143-A4A4-9AD8-9C1E-3E42E7550006}"/>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09008108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3385AF-50D2-8E7F-DC95-BAA6E1BC89C8}"/>
              </a:ext>
            </a:extLst>
          </p:cNvPr>
          <p:cNvSpPr>
            <a:spLocks noGrp="1"/>
          </p:cNvSpPr>
          <p:nvPr>
            <p:ph idx="1"/>
          </p:nvPr>
        </p:nvSpPr>
        <p:spPr/>
        <p:txBody>
          <a:bodyPr/>
          <a:lstStyle/>
          <a:p>
            <a:r>
              <a:rPr lang="en-IN"/>
              <a:t>पृष्टे प्रजापतिः वदति अतीतकाले विकरणधर्मेण </a:t>
            </a:r>
            <a:r>
              <a:rPr lang="en-IN" sz="1600" i="1"/>
              <a:t>(abnormality)</a:t>
            </a:r>
            <a:r>
              <a:rPr lang="en-IN"/>
              <a:t> सोमः यदा एकस्य नक्षत्रस्य समीपे गच्छति स्म तदा तत् विकरणं तस्य नक्षत्रस्य दैवत्वम् अभवत्।</a:t>
            </a:r>
          </a:p>
          <a:p>
            <a:r>
              <a:rPr lang="en-IN"/>
              <a:t>दैवताधारेण च तन्नक्षत्रस्य समये कार्याणि क्रियन्ते स्म।</a:t>
            </a:r>
          </a:p>
          <a:p>
            <a:r>
              <a:rPr lang="en-IN"/>
              <a:t>नक्षत्रस्य स्वयमेव स्वभावः न भवति। सोमेन सह संयोजेन एवं भवति।</a:t>
            </a:r>
          </a:p>
          <a:p>
            <a:r>
              <a:rPr lang="en-IN"/>
              <a:t>भृगुसंहितायां जन्मनक्षत्रं तत् अस्ति यत्र चन्द्रः जन्मकाले वर्तते।</a:t>
            </a:r>
            <a:br>
              <a:rPr lang="en-IN"/>
            </a:br>
            <a:r>
              <a:rPr lang="en-IN"/>
              <a:t>दशमं (कर्म) षोडषं (साङ्गातिक) अष्टादशमं (सामुदाय) त्रिविंशं (वैनाशिक) पञ्चविंशं (मानस) नाडिनक्षत्राणि व्यक्तेः गुणाः वर्णयन्ति।</a:t>
            </a:r>
          </a:p>
        </p:txBody>
      </p:sp>
      <p:sp>
        <p:nvSpPr>
          <p:cNvPr id="4" name="Footer Placeholder 3">
            <a:extLst>
              <a:ext uri="{FF2B5EF4-FFF2-40B4-BE49-F238E27FC236}">
                <a16:creationId xmlns:a16="http://schemas.microsoft.com/office/drawing/2014/main" id="{15C6D34F-8EA7-2E9E-770D-4D58A478AD6C}"/>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831FAFA5-6644-02C5-3BD0-7310DBADE27A}"/>
              </a:ext>
            </a:extLst>
          </p:cNvPr>
          <p:cNvSpPr>
            <a:spLocks noGrp="1"/>
          </p:cNvSpPr>
          <p:nvPr>
            <p:ph type="sldNum" sz="quarter" idx="12"/>
          </p:nvPr>
        </p:nvSpPr>
        <p:spPr/>
        <p:txBody>
          <a:bodyPr/>
          <a:lstStyle/>
          <a:p>
            <a:fld id="{5AFE2CDC-18D4-4E7A-A4BC-D5EDA5D6481E}" type="slidenum">
              <a:rPr lang="en-IN" smtClean="0"/>
              <a:pPr/>
              <a:t>94</a:t>
            </a:fld>
            <a:endParaRPr lang="en-IN"/>
          </a:p>
        </p:txBody>
      </p:sp>
    </p:spTree>
    <p:extLst>
      <p:ext uri="{BB962C8B-B14F-4D97-AF65-F5344CB8AC3E}">
        <p14:creationId xmlns:p14="http://schemas.microsoft.com/office/powerpoint/2010/main" val="30859273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FBB5C-F165-E9C8-698C-708352E6BC7B}"/>
              </a:ext>
            </a:extLst>
          </p:cNvPr>
          <p:cNvSpPr>
            <a:spLocks noGrp="1"/>
          </p:cNvSpPr>
          <p:nvPr>
            <p:ph type="title"/>
          </p:nvPr>
        </p:nvSpPr>
        <p:spPr>
          <a:xfrm>
            <a:off x="0" y="147485"/>
            <a:ext cx="12192000" cy="4591664"/>
          </a:xfrm>
        </p:spPr>
        <p:txBody>
          <a:bodyPr>
            <a:normAutofit fontScale="90000"/>
          </a:bodyPr>
          <a:lstStyle/>
          <a:p>
            <a:r>
              <a:rPr lang="en-IN">
                <a:solidFill>
                  <a:srgbClr val="FFFF00"/>
                </a:solidFill>
              </a:rPr>
              <a:t>॥ ९३॥ </a:t>
            </a:r>
            <a:r>
              <a:rPr lang="en-IN"/>
              <a:t>एवम् अस्तु इति च उक्त्वा सोमः कृत्तिकासु मध्ये अग्निर्भूत्वा उपतिष्ठति। कृत्तिका अग्निदैवतं कर्म अभिचारं भवति। कृत्तिकाश्च अग्निदैवत्या इति जगति प्रथिता। दैवतसंश्रयात् च आग्नेयानि तीक्ष्णानि च अतः कृत्तिकासु कर्माणि सिद्ध्यन्ति॥</a:t>
            </a:r>
            <a:br>
              <a:rPr lang="en-IN"/>
            </a:br>
            <a:r>
              <a:rPr lang="en-IN">
                <a:solidFill>
                  <a:srgbClr val="FFFF00"/>
                </a:solidFill>
              </a:rPr>
              <a:t>॥ ९४॥ </a:t>
            </a:r>
            <a:r>
              <a:rPr lang="en-IN"/>
              <a:t>एवं प्रजापतिः भूत्वा रोहिणीम् उपतस्थे। तस्मात् रोहिणी प्राजापत्या। ध्रुवाणि च अतः रोहिण्यायोगे कर्माणि सिद्ध्यन्ति ध्रुवो हि प्रजापतिः॥</a:t>
            </a:r>
            <a:br>
              <a:rPr lang="en-IN"/>
            </a:br>
            <a:r>
              <a:rPr lang="en-IN">
                <a:solidFill>
                  <a:srgbClr val="FFFF00"/>
                </a:solidFill>
              </a:rPr>
              <a:t>॥ ९५॥ </a:t>
            </a:r>
            <a:r>
              <a:rPr lang="en-IN"/>
              <a:t>एवमेव येन येन विकरणविशेषेण सोमो नक्षत्रम् उपस्थितवान् तत्तस्य नक्षत्रस्य दैवतम्। दैवताश्रयाश्च कर्मणां नानाविधाश्च कर्मकालाः निष्पादिताः। एवं कर्मविभागो नाम कर्मता च नक्षत्राणां दैवतप्रयोजनं च॥</a:t>
            </a:r>
          </a:p>
        </p:txBody>
      </p:sp>
      <p:sp>
        <p:nvSpPr>
          <p:cNvPr id="3" name="Slide Number Placeholder 2">
            <a:extLst>
              <a:ext uri="{FF2B5EF4-FFF2-40B4-BE49-F238E27FC236}">
                <a16:creationId xmlns:a16="http://schemas.microsoft.com/office/drawing/2014/main" id="{2290C993-6561-CE6F-9153-CF90E5CE818F}"/>
              </a:ext>
            </a:extLst>
          </p:cNvPr>
          <p:cNvSpPr>
            <a:spLocks noGrp="1"/>
          </p:cNvSpPr>
          <p:nvPr>
            <p:ph type="sldNum" sz="quarter" idx="12"/>
          </p:nvPr>
        </p:nvSpPr>
        <p:spPr/>
        <p:txBody>
          <a:bodyPr/>
          <a:lstStyle/>
          <a:p>
            <a:fld id="{5AFE2CDC-18D4-4E7A-A4BC-D5EDA5D6481E}" type="slidenum">
              <a:rPr lang="en-IN" smtClean="0"/>
              <a:t>95</a:t>
            </a:fld>
            <a:endParaRPr lang="en-IN"/>
          </a:p>
        </p:txBody>
      </p:sp>
      <p:sp>
        <p:nvSpPr>
          <p:cNvPr id="4" name="Footer Placeholder 3">
            <a:extLst>
              <a:ext uri="{FF2B5EF4-FFF2-40B4-BE49-F238E27FC236}">
                <a16:creationId xmlns:a16="http://schemas.microsoft.com/office/drawing/2014/main" id="{FE9A8139-FCEA-60A3-6518-49FDB7580D0F}"/>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7627216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3115A5-B463-1915-57F4-21A2E54C94F0}"/>
                  </a:ext>
                </a:extLst>
              </p:cNvPr>
              <p:cNvSpPr>
                <a:spLocks noGrp="1"/>
              </p:cNvSpPr>
              <p:nvPr>
                <p:ph idx="1"/>
              </p:nvPr>
            </p:nvSpPr>
            <p:spPr/>
            <p:txBody>
              <a:bodyPr/>
              <a:lstStyle/>
              <a:p>
                <a:r>
                  <a:rPr lang="en-IN"/>
                  <a:t>सोमः कृत्तिकासु </a:t>
                </a:r>
                <a:r>
                  <a:rPr lang="en-IN" sz="1600" i="1"/>
                  <a:t>(Pleiades cluster – 6/7 stars)</a:t>
                </a:r>
                <a:r>
                  <a:rPr lang="en-IN"/>
                  <a:t> मध्ये अग्निरूपेण तिष्ठति। </a:t>
                </a:r>
              </a:p>
              <a:p>
                <a:r>
                  <a:rPr lang="en-IN"/>
                  <a:t>कृत्तिकायाः दैवता अग्निः। तदा अभिचारिकं कर्मं भवति। </a:t>
                </a:r>
              </a:p>
              <a:p>
                <a:pPr lvl="1"/>
                <a:r>
                  <a:rPr lang="en-IN"/>
                  <a:t>एतत् कापि आभिचारिकघटना सूचयति। शतपथब्राह्मणे अपि एषा घटना उच्यते। महाभारते च कृत्तिकासु मध्ये एकेन बृहत् आभिचारिकघटनया कार्तिकेयः अजायत इति उक्तम्।</a:t>
                </a:r>
              </a:p>
              <a:p>
                <a:endParaRPr lang="en-IN" sz="1000"/>
              </a:p>
              <a:p>
                <a:r>
                  <a:rPr lang="en-IN"/>
                  <a:t>सोमः बहुकालं रोहिण्या </a:t>
                </a:r>
                <a:r>
                  <a:rPr lang="en-IN" sz="1600" i="1"/>
                  <a:t>(Aldebaran – </a:t>
                </a:r>
                <a14:m>
                  <m:oMath xmlns:m="http://schemas.openxmlformats.org/officeDocument/2006/math">
                    <m:r>
                      <a:rPr lang="en-IN" sz="1600" i="1" smtClean="0">
                        <a:latin typeface="Cambria Math" panose="02040503050406030204" pitchFamily="18" charset="0"/>
                      </a:rPr>
                      <m:t>𝛼</m:t>
                    </m:r>
                  </m:oMath>
                </a14:m>
                <a:r>
                  <a:rPr lang="en-IN" sz="1600" i="1"/>
                  <a:t>-Tauri)</a:t>
                </a:r>
                <a:r>
                  <a:rPr lang="en-IN"/>
                  <a:t> सह तिष्ठवान् इति तस्याः दैवता प्रजापतिः।</a:t>
                </a:r>
              </a:p>
              <a:p>
                <a:r>
                  <a:rPr lang="en-IN"/>
                  <a:t>तस्मात् रोहिण्याः योगं प्राजापत्यम्। तदा स्थिरकार्याणि सिद्ध्यन्ति।</a:t>
                </a:r>
              </a:p>
              <a:p>
                <a:endParaRPr lang="en-IN" sz="1000"/>
              </a:p>
              <a:p>
                <a:r>
                  <a:rPr lang="en-IN"/>
                  <a:t>एवमेव यादृशविकरणेन सोमः नक्षत्रे तिष्ठति सा तस्य नक्षत्रस्य देवता। तस्मात् कर्मविभागः भवति।</a:t>
                </a:r>
              </a:p>
              <a:p>
                <a:pPr lvl="1"/>
                <a:r>
                  <a:rPr lang="en-IN"/>
                  <a:t>सर्वेषु नक्षत्रेषु कापि विशेषणघटना प्रायः अभवत्। तस्मात् एवं तेषां देवताः उक्ताः।</a:t>
                </a:r>
              </a:p>
            </p:txBody>
          </p:sp>
        </mc:Choice>
        <mc:Fallback xmlns="">
          <p:sp>
            <p:nvSpPr>
              <p:cNvPr id="3" name="Content Placeholder 2">
                <a:extLst>
                  <a:ext uri="{FF2B5EF4-FFF2-40B4-BE49-F238E27FC236}">
                    <a16:creationId xmlns:a16="http://schemas.microsoft.com/office/drawing/2014/main" id="{A63115A5-B463-1915-57F4-21A2E54C94F0}"/>
                  </a:ext>
                </a:extLst>
              </p:cNvPr>
              <p:cNvSpPr>
                <a:spLocks noGrp="1" noRot="1" noChangeAspect="1" noMove="1" noResize="1" noEditPoints="1" noAdjustHandles="1" noChangeArrowheads="1" noChangeShapeType="1" noTextEdit="1"/>
              </p:cNvSpPr>
              <p:nvPr>
                <p:ph idx="1"/>
              </p:nvPr>
            </p:nvSpPr>
            <p:spPr>
              <a:blipFill>
                <a:blip r:embed="rId2"/>
                <a:stretch>
                  <a:fillRect l="-676" t="-1970"/>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36F1F0BA-80AF-7931-EBBB-9E0E675C3370}"/>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6A0F6172-F0A2-1FB7-A4FD-64B7619234DD}"/>
              </a:ext>
            </a:extLst>
          </p:cNvPr>
          <p:cNvSpPr>
            <a:spLocks noGrp="1"/>
          </p:cNvSpPr>
          <p:nvPr>
            <p:ph type="sldNum" sz="quarter" idx="12"/>
          </p:nvPr>
        </p:nvSpPr>
        <p:spPr/>
        <p:txBody>
          <a:bodyPr/>
          <a:lstStyle/>
          <a:p>
            <a:fld id="{5AFE2CDC-18D4-4E7A-A4BC-D5EDA5D6481E}" type="slidenum">
              <a:rPr lang="en-IN" smtClean="0"/>
              <a:pPr/>
              <a:t>96</a:t>
            </a:fld>
            <a:endParaRPr lang="en-IN"/>
          </a:p>
        </p:txBody>
      </p:sp>
    </p:spTree>
    <p:extLst>
      <p:ext uri="{BB962C8B-B14F-4D97-AF65-F5344CB8AC3E}">
        <p14:creationId xmlns:p14="http://schemas.microsoft.com/office/powerpoint/2010/main" val="42550553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79950-7B53-9451-8299-E47B008735CE}"/>
              </a:ext>
            </a:extLst>
          </p:cNvPr>
          <p:cNvSpPr>
            <a:spLocks noGrp="1"/>
          </p:cNvSpPr>
          <p:nvPr>
            <p:ph type="title"/>
          </p:nvPr>
        </p:nvSpPr>
        <p:spPr>
          <a:xfrm>
            <a:off x="0" y="655211"/>
            <a:ext cx="12192000" cy="4083938"/>
          </a:xfrm>
        </p:spPr>
        <p:txBody>
          <a:bodyPr>
            <a:normAutofit fontScale="90000"/>
          </a:bodyPr>
          <a:lstStyle/>
          <a:p>
            <a:r>
              <a:rPr lang="en-IN">
                <a:solidFill>
                  <a:srgbClr val="FFFF00"/>
                </a:solidFill>
              </a:rPr>
              <a:t>॥ ९६॥ </a:t>
            </a:r>
            <a:r>
              <a:rPr lang="en-IN"/>
              <a:t>सर्वेषु च एतेषु नक्षत्रेषु स्त्री-पुंसक-लिङ्गानि निपतन्ति। यथा पुष्यः इति पुल्लिङ्ग-नक्षत्रे न पुंसकलिङ्गम्। सर्वाणि एतानि नक्षत्राणि स्त्रियः एव। तु एतानि जगति संज्ञां लभन्ते। सोमदैवतानि सर्वाणि। पतिर्हि दैवतं स्त्रीणां भवति। सोमपत्यश्च एताः यदपि अन्यई ग्रहैः संयुक्तानि अकर्मण्यानि भवति। तद्व्याख्यास्यामः॥</a:t>
            </a:r>
            <a:br>
              <a:rPr lang="en-IN"/>
            </a:br>
            <a:r>
              <a:rPr lang="en-IN">
                <a:solidFill>
                  <a:srgbClr val="FFFF00"/>
                </a:solidFill>
              </a:rPr>
              <a:t>॥ ९७॥ </a:t>
            </a:r>
            <a:r>
              <a:rPr lang="en-IN"/>
              <a:t>सोमस्त्वेतानि नक्षत्राणि सोमात्मकत्वात् उपसेव्यमानानि च आप्यायति। योगे घर्मतेजस्त्वादानात् आदित्यो नक्षत्रतेजांसि आदत्ते। तस्मात् आदित्यसंयुक्तं नक्षत्रम् अकर्मण्यं भवति॥</a:t>
            </a:r>
          </a:p>
        </p:txBody>
      </p:sp>
      <p:sp>
        <p:nvSpPr>
          <p:cNvPr id="3" name="Slide Number Placeholder 2">
            <a:extLst>
              <a:ext uri="{FF2B5EF4-FFF2-40B4-BE49-F238E27FC236}">
                <a16:creationId xmlns:a16="http://schemas.microsoft.com/office/drawing/2014/main" id="{39A5F42F-B8CA-D947-EB45-6F9082299765}"/>
              </a:ext>
            </a:extLst>
          </p:cNvPr>
          <p:cNvSpPr>
            <a:spLocks noGrp="1"/>
          </p:cNvSpPr>
          <p:nvPr>
            <p:ph type="sldNum" sz="quarter" idx="12"/>
          </p:nvPr>
        </p:nvSpPr>
        <p:spPr/>
        <p:txBody>
          <a:bodyPr/>
          <a:lstStyle/>
          <a:p>
            <a:fld id="{5AFE2CDC-18D4-4E7A-A4BC-D5EDA5D6481E}" type="slidenum">
              <a:rPr lang="en-IN" smtClean="0"/>
              <a:t>97</a:t>
            </a:fld>
            <a:endParaRPr lang="en-IN"/>
          </a:p>
        </p:txBody>
      </p:sp>
      <p:sp>
        <p:nvSpPr>
          <p:cNvPr id="4" name="Footer Placeholder 3">
            <a:extLst>
              <a:ext uri="{FF2B5EF4-FFF2-40B4-BE49-F238E27FC236}">
                <a16:creationId xmlns:a16="http://schemas.microsoft.com/office/drawing/2014/main" id="{E31F1685-09A4-46B8-B7DC-36D8020A1E5D}"/>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9058357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EE8096-F6FF-E265-AA2A-B16A8BE9323F}"/>
              </a:ext>
            </a:extLst>
          </p:cNvPr>
          <p:cNvSpPr>
            <a:spLocks noGrp="1"/>
          </p:cNvSpPr>
          <p:nvPr>
            <p:ph idx="1"/>
          </p:nvPr>
        </p:nvSpPr>
        <p:spPr/>
        <p:txBody>
          <a:bodyPr/>
          <a:lstStyle/>
          <a:p>
            <a:r>
              <a:rPr lang="en-IN"/>
              <a:t>सर्वाणि नक्षत्राणि स्त्रियाः एवं न तु पुंसाः वा नपुंसाः वा। </a:t>
            </a:r>
          </a:p>
          <a:p>
            <a:r>
              <a:rPr lang="en-IN"/>
              <a:t>सोमः नक्षत्राणां आत्मानः पोषयति।</a:t>
            </a:r>
          </a:p>
          <a:p>
            <a:r>
              <a:rPr lang="en-IN"/>
              <a:t>अन्यग्रहेण संयुक्तानि नक्षत्राणि अकर्मण्यानि।</a:t>
            </a:r>
          </a:p>
          <a:p>
            <a:r>
              <a:rPr lang="en-IN"/>
              <a:t>आदित्यः तेन सह संयुज्यमानानां नक्षत्राणां तेजः आदत्ते तस्य तेजसा आदानात् च। ततः तानि अकर्मण्यानि।</a:t>
            </a:r>
          </a:p>
        </p:txBody>
      </p:sp>
      <p:sp>
        <p:nvSpPr>
          <p:cNvPr id="4" name="Footer Placeholder 3">
            <a:extLst>
              <a:ext uri="{FF2B5EF4-FFF2-40B4-BE49-F238E27FC236}">
                <a16:creationId xmlns:a16="http://schemas.microsoft.com/office/drawing/2014/main" id="{5ECD3470-B631-D663-38F5-B5F946DDB221}"/>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06D8527C-6AFE-9D37-806D-9F283AC0A47F}"/>
              </a:ext>
            </a:extLst>
          </p:cNvPr>
          <p:cNvSpPr>
            <a:spLocks noGrp="1"/>
          </p:cNvSpPr>
          <p:nvPr>
            <p:ph type="sldNum" sz="quarter" idx="12"/>
          </p:nvPr>
        </p:nvSpPr>
        <p:spPr/>
        <p:txBody>
          <a:bodyPr/>
          <a:lstStyle/>
          <a:p>
            <a:fld id="{5AFE2CDC-18D4-4E7A-A4BC-D5EDA5D6481E}" type="slidenum">
              <a:rPr lang="en-IN" smtClean="0"/>
              <a:pPr/>
              <a:t>98</a:t>
            </a:fld>
            <a:endParaRPr lang="en-IN"/>
          </a:p>
        </p:txBody>
      </p:sp>
    </p:spTree>
    <p:extLst>
      <p:ext uri="{BB962C8B-B14F-4D97-AF65-F5344CB8AC3E}">
        <p14:creationId xmlns:p14="http://schemas.microsoft.com/office/powerpoint/2010/main" val="52736721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A5BDA-43C1-E871-C1E3-0954B033C34B}"/>
              </a:ext>
            </a:extLst>
          </p:cNvPr>
          <p:cNvSpPr>
            <a:spLocks noGrp="1"/>
          </p:cNvSpPr>
          <p:nvPr>
            <p:ph type="title"/>
          </p:nvPr>
        </p:nvSpPr>
        <p:spPr>
          <a:xfrm>
            <a:off x="0" y="753533"/>
            <a:ext cx="12192000" cy="3110544"/>
          </a:xfrm>
        </p:spPr>
        <p:txBody>
          <a:bodyPr>
            <a:normAutofit fontScale="90000"/>
          </a:bodyPr>
          <a:lstStyle/>
          <a:p>
            <a:r>
              <a:rPr lang="en-IN">
                <a:solidFill>
                  <a:srgbClr val="FFFF00"/>
                </a:solidFill>
              </a:rPr>
              <a:t>॥ ९८॥ </a:t>
            </a:r>
            <a:r>
              <a:rPr lang="en-IN"/>
              <a:t>सर्व एव एते सूर्य-बृहस्पति-अङ्गारक-बुध-शुक्र-शनैश्चर-राहु-केतवो नक्षत्राणाम् उपसर्गात् दैवतोपुष्टाः। एते नक्षत्राणि संस्पर्शोदयास्तमन-स्थान-कोप-मर्दन-धूपनैः उपसृजन्ति। तथा निर्घात-कम्पोल्का-परिवेष-तमांसि शब्द-कम्पन-ताडन-संरोध-वैवर्ण्य-प्रभानाशनैः उपसृजन्ति॥</a:t>
            </a:r>
            <a:br>
              <a:rPr lang="en-IN"/>
            </a:br>
            <a:r>
              <a:rPr lang="en-IN">
                <a:solidFill>
                  <a:srgbClr val="FFFF00"/>
                </a:solidFill>
              </a:rPr>
              <a:t>॥ ९९॥ </a:t>
            </a:r>
            <a:r>
              <a:rPr lang="en-IN"/>
              <a:t>नक्षत्रेषु च पीड्यमानेषु नक्षत्रदैवतकर्मजन्मसंश्रितानां कर्मणां वा उपसर्गः भवति। न च एते ग्रहाः नक्षत्रेषु सोमः भवन्ति॥</a:t>
            </a:r>
          </a:p>
        </p:txBody>
      </p:sp>
      <p:sp>
        <p:nvSpPr>
          <p:cNvPr id="3" name="Slide Number Placeholder 2">
            <a:extLst>
              <a:ext uri="{FF2B5EF4-FFF2-40B4-BE49-F238E27FC236}">
                <a16:creationId xmlns:a16="http://schemas.microsoft.com/office/drawing/2014/main" id="{856DC2F4-76FE-09CC-11D7-BC59C8C1960F}"/>
              </a:ext>
            </a:extLst>
          </p:cNvPr>
          <p:cNvSpPr>
            <a:spLocks noGrp="1"/>
          </p:cNvSpPr>
          <p:nvPr>
            <p:ph type="sldNum" sz="quarter" idx="12"/>
          </p:nvPr>
        </p:nvSpPr>
        <p:spPr/>
        <p:txBody>
          <a:bodyPr/>
          <a:lstStyle/>
          <a:p>
            <a:fld id="{5AFE2CDC-18D4-4E7A-A4BC-D5EDA5D6481E}" type="slidenum">
              <a:rPr lang="en-IN" smtClean="0"/>
              <a:t>99</a:t>
            </a:fld>
            <a:endParaRPr lang="en-IN"/>
          </a:p>
        </p:txBody>
      </p:sp>
      <p:sp>
        <p:nvSpPr>
          <p:cNvPr id="4" name="Footer Placeholder 3">
            <a:extLst>
              <a:ext uri="{FF2B5EF4-FFF2-40B4-BE49-F238E27FC236}">
                <a16:creationId xmlns:a16="http://schemas.microsoft.com/office/drawing/2014/main" id="{14129281-F6B0-81BA-6E0B-3B4B635D9BF5}"/>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0815285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8024E5-6DDE-B611-2326-11A06C1773B2}"/>
              </a:ext>
            </a:extLst>
          </p:cNvPr>
          <p:cNvSpPr>
            <a:spLocks noGrp="1"/>
          </p:cNvSpPr>
          <p:nvPr>
            <p:ph idx="1"/>
          </p:nvPr>
        </p:nvSpPr>
        <p:spPr/>
        <p:txBody>
          <a:bodyPr/>
          <a:lstStyle/>
          <a:p>
            <a:r>
              <a:rPr lang="en-IN"/>
              <a:t>ग्रहाः </a:t>
            </a:r>
            <a:r>
              <a:rPr lang="en-IN" sz="1800"/>
              <a:t>(सूर्यः बृहस्पतिः अङ्गारकः बुधः शुक्रः शनैश्चरः राहुः केतवः)</a:t>
            </a:r>
            <a:r>
              <a:rPr lang="en-IN"/>
              <a:t> नक्षत्रैः समीपत्वात् तया देवतया पुष्टाः भवन्ति।</a:t>
            </a:r>
          </a:p>
          <a:p>
            <a:r>
              <a:rPr lang="en-IN"/>
              <a:t>तेषां स्पर्शेन उदयास्तमनेन कोपेन धूपनेन वा नक्षत्रेषु प्रभावं भवति।</a:t>
            </a:r>
          </a:p>
          <a:p>
            <a:r>
              <a:rPr lang="en-IN"/>
              <a:t>तथा निर्घात-कम्प-उल्क-परिवेषण-तमसैः </a:t>
            </a:r>
            <a:r>
              <a:rPr lang="en-IN" sz="1600" i="1"/>
              <a:t>(impact-earthquake-meteor-halo-darkness)</a:t>
            </a:r>
            <a:r>
              <a:rPr lang="en-IN"/>
              <a:t> शब्द-कम्पन-ताडन-संरोधनं कृत्वा ते तानि पीडयन्ति।</a:t>
            </a:r>
          </a:p>
          <a:p>
            <a:pPr lvl="1"/>
            <a:r>
              <a:rPr lang="en-IN"/>
              <a:t>ग्रहाः नक्षत्रदेवतायाः योगं किञ्चित् स्वीकरोति। ततः एवं नक्षत्रकर्मगुणं न्यूनं भवति।</a:t>
            </a:r>
          </a:p>
          <a:p>
            <a:r>
              <a:rPr lang="en-IN"/>
              <a:t>यदा नक्षत्राणि पीड्यमानानि सन्ति तदा कर्मजन्मदेवतानां कार्याणि प्रभवन्ति।</a:t>
            </a:r>
          </a:p>
          <a:p>
            <a:r>
              <a:rPr lang="en-IN"/>
              <a:t>एते ग्रहाः सोमः न भवन्ति। तेषां सौम्यं नास्ति।</a:t>
            </a:r>
          </a:p>
          <a:p>
            <a:r>
              <a:rPr lang="en-IN"/>
              <a:t>अर्थात् यदा नक्षत्रं एकाकिन् तिष्ठति वा केवलं सोमेन सह तिष्ठति तेषां प्रभावः दृढं भवति। यदि अन्यग्रहः अपि तत्रैव भवति तर्हि सः ग्रहः तेषां प्रभावं न्यूनं करोति।</a:t>
            </a:r>
          </a:p>
        </p:txBody>
      </p:sp>
      <p:sp>
        <p:nvSpPr>
          <p:cNvPr id="4" name="Footer Placeholder 3">
            <a:extLst>
              <a:ext uri="{FF2B5EF4-FFF2-40B4-BE49-F238E27FC236}">
                <a16:creationId xmlns:a16="http://schemas.microsoft.com/office/drawing/2014/main" id="{898E198A-8AF7-3A91-38B3-012FD0DFF20C}"/>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95B83289-2814-09FD-193B-2C21D25AF75B}"/>
              </a:ext>
            </a:extLst>
          </p:cNvPr>
          <p:cNvSpPr>
            <a:spLocks noGrp="1"/>
          </p:cNvSpPr>
          <p:nvPr>
            <p:ph type="sldNum" sz="quarter" idx="12"/>
          </p:nvPr>
        </p:nvSpPr>
        <p:spPr/>
        <p:txBody>
          <a:bodyPr/>
          <a:lstStyle/>
          <a:p>
            <a:fld id="{5AFE2CDC-18D4-4E7A-A4BC-D5EDA5D6481E}" type="slidenum">
              <a:rPr lang="en-IN" smtClean="0"/>
              <a:pPr/>
              <a:t>100</a:t>
            </a:fld>
            <a:endParaRPr lang="en-IN"/>
          </a:p>
        </p:txBody>
      </p:sp>
    </p:spTree>
    <p:extLst>
      <p:ext uri="{BB962C8B-B14F-4D97-AF65-F5344CB8AC3E}">
        <p14:creationId xmlns:p14="http://schemas.microsoft.com/office/powerpoint/2010/main" val="18100413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A0C28-9B8B-C500-2715-1E34C67B4697}"/>
              </a:ext>
            </a:extLst>
          </p:cNvPr>
          <p:cNvSpPr>
            <a:spLocks noGrp="1"/>
          </p:cNvSpPr>
          <p:nvPr>
            <p:ph type="title"/>
          </p:nvPr>
        </p:nvSpPr>
        <p:spPr>
          <a:xfrm>
            <a:off x="0" y="753533"/>
            <a:ext cx="12192000" cy="3140041"/>
          </a:xfrm>
        </p:spPr>
        <p:txBody>
          <a:bodyPr>
            <a:normAutofit fontScale="90000"/>
          </a:bodyPr>
          <a:lstStyle/>
          <a:p>
            <a:r>
              <a:rPr lang="en-IN">
                <a:solidFill>
                  <a:srgbClr val="FFFF00"/>
                </a:solidFill>
              </a:rPr>
              <a:t>॥ १००॥ </a:t>
            </a:r>
            <a:r>
              <a:rPr lang="en-IN"/>
              <a:t>मार्गगत्या चारविशेषात्तुः यस्य यस्य नक्षत्रस्य यं यं कालम् अभितः तिष्ठन्ति तं तं कालं नक्षत्रम् उपसृजन्ति। स्वकीयैः पूर्वोक्तैः यथा च खल्वर्थापचयः पुरुषापचारनिमित्तं करणम् अपेक्ष्य अपराधानुरूपं तीक्ष्णा दृष्टिः निरीक्षण-अवभर्त्सन-तर्जन-परिवेषण-वध-बन्ध-परिक्लेशन-अर्थहरणैश्चपरुषात् संयोजनां जारयन्ति। तथैव ग्रहाः परिचारक्रुद्धाः सम्यक्प्रवृत्ताः निःप्रतापाः वा श्रितेषु नक्षत्रेषु पीडाम् अनेकाकारविधम् अनुग्रहं वा प्रयुञ्जते॥</a:t>
            </a:r>
          </a:p>
        </p:txBody>
      </p:sp>
      <p:sp>
        <p:nvSpPr>
          <p:cNvPr id="3" name="Slide Number Placeholder 2">
            <a:extLst>
              <a:ext uri="{FF2B5EF4-FFF2-40B4-BE49-F238E27FC236}">
                <a16:creationId xmlns:a16="http://schemas.microsoft.com/office/drawing/2014/main" id="{2C2D5537-47E7-370B-6D1A-8EDE463BD7AE}"/>
              </a:ext>
            </a:extLst>
          </p:cNvPr>
          <p:cNvSpPr>
            <a:spLocks noGrp="1"/>
          </p:cNvSpPr>
          <p:nvPr>
            <p:ph type="sldNum" sz="quarter" idx="12"/>
          </p:nvPr>
        </p:nvSpPr>
        <p:spPr/>
        <p:txBody>
          <a:bodyPr/>
          <a:lstStyle/>
          <a:p>
            <a:fld id="{5AFE2CDC-18D4-4E7A-A4BC-D5EDA5D6481E}" type="slidenum">
              <a:rPr lang="en-IN" smtClean="0"/>
              <a:t>101</a:t>
            </a:fld>
            <a:endParaRPr lang="en-IN"/>
          </a:p>
        </p:txBody>
      </p:sp>
      <p:sp>
        <p:nvSpPr>
          <p:cNvPr id="4" name="Footer Placeholder 3">
            <a:extLst>
              <a:ext uri="{FF2B5EF4-FFF2-40B4-BE49-F238E27FC236}">
                <a16:creationId xmlns:a16="http://schemas.microsoft.com/office/drawing/2014/main" id="{24398146-AD04-5872-E7A8-6967EAE59877}"/>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67067168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232A1C-CF8C-0F47-ABC0-2CED0D18BC70}"/>
              </a:ext>
            </a:extLst>
          </p:cNvPr>
          <p:cNvSpPr>
            <a:spLocks noGrp="1"/>
          </p:cNvSpPr>
          <p:nvPr>
            <p:ph idx="1"/>
          </p:nvPr>
        </p:nvSpPr>
        <p:spPr/>
        <p:txBody>
          <a:bodyPr/>
          <a:lstStyle/>
          <a:p>
            <a:r>
              <a:rPr lang="en-IN"/>
              <a:t>ग्रहाः यावत् नक्षत्रे तिष्ठन्ति तावत् तस्मिन् प्रभावं कुर्वन्ति।</a:t>
            </a:r>
          </a:p>
          <a:p>
            <a:r>
              <a:rPr lang="en-IN"/>
              <a:t>जनानां पापार्थं परुषाः ग्रहाः पीडयन्ति।</a:t>
            </a:r>
          </a:p>
          <a:p>
            <a:r>
              <a:rPr lang="en-IN"/>
              <a:t>ग्रहाणां बलाधारेण ते नक्षत्रेषु पीडयन्ति वा उपकारं कुर्वन्ति।</a:t>
            </a:r>
          </a:p>
        </p:txBody>
      </p:sp>
      <p:sp>
        <p:nvSpPr>
          <p:cNvPr id="4" name="Footer Placeholder 3">
            <a:extLst>
              <a:ext uri="{FF2B5EF4-FFF2-40B4-BE49-F238E27FC236}">
                <a16:creationId xmlns:a16="http://schemas.microsoft.com/office/drawing/2014/main" id="{8F364029-90E9-0CBE-13F0-3E32879F8A45}"/>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3C207E10-29F4-9D80-38A4-45E66D45D093}"/>
              </a:ext>
            </a:extLst>
          </p:cNvPr>
          <p:cNvSpPr>
            <a:spLocks noGrp="1"/>
          </p:cNvSpPr>
          <p:nvPr>
            <p:ph type="sldNum" sz="quarter" idx="12"/>
          </p:nvPr>
        </p:nvSpPr>
        <p:spPr/>
        <p:txBody>
          <a:bodyPr/>
          <a:lstStyle/>
          <a:p>
            <a:fld id="{5AFE2CDC-18D4-4E7A-A4BC-D5EDA5D6481E}" type="slidenum">
              <a:rPr lang="en-IN" smtClean="0"/>
              <a:pPr/>
              <a:t>102</a:t>
            </a:fld>
            <a:endParaRPr lang="en-IN"/>
          </a:p>
        </p:txBody>
      </p:sp>
    </p:spTree>
    <p:extLst>
      <p:ext uri="{BB962C8B-B14F-4D97-AF65-F5344CB8AC3E}">
        <p14:creationId xmlns:p14="http://schemas.microsoft.com/office/powerpoint/2010/main" val="6457818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4D295-904A-D521-0E9F-637F79FE6DE5}"/>
              </a:ext>
            </a:extLst>
          </p:cNvPr>
          <p:cNvSpPr>
            <a:spLocks noGrp="1"/>
          </p:cNvSpPr>
          <p:nvPr>
            <p:ph type="title"/>
          </p:nvPr>
        </p:nvSpPr>
        <p:spPr>
          <a:xfrm>
            <a:off x="0" y="596217"/>
            <a:ext cx="12192000" cy="4093770"/>
          </a:xfrm>
        </p:spPr>
        <p:txBody>
          <a:bodyPr>
            <a:normAutofit fontScale="90000"/>
          </a:bodyPr>
          <a:lstStyle/>
          <a:p>
            <a:r>
              <a:rPr lang="en-IN">
                <a:solidFill>
                  <a:srgbClr val="FFFF00"/>
                </a:solidFill>
              </a:rPr>
              <a:t>॥ १०१॥ </a:t>
            </a:r>
            <a:r>
              <a:rPr lang="en-IN"/>
              <a:t>तत्र खलु ग्रहाणां नक्षत्रेषु एकादशविधं पीडास्थानं भवति। तद्यथा। पार्थित-अवेक्षित-प्रयुक्ता-प्रेषिता-द्वारि-उपरि-क्रीडित-आम्रेडित-अपसव्यगमन-आक्रान्त-आहतानि। ज्योतिषां पञ्चविधं तु अनुगृह्णन्ते। ग्रहाः नक्षत्राणि प्रदक्षिणान्तरिताः प्रसीदितानि विमोक्षसम्यगुपस्थानैः च इति। तस्मात् सूर्यनिर्घातादिभिः उपसर्गैः विप्रयुक्ते अशुभगणान्वितेषु सोमसंयुक्तेषु नक्षत्रेषु कर्मारम्भाः न सिध्यन्ति। न ग्रहसंयुक्तेषु कर्मण्यं हि ग्रहादिभिः उपसर्गैः संयुक्तं नक्षत्रं भवति। एवम् एव वा एते बुध-शनैश्चर-अङ्गारक-बृहस्पति-शुक्र-राहुकेतवः वीर्यतः उत्तरोत्तरं बलवत्तराः॥</a:t>
            </a:r>
          </a:p>
        </p:txBody>
      </p:sp>
      <p:sp>
        <p:nvSpPr>
          <p:cNvPr id="3" name="Slide Number Placeholder 2">
            <a:extLst>
              <a:ext uri="{FF2B5EF4-FFF2-40B4-BE49-F238E27FC236}">
                <a16:creationId xmlns:a16="http://schemas.microsoft.com/office/drawing/2014/main" id="{92BBBDE2-84D0-8FD0-3288-9C15FC039427}"/>
              </a:ext>
            </a:extLst>
          </p:cNvPr>
          <p:cNvSpPr>
            <a:spLocks noGrp="1"/>
          </p:cNvSpPr>
          <p:nvPr>
            <p:ph type="sldNum" sz="quarter" idx="12"/>
          </p:nvPr>
        </p:nvSpPr>
        <p:spPr/>
        <p:txBody>
          <a:bodyPr/>
          <a:lstStyle/>
          <a:p>
            <a:fld id="{5AFE2CDC-18D4-4E7A-A4BC-D5EDA5D6481E}" type="slidenum">
              <a:rPr lang="en-IN" smtClean="0"/>
              <a:t>103</a:t>
            </a:fld>
            <a:endParaRPr lang="en-IN"/>
          </a:p>
        </p:txBody>
      </p:sp>
      <p:sp>
        <p:nvSpPr>
          <p:cNvPr id="4" name="Footer Placeholder 3">
            <a:extLst>
              <a:ext uri="{FF2B5EF4-FFF2-40B4-BE49-F238E27FC236}">
                <a16:creationId xmlns:a16="http://schemas.microsoft.com/office/drawing/2014/main" id="{6724DF32-12FA-CB51-7217-857227E7B05B}"/>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9696265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89163F-FE1F-46A8-6346-CD1B3DD14B0A}"/>
              </a:ext>
            </a:extLst>
          </p:cNvPr>
          <p:cNvSpPr>
            <a:spLocks noGrp="1"/>
          </p:cNvSpPr>
          <p:nvPr>
            <p:ph idx="1"/>
          </p:nvPr>
        </p:nvSpPr>
        <p:spPr/>
        <p:txBody>
          <a:bodyPr/>
          <a:lstStyle/>
          <a:p>
            <a:r>
              <a:rPr lang="en-IN"/>
              <a:t>ग्रहाणां नक्षत्रेषु एकादश पीड्यस्थानानि सन्ति। एते पार्थितम् </a:t>
            </a:r>
            <a:r>
              <a:rPr lang="en-IN" sz="1600" i="1"/>
              <a:t>(desired)</a:t>
            </a:r>
            <a:r>
              <a:rPr lang="en-IN"/>
              <a:t> अवेक्षितः </a:t>
            </a:r>
            <a:r>
              <a:rPr lang="en-IN" sz="1600" i="1"/>
              <a:t>(looking towards)</a:t>
            </a:r>
            <a:r>
              <a:rPr lang="en-IN"/>
              <a:t> प्रयुक्ता </a:t>
            </a:r>
            <a:r>
              <a:rPr lang="en-IN" sz="1600" i="1"/>
              <a:t>(urged)</a:t>
            </a:r>
            <a:r>
              <a:rPr lang="en-IN"/>
              <a:t> प्रोषिता </a:t>
            </a:r>
            <a:r>
              <a:rPr lang="en-IN" sz="1600" i="1"/>
              <a:t>(absent)</a:t>
            </a:r>
            <a:r>
              <a:rPr lang="en-IN"/>
              <a:t> द्वारि </a:t>
            </a:r>
            <a:r>
              <a:rPr lang="en-IN" sz="1600" i="1"/>
              <a:t>(at the door)</a:t>
            </a:r>
            <a:r>
              <a:rPr lang="en-IN"/>
              <a:t> उपरि </a:t>
            </a:r>
            <a:r>
              <a:rPr lang="en-IN" sz="1600" i="1"/>
              <a:t>(above)</a:t>
            </a:r>
            <a:r>
              <a:rPr lang="en-IN"/>
              <a:t> क्रीडितः </a:t>
            </a:r>
            <a:r>
              <a:rPr lang="en-IN" sz="1600" i="1"/>
              <a:t>(playful)</a:t>
            </a:r>
            <a:r>
              <a:rPr lang="en-IN"/>
              <a:t> आम्रेडितः </a:t>
            </a:r>
            <a:r>
              <a:rPr lang="en-IN" sz="1600" i="1"/>
              <a:t>(repeated)</a:t>
            </a:r>
            <a:r>
              <a:rPr lang="en-IN"/>
              <a:t> अपसव्यगमनः </a:t>
            </a:r>
            <a:r>
              <a:rPr lang="en-IN" sz="1600" i="1"/>
              <a:t>(anticlockwise)</a:t>
            </a:r>
            <a:r>
              <a:rPr lang="en-IN"/>
              <a:t> आक्रान्तः </a:t>
            </a:r>
            <a:r>
              <a:rPr lang="en-IN" sz="1600" i="1"/>
              <a:t>(attacked)</a:t>
            </a:r>
            <a:r>
              <a:rPr lang="en-IN"/>
              <a:t> आहतः </a:t>
            </a:r>
            <a:r>
              <a:rPr lang="en-IN" sz="1600" i="1"/>
              <a:t>(struck)</a:t>
            </a:r>
            <a:r>
              <a:rPr lang="en-IN"/>
              <a:t> च।</a:t>
            </a:r>
          </a:p>
          <a:p>
            <a:r>
              <a:rPr lang="en-IN"/>
              <a:t>ते ग्रहाः नक्षत्राणि पञ्चविधेषु अनुगृह्णन्ति – नक्षत्राण्यपेक्षया प्रदक्षिणाः </a:t>
            </a:r>
            <a:r>
              <a:rPr lang="en-IN" sz="1600" i="1"/>
              <a:t>(clockwise)</a:t>
            </a:r>
            <a:r>
              <a:rPr lang="en-IN"/>
              <a:t> अन्तरिताः </a:t>
            </a:r>
            <a:r>
              <a:rPr lang="en-IN" sz="1600" i="1"/>
              <a:t>(inside) </a:t>
            </a:r>
            <a:r>
              <a:rPr lang="en-IN"/>
              <a:t>प्रसीदिताः </a:t>
            </a:r>
            <a:r>
              <a:rPr lang="en-IN" sz="1600" i="1"/>
              <a:t>(pleased)</a:t>
            </a:r>
            <a:r>
              <a:rPr lang="en-IN"/>
              <a:t> विमुक्ताः </a:t>
            </a:r>
            <a:r>
              <a:rPr lang="en-IN" sz="1600" i="1"/>
              <a:t>(released)</a:t>
            </a:r>
            <a:r>
              <a:rPr lang="en-IN"/>
              <a:t> सम्यकुपस्थिताः </a:t>
            </a:r>
            <a:r>
              <a:rPr lang="en-IN" sz="1600" i="1"/>
              <a:t>(properly positioned)</a:t>
            </a:r>
            <a:r>
              <a:rPr lang="en-IN"/>
              <a:t> वा ग्रहाः सन्ति।</a:t>
            </a:r>
          </a:p>
          <a:p>
            <a:r>
              <a:rPr lang="en-IN"/>
              <a:t>ततः ग्रहणेन परिवेषणेन विनापि यदि एतेषु नक्षत्रग्रहेषु कार्यं कुर्मः तत् फलवत् न भवति।</a:t>
            </a:r>
          </a:p>
          <a:p>
            <a:r>
              <a:rPr lang="en-IN"/>
              <a:t>ग्रहबलः ईदृशः – बुधः, शनिः, अङ्गारकः, बृहस्पतिः, शुक्रः, राहुः, केतवः च।</a:t>
            </a:r>
          </a:p>
        </p:txBody>
      </p:sp>
      <p:sp>
        <p:nvSpPr>
          <p:cNvPr id="4" name="Footer Placeholder 3">
            <a:extLst>
              <a:ext uri="{FF2B5EF4-FFF2-40B4-BE49-F238E27FC236}">
                <a16:creationId xmlns:a16="http://schemas.microsoft.com/office/drawing/2014/main" id="{721BB807-D467-377C-2587-7B0B10EDF67D}"/>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FA3BB2ED-34AE-3AB6-266E-681A33167749}"/>
              </a:ext>
            </a:extLst>
          </p:cNvPr>
          <p:cNvSpPr>
            <a:spLocks noGrp="1"/>
          </p:cNvSpPr>
          <p:nvPr>
            <p:ph type="sldNum" sz="quarter" idx="12"/>
          </p:nvPr>
        </p:nvSpPr>
        <p:spPr/>
        <p:txBody>
          <a:bodyPr/>
          <a:lstStyle/>
          <a:p>
            <a:fld id="{5AFE2CDC-18D4-4E7A-A4BC-D5EDA5D6481E}" type="slidenum">
              <a:rPr lang="en-IN" smtClean="0"/>
              <a:pPr/>
              <a:t>104</a:t>
            </a:fld>
            <a:endParaRPr lang="en-IN"/>
          </a:p>
        </p:txBody>
      </p:sp>
    </p:spTree>
    <p:extLst>
      <p:ext uri="{BB962C8B-B14F-4D97-AF65-F5344CB8AC3E}">
        <p14:creationId xmlns:p14="http://schemas.microsoft.com/office/powerpoint/2010/main" val="421612552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BC8EB-EAC6-1742-ED3B-F9EB0ED114D5}"/>
              </a:ext>
            </a:extLst>
          </p:cNvPr>
          <p:cNvSpPr>
            <a:spLocks noGrp="1"/>
          </p:cNvSpPr>
          <p:nvPr>
            <p:ph type="title"/>
          </p:nvPr>
        </p:nvSpPr>
        <p:spPr>
          <a:xfrm>
            <a:off x="0" y="566720"/>
            <a:ext cx="12192000" cy="4142932"/>
          </a:xfrm>
        </p:spPr>
        <p:txBody>
          <a:bodyPr>
            <a:normAutofit fontScale="90000"/>
          </a:bodyPr>
          <a:lstStyle/>
          <a:p>
            <a:r>
              <a:rPr lang="en-IN">
                <a:solidFill>
                  <a:srgbClr val="FFFF00"/>
                </a:solidFill>
              </a:rPr>
              <a:t>॥ १०२॥ </a:t>
            </a:r>
            <a:r>
              <a:rPr lang="en-IN"/>
              <a:t>सर्वचैषां नक्षत्राणां कर्मसु कृत्तिकाः प्रथमम् आचक्षते। श्रविष्ठा तु संख्यया पूर्वलग्नानाम्। अनुराधा पश्चिमनिघ्नानाम्। रोहिणी सर्वनक्षत्राणाम्। मघा सौर्याणां सौम्यानां च अयननक्षत्राणाम्। सर्वासां च षडशीतीनाम् आदिः श्रविष्ठा। पञ्चवर्षस्य युगस्य आदिः संवत्सरः। वसन्तः ऋतूनाम्। माघो मासानाम्। पक्षाणां शुक्लः। अयनानाम् उत्तरम्। दिवसानां शुक्लप्रतिपत्। मुहूर्तानां रौद्रः। करणानां किंस्तुघ्नः। ग्रहाणां सूर्यः। ताराणां ध्रुवः॥</a:t>
            </a:r>
            <a:br>
              <a:rPr lang="en-IN"/>
            </a:br>
            <a:r>
              <a:rPr lang="en-IN">
                <a:solidFill>
                  <a:srgbClr val="FFFF00"/>
                </a:solidFill>
              </a:rPr>
              <a:t>॥ १०३॥ </a:t>
            </a:r>
            <a:r>
              <a:rPr lang="en-IN"/>
              <a:t>कोटिसहस्राणि च दश नित्यता दृश्यन्ते ताराः। चैताः वपुषा संयुक्ताः इति। तारयन्ति वा गगनतलां स्वैः कर्मस्वभावैः लोके इति ताराः॥</a:t>
            </a:r>
          </a:p>
        </p:txBody>
      </p:sp>
      <p:sp>
        <p:nvSpPr>
          <p:cNvPr id="3" name="Slide Number Placeholder 2">
            <a:extLst>
              <a:ext uri="{FF2B5EF4-FFF2-40B4-BE49-F238E27FC236}">
                <a16:creationId xmlns:a16="http://schemas.microsoft.com/office/drawing/2014/main" id="{02C7C75C-ABF6-3D35-E88B-472857700581}"/>
              </a:ext>
            </a:extLst>
          </p:cNvPr>
          <p:cNvSpPr>
            <a:spLocks noGrp="1"/>
          </p:cNvSpPr>
          <p:nvPr>
            <p:ph type="sldNum" sz="quarter" idx="12"/>
          </p:nvPr>
        </p:nvSpPr>
        <p:spPr/>
        <p:txBody>
          <a:bodyPr/>
          <a:lstStyle/>
          <a:p>
            <a:fld id="{5AFE2CDC-18D4-4E7A-A4BC-D5EDA5D6481E}" type="slidenum">
              <a:rPr lang="en-IN" smtClean="0"/>
              <a:t>105</a:t>
            </a:fld>
            <a:endParaRPr lang="en-IN"/>
          </a:p>
        </p:txBody>
      </p:sp>
      <p:sp>
        <p:nvSpPr>
          <p:cNvPr id="4" name="Footer Placeholder 3">
            <a:extLst>
              <a:ext uri="{FF2B5EF4-FFF2-40B4-BE49-F238E27FC236}">
                <a16:creationId xmlns:a16="http://schemas.microsoft.com/office/drawing/2014/main" id="{6BD199EF-BFAE-A08A-4688-40355898DF12}"/>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392836094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2AD5BE-A0B7-8746-3BEB-351BB28601DE}"/>
              </a:ext>
            </a:extLst>
          </p:cNvPr>
          <p:cNvSpPr>
            <a:spLocks noGrp="1"/>
          </p:cNvSpPr>
          <p:nvPr>
            <p:ph idx="1"/>
          </p:nvPr>
        </p:nvSpPr>
        <p:spPr>
          <a:xfrm>
            <a:off x="685800" y="1356852"/>
            <a:ext cx="10820400" cy="5136021"/>
          </a:xfrm>
        </p:spPr>
        <p:txBody>
          <a:bodyPr>
            <a:normAutofit fontScale="92500" lnSpcReduction="10000"/>
          </a:bodyPr>
          <a:lstStyle/>
          <a:p>
            <a:r>
              <a:rPr lang="en-IN" sz="2400"/>
              <a:t>सर्वेषु आदयः – </a:t>
            </a:r>
          </a:p>
          <a:p>
            <a:pPr lvl="1"/>
            <a:r>
              <a:rPr lang="en-IN" sz="2200"/>
              <a:t>कर्मसु कृत्तिका प्रथमा।</a:t>
            </a:r>
          </a:p>
          <a:p>
            <a:pPr lvl="1"/>
            <a:r>
              <a:rPr lang="en-IN" sz="2200"/>
              <a:t>पूर्वलग्नगणना श्रविष्ठायाः आरभ्यते।</a:t>
            </a:r>
          </a:p>
          <a:p>
            <a:pPr lvl="1"/>
            <a:r>
              <a:rPr lang="en-IN" sz="2200"/>
              <a:t>पश्चिमनिघ्नानाम् अनुराधा।</a:t>
            </a:r>
          </a:p>
          <a:p>
            <a:pPr lvl="1"/>
            <a:r>
              <a:rPr lang="en-IN" sz="2200"/>
              <a:t>रुहिणी नक्षत्रेषु प्रथमा।</a:t>
            </a:r>
          </a:p>
          <a:p>
            <a:pPr lvl="1"/>
            <a:r>
              <a:rPr lang="en-IN" sz="2200"/>
              <a:t>अयननक्षत्राणां मघा आद्या। </a:t>
            </a:r>
            <a:r>
              <a:rPr lang="en-IN" sz="2200" i="1"/>
              <a:t>(तदा मघादिकल्पः)</a:t>
            </a:r>
          </a:p>
          <a:p>
            <a:pPr lvl="1"/>
            <a:r>
              <a:rPr lang="en-IN" sz="2200"/>
              <a:t>षडशीतिनां श्रविष्ठा प्रथमा। </a:t>
            </a:r>
          </a:p>
          <a:p>
            <a:pPr lvl="2"/>
            <a:r>
              <a:rPr lang="en-IN"/>
              <a:t>अभिजिता सह २७ नक्षत्रेषु ८६ ताराः सन्ति। अभिजिति ३ ताराः।</a:t>
            </a:r>
          </a:p>
          <a:p>
            <a:pPr lvl="1"/>
            <a:r>
              <a:rPr lang="en-IN" sz="2200"/>
              <a:t>पञ्चवर्षयुगस्य आदिः संवत्सरः। ऋतूनां वसन्तः। </a:t>
            </a:r>
          </a:p>
          <a:p>
            <a:pPr lvl="1"/>
            <a:r>
              <a:rPr lang="en-IN" sz="2200"/>
              <a:t>मासानां माघः। पक्षाणां शुक्लपक्षः। दिनेषु शुक्लप्रथिपत्।</a:t>
            </a:r>
          </a:p>
          <a:p>
            <a:pPr lvl="1"/>
            <a:r>
              <a:rPr lang="en-IN" sz="2200"/>
              <a:t>अयनानां उत्तरायणम्।</a:t>
            </a:r>
          </a:p>
          <a:p>
            <a:pPr lvl="1"/>
            <a:r>
              <a:rPr lang="en-IN" sz="2200"/>
              <a:t>मुहूर्तेषु रौद्रः </a:t>
            </a:r>
            <a:r>
              <a:rPr lang="en-IN" sz="1900" i="1"/>
              <a:t>(सूर्योदयात् प्रथममुहूर्तः)</a:t>
            </a:r>
            <a:r>
              <a:rPr lang="en-IN" sz="2200"/>
              <a:t>। करणानां किंस्तुघ्नः।</a:t>
            </a:r>
          </a:p>
          <a:p>
            <a:pPr lvl="1"/>
            <a:r>
              <a:rPr lang="en-IN" sz="2200"/>
              <a:t>ग्रहाणां सूर्यः। </a:t>
            </a:r>
          </a:p>
          <a:p>
            <a:pPr lvl="1"/>
            <a:r>
              <a:rPr lang="en-IN" sz="2200"/>
              <a:t>ताराणां च ध्रुवः।</a:t>
            </a:r>
          </a:p>
          <a:p>
            <a:r>
              <a:rPr lang="en-IN" sz="2400"/>
              <a:t>प्रतिदिनं कोटिसहस्राणि च दश ताराः दृष्यन्ते </a:t>
            </a:r>
            <a:r>
              <a:rPr lang="en-IN" sz="2400" i="1"/>
              <a:t>(= १०,००,००,००,०१० = १०</a:t>
            </a:r>
            <a:r>
              <a:rPr lang="en-IN" sz="2400" i="1" baseline="30000"/>
              <a:t>१०</a:t>
            </a:r>
            <a:r>
              <a:rPr lang="en-IN" sz="2400" i="1"/>
              <a:t>+१०)</a:t>
            </a:r>
            <a:r>
              <a:rPr lang="en-IN" sz="2400"/>
              <a:t>।</a:t>
            </a:r>
          </a:p>
          <a:p>
            <a:r>
              <a:rPr lang="en-IN" sz="2400"/>
              <a:t>ते गगने तारन्यन्ति इति ताराः।</a:t>
            </a:r>
          </a:p>
        </p:txBody>
      </p:sp>
      <p:sp>
        <p:nvSpPr>
          <p:cNvPr id="4" name="Footer Placeholder 3">
            <a:extLst>
              <a:ext uri="{FF2B5EF4-FFF2-40B4-BE49-F238E27FC236}">
                <a16:creationId xmlns:a16="http://schemas.microsoft.com/office/drawing/2014/main" id="{3FFCFF5A-4BB5-C2F2-31C4-1272CFF9A884}"/>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A5D82AD0-3FA7-51AD-983B-090519B65247}"/>
              </a:ext>
            </a:extLst>
          </p:cNvPr>
          <p:cNvSpPr>
            <a:spLocks noGrp="1"/>
          </p:cNvSpPr>
          <p:nvPr>
            <p:ph type="sldNum" sz="quarter" idx="12"/>
          </p:nvPr>
        </p:nvSpPr>
        <p:spPr/>
        <p:txBody>
          <a:bodyPr/>
          <a:lstStyle/>
          <a:p>
            <a:fld id="{5AFE2CDC-18D4-4E7A-A4BC-D5EDA5D6481E}" type="slidenum">
              <a:rPr lang="en-IN" smtClean="0"/>
              <a:pPr/>
              <a:t>106</a:t>
            </a:fld>
            <a:endParaRPr lang="en-IN"/>
          </a:p>
        </p:txBody>
      </p:sp>
    </p:spTree>
    <p:extLst>
      <p:ext uri="{BB962C8B-B14F-4D97-AF65-F5344CB8AC3E}">
        <p14:creationId xmlns:p14="http://schemas.microsoft.com/office/powerpoint/2010/main" val="291883346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65D1637-6879-A21D-B2A7-6C46E57AD184}"/>
              </a:ext>
            </a:extLst>
          </p:cNvPr>
          <p:cNvSpPr>
            <a:spLocks noGrp="1"/>
          </p:cNvSpPr>
          <p:nvPr>
            <p:ph type="title"/>
          </p:nvPr>
        </p:nvSpPr>
        <p:spPr/>
        <p:txBody>
          <a:bodyPr/>
          <a:lstStyle/>
          <a:p>
            <a:r>
              <a:rPr lang="en-IN"/>
              <a:t>पञ्चाङ्गम्</a:t>
            </a:r>
          </a:p>
        </p:txBody>
      </p:sp>
      <p:sp>
        <p:nvSpPr>
          <p:cNvPr id="7" name="Text Placeholder 6">
            <a:extLst>
              <a:ext uri="{FF2B5EF4-FFF2-40B4-BE49-F238E27FC236}">
                <a16:creationId xmlns:a16="http://schemas.microsoft.com/office/drawing/2014/main" id="{C3A7D5E8-4116-F307-0D78-53D27AC38750}"/>
              </a:ext>
            </a:extLst>
          </p:cNvPr>
          <p:cNvSpPr>
            <a:spLocks noGrp="1"/>
          </p:cNvSpPr>
          <p:nvPr>
            <p:ph type="body" sz="half" idx="2"/>
          </p:nvPr>
        </p:nvSpPr>
        <p:spPr/>
        <p:txBody>
          <a:bodyPr/>
          <a:lstStyle/>
          <a:p>
            <a:endParaRPr lang="en-IN"/>
          </a:p>
        </p:txBody>
      </p:sp>
      <p:sp>
        <p:nvSpPr>
          <p:cNvPr id="5" name="Slide Number Placeholder 4">
            <a:extLst>
              <a:ext uri="{FF2B5EF4-FFF2-40B4-BE49-F238E27FC236}">
                <a16:creationId xmlns:a16="http://schemas.microsoft.com/office/drawing/2014/main" id="{A3254488-29E6-E52F-864B-17BB169D90E1}"/>
              </a:ext>
            </a:extLst>
          </p:cNvPr>
          <p:cNvSpPr>
            <a:spLocks noGrp="1"/>
          </p:cNvSpPr>
          <p:nvPr>
            <p:ph type="sldNum" sz="quarter" idx="12"/>
          </p:nvPr>
        </p:nvSpPr>
        <p:spPr/>
        <p:txBody>
          <a:bodyPr/>
          <a:lstStyle/>
          <a:p>
            <a:fld id="{5AFE2CDC-18D4-4E7A-A4BC-D5EDA5D6481E}" type="slidenum">
              <a:rPr lang="en-IN" smtClean="0"/>
              <a:pPr/>
              <a:t>107</a:t>
            </a:fld>
            <a:endParaRPr lang="en-IN"/>
          </a:p>
        </p:txBody>
      </p:sp>
      <p:sp>
        <p:nvSpPr>
          <p:cNvPr id="4" name="Footer Placeholder 3">
            <a:extLst>
              <a:ext uri="{FF2B5EF4-FFF2-40B4-BE49-F238E27FC236}">
                <a16:creationId xmlns:a16="http://schemas.microsoft.com/office/drawing/2014/main" id="{84FE8007-057D-84C5-CF41-FBEA0E3EA907}"/>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41057276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130D2-E716-012F-5F92-F0B43DE08995}"/>
              </a:ext>
            </a:extLst>
          </p:cNvPr>
          <p:cNvSpPr>
            <a:spLocks noGrp="1"/>
          </p:cNvSpPr>
          <p:nvPr>
            <p:ph type="title"/>
          </p:nvPr>
        </p:nvSpPr>
        <p:spPr>
          <a:xfrm>
            <a:off x="0" y="753533"/>
            <a:ext cx="12192000" cy="3140041"/>
          </a:xfrm>
        </p:spPr>
        <p:txBody>
          <a:bodyPr>
            <a:normAutofit fontScale="90000"/>
          </a:bodyPr>
          <a:lstStyle/>
          <a:p>
            <a:r>
              <a:rPr lang="en-IN">
                <a:solidFill>
                  <a:srgbClr val="FFFF00"/>
                </a:solidFill>
              </a:rPr>
              <a:t>॥ १०४॥</a:t>
            </a:r>
            <a:r>
              <a:rPr lang="en-IN"/>
              <a:t> त्रयः ऋतवः इत्याह कृष्णात्रेयः। स षड्गर्गः। द्वादश इति नारदः। चतुर्विंशति इत्याह भागुरिः। त्रीणि च शतानि षट्षष्टानि इत्याह क्रोष्टुकिः। सर्वेह्येते ऋतम् ऊचुः। सर्वेह्येते महातपसः॥</a:t>
            </a:r>
            <a:br>
              <a:rPr lang="en-IN"/>
            </a:br>
            <a:r>
              <a:rPr lang="en-IN">
                <a:solidFill>
                  <a:srgbClr val="FFFF00"/>
                </a:solidFill>
              </a:rPr>
              <a:t>॥ १०५॥ </a:t>
            </a:r>
            <a:r>
              <a:rPr lang="en-IN"/>
              <a:t>सूर्यस्त्वान्तरं च प्रदक्षिणं भुवनम् उपरिक्रामन्मेरुं प्रदक्षिणं करोति। पर्येति मेरोः हि त्रीणि शिरांसि काञ्चनानि दक्षिणोत्तरमध्यगानि। तान्येतानि परिक्रामन् शीतं चोष्णं च वर्षं च करोति विवस्वान्॥</a:t>
            </a:r>
          </a:p>
        </p:txBody>
      </p:sp>
      <p:sp>
        <p:nvSpPr>
          <p:cNvPr id="3" name="Slide Number Placeholder 2">
            <a:extLst>
              <a:ext uri="{FF2B5EF4-FFF2-40B4-BE49-F238E27FC236}">
                <a16:creationId xmlns:a16="http://schemas.microsoft.com/office/drawing/2014/main" id="{E8B1A910-2CE9-F19E-0253-426B6CCDB6C5}"/>
              </a:ext>
            </a:extLst>
          </p:cNvPr>
          <p:cNvSpPr>
            <a:spLocks noGrp="1"/>
          </p:cNvSpPr>
          <p:nvPr>
            <p:ph type="sldNum" sz="quarter" idx="12"/>
          </p:nvPr>
        </p:nvSpPr>
        <p:spPr/>
        <p:txBody>
          <a:bodyPr/>
          <a:lstStyle/>
          <a:p>
            <a:fld id="{5AFE2CDC-18D4-4E7A-A4BC-D5EDA5D6481E}" type="slidenum">
              <a:rPr lang="en-IN" smtClean="0"/>
              <a:t>108</a:t>
            </a:fld>
            <a:endParaRPr lang="en-IN"/>
          </a:p>
        </p:txBody>
      </p:sp>
      <p:sp>
        <p:nvSpPr>
          <p:cNvPr id="4" name="Footer Placeholder 3">
            <a:extLst>
              <a:ext uri="{FF2B5EF4-FFF2-40B4-BE49-F238E27FC236}">
                <a16:creationId xmlns:a16="http://schemas.microsoft.com/office/drawing/2014/main" id="{E00D8B2E-324B-3272-D5B8-9761988F9C93}"/>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185042479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3127E1-2C36-4601-0054-152303ACDD62}"/>
              </a:ext>
            </a:extLst>
          </p:cNvPr>
          <p:cNvSpPr>
            <a:spLocks noGrp="1"/>
          </p:cNvSpPr>
          <p:nvPr>
            <p:ph idx="1"/>
          </p:nvPr>
        </p:nvSpPr>
        <p:spPr/>
        <p:txBody>
          <a:bodyPr>
            <a:normAutofit/>
          </a:bodyPr>
          <a:lstStyle/>
          <a:p>
            <a:r>
              <a:rPr lang="en-IN"/>
              <a:t>ऋतूनां विषये ऋषयः भिन्नाः सङ्ख्याः ददन्ति। </a:t>
            </a:r>
          </a:p>
          <a:p>
            <a:r>
              <a:rPr lang="en-IN"/>
              <a:t>अत्र ऋतु इति कश्चन कालान्तरम् एव।</a:t>
            </a:r>
          </a:p>
          <a:p>
            <a:pPr lvl="1"/>
            <a:r>
              <a:rPr lang="en-IN"/>
              <a:t>३ सन्ति इति कृष्णात्रेयः वदति – प्रायः ३ चातुर्मास्याः।</a:t>
            </a:r>
          </a:p>
          <a:p>
            <a:pPr lvl="1"/>
            <a:r>
              <a:rPr lang="en-IN"/>
              <a:t>६ सन्ति इति गर्गः वदति – वसन्तादि ऋतवः।</a:t>
            </a:r>
          </a:p>
          <a:p>
            <a:pPr lvl="1"/>
            <a:r>
              <a:rPr lang="en-IN"/>
              <a:t>१२ इति नारदः वदति – १२ मासानि।</a:t>
            </a:r>
          </a:p>
          <a:p>
            <a:pPr lvl="1"/>
            <a:r>
              <a:rPr lang="en-IN"/>
              <a:t>२४ इति भागुरिः वदति – २४ पक्षाः।</a:t>
            </a:r>
          </a:p>
          <a:p>
            <a:pPr lvl="1"/>
            <a:r>
              <a:rPr lang="en-IN"/>
              <a:t>३६६ इति क्रोष्टुकिः वदति – ३६६ दिनानि वर्षे।</a:t>
            </a:r>
          </a:p>
          <a:p>
            <a:r>
              <a:rPr lang="en-IN"/>
              <a:t>सूर्यः भूमिं प्रदक्षिणं करोति। मेरुम् अपि प्रदक्षिणं करोति।</a:t>
            </a:r>
          </a:p>
          <a:p>
            <a:r>
              <a:rPr lang="en-IN"/>
              <a:t>सः मेरोः त्रिणि शिरांसि गच्छति दक्षिणे उत्तरे मध्ये च।</a:t>
            </a:r>
          </a:p>
          <a:p>
            <a:r>
              <a:rPr lang="en-IN"/>
              <a:t>एतानि परिक्रामन् सः विवस्वान् शीतं ऊष्णं वर्षां च उत्पादयति।</a:t>
            </a:r>
          </a:p>
        </p:txBody>
      </p:sp>
      <p:sp>
        <p:nvSpPr>
          <p:cNvPr id="4" name="Footer Placeholder 3">
            <a:extLst>
              <a:ext uri="{FF2B5EF4-FFF2-40B4-BE49-F238E27FC236}">
                <a16:creationId xmlns:a16="http://schemas.microsoft.com/office/drawing/2014/main" id="{157FE5C6-AD1C-4228-DF83-60C46120F86B}"/>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880AE67E-A4DA-91AA-10F5-8B5D9427177B}"/>
              </a:ext>
            </a:extLst>
          </p:cNvPr>
          <p:cNvSpPr>
            <a:spLocks noGrp="1"/>
          </p:cNvSpPr>
          <p:nvPr>
            <p:ph type="sldNum" sz="quarter" idx="12"/>
          </p:nvPr>
        </p:nvSpPr>
        <p:spPr/>
        <p:txBody>
          <a:bodyPr/>
          <a:lstStyle/>
          <a:p>
            <a:fld id="{5AFE2CDC-18D4-4E7A-A4BC-D5EDA5D6481E}" type="slidenum">
              <a:rPr lang="en-IN" smtClean="0"/>
              <a:pPr/>
              <a:t>109</a:t>
            </a:fld>
            <a:endParaRPr lang="en-IN"/>
          </a:p>
        </p:txBody>
      </p:sp>
    </p:spTree>
    <p:extLst>
      <p:ext uri="{BB962C8B-B14F-4D97-AF65-F5344CB8AC3E}">
        <p14:creationId xmlns:p14="http://schemas.microsoft.com/office/powerpoint/2010/main" val="8044767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888B9-A6E3-437B-6897-2ABA6E269C7D}"/>
              </a:ext>
            </a:extLst>
          </p:cNvPr>
          <p:cNvSpPr>
            <a:spLocks noGrp="1"/>
          </p:cNvSpPr>
          <p:nvPr>
            <p:ph type="title"/>
          </p:nvPr>
        </p:nvSpPr>
        <p:spPr>
          <a:xfrm>
            <a:off x="0" y="753533"/>
            <a:ext cx="12192000" cy="3661151"/>
          </a:xfrm>
        </p:spPr>
        <p:txBody>
          <a:bodyPr>
            <a:normAutofit/>
          </a:bodyPr>
          <a:lstStyle/>
          <a:p>
            <a:r>
              <a:rPr lang="en-IN">
                <a:solidFill>
                  <a:srgbClr val="FFFF00"/>
                </a:solidFill>
              </a:rPr>
              <a:t>॥ १०६॥ </a:t>
            </a:r>
            <a:r>
              <a:rPr lang="en-IN"/>
              <a:t>संख्याः। यज्ञे संख्यायांपञ्चसंवत्सराः। दश सूर्यायनानि। चतुस्त्रिंशच्चान्द्रायणशतं भवति। षण्मासात् सविता उद्गच्छति। षण्मासान् दक्षिणतः उदगयनं देवानां पुण्यम्। दक्षिणायनम् असुराणाम्। तस्मात् उदगयनस्थे सवितरि ब्रह्मक्षत्रस्य सर्वासाम् ईज्यानाम् आरम्भो भवति इत्याहुः वेदावेदविदः च सर्वे॥</a:t>
            </a:r>
          </a:p>
        </p:txBody>
      </p:sp>
      <p:sp>
        <p:nvSpPr>
          <p:cNvPr id="3" name="Slide Number Placeholder 2">
            <a:extLst>
              <a:ext uri="{FF2B5EF4-FFF2-40B4-BE49-F238E27FC236}">
                <a16:creationId xmlns:a16="http://schemas.microsoft.com/office/drawing/2014/main" id="{7D782801-EAFE-34E1-B8EB-40987D2FC361}"/>
              </a:ext>
            </a:extLst>
          </p:cNvPr>
          <p:cNvSpPr>
            <a:spLocks noGrp="1"/>
          </p:cNvSpPr>
          <p:nvPr>
            <p:ph type="sldNum" sz="quarter" idx="12"/>
          </p:nvPr>
        </p:nvSpPr>
        <p:spPr/>
        <p:txBody>
          <a:bodyPr/>
          <a:lstStyle/>
          <a:p>
            <a:fld id="{5AFE2CDC-18D4-4E7A-A4BC-D5EDA5D6481E}" type="slidenum">
              <a:rPr lang="en-IN" smtClean="0"/>
              <a:t>110</a:t>
            </a:fld>
            <a:endParaRPr lang="en-IN"/>
          </a:p>
        </p:txBody>
      </p:sp>
      <p:sp>
        <p:nvSpPr>
          <p:cNvPr id="4" name="Footer Placeholder 3">
            <a:extLst>
              <a:ext uri="{FF2B5EF4-FFF2-40B4-BE49-F238E27FC236}">
                <a16:creationId xmlns:a16="http://schemas.microsoft.com/office/drawing/2014/main" id="{1833721A-2AFE-693A-B512-7B039F332F08}"/>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268994320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CE82B9-8AA9-4C7F-82FE-D75C6AF9431C}"/>
              </a:ext>
            </a:extLst>
          </p:cNvPr>
          <p:cNvSpPr>
            <a:spLocks noGrp="1"/>
          </p:cNvSpPr>
          <p:nvPr>
            <p:ph idx="1"/>
          </p:nvPr>
        </p:nvSpPr>
        <p:spPr/>
        <p:txBody>
          <a:bodyPr>
            <a:normAutofit/>
          </a:bodyPr>
          <a:lstStyle/>
          <a:p>
            <a:endParaRPr lang="en-IN"/>
          </a:p>
          <a:p>
            <a:r>
              <a:rPr lang="en-IN"/>
              <a:t>यज्ञे ५ संवत्सराः।</a:t>
            </a:r>
          </a:p>
          <a:p>
            <a:pPr lvl="1"/>
            <a:r>
              <a:rPr lang="en-IN"/>
              <a:t>तस्मात् सूर्यस्य अयनाः १०।</a:t>
            </a:r>
          </a:p>
          <a:p>
            <a:pPr lvl="1"/>
            <a:r>
              <a:rPr lang="en-IN"/>
              <a:t>चन्द्रस्य अयनाः १३४।</a:t>
            </a:r>
          </a:p>
          <a:p>
            <a:r>
              <a:rPr lang="en-IN"/>
              <a:t>सूर्यः ६ मासेभ्यः उत्तरं गच्छति। एतत् उत्तरायणम्। तत्समयं देवेभ्यः पुण्यम्।</a:t>
            </a:r>
          </a:p>
          <a:p>
            <a:r>
              <a:rPr lang="en-IN"/>
              <a:t>उत्तरायणे ब्राह्मणानां क्षत्रियाणां च सर्वाणि कार्याणि आरभ्यन्ते।</a:t>
            </a:r>
          </a:p>
          <a:p>
            <a:r>
              <a:rPr lang="en-IN"/>
              <a:t>६ मासेभ्यः सूर्यः दक्षिणं गच्छति। एतत् दक्षिणायणम्। तत्समयं असुरेभ्यः।</a:t>
            </a:r>
          </a:p>
        </p:txBody>
      </p:sp>
      <p:sp>
        <p:nvSpPr>
          <p:cNvPr id="4" name="Footer Placeholder 3">
            <a:extLst>
              <a:ext uri="{FF2B5EF4-FFF2-40B4-BE49-F238E27FC236}">
                <a16:creationId xmlns:a16="http://schemas.microsoft.com/office/drawing/2014/main" id="{8BB50CA5-5CF6-C1F6-7641-937D8A01BFA8}"/>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62389D9A-AF11-9A1C-2918-46FCDF76AC53}"/>
              </a:ext>
            </a:extLst>
          </p:cNvPr>
          <p:cNvSpPr>
            <a:spLocks noGrp="1"/>
          </p:cNvSpPr>
          <p:nvPr>
            <p:ph type="sldNum" sz="quarter" idx="12"/>
          </p:nvPr>
        </p:nvSpPr>
        <p:spPr/>
        <p:txBody>
          <a:bodyPr/>
          <a:lstStyle/>
          <a:p>
            <a:fld id="{5AFE2CDC-18D4-4E7A-A4BC-D5EDA5D6481E}" type="slidenum">
              <a:rPr lang="en-IN" smtClean="0"/>
              <a:pPr/>
              <a:t>111</a:t>
            </a:fld>
            <a:endParaRPr lang="en-IN"/>
          </a:p>
        </p:txBody>
      </p:sp>
    </p:spTree>
    <p:extLst>
      <p:ext uri="{BB962C8B-B14F-4D97-AF65-F5344CB8AC3E}">
        <p14:creationId xmlns:p14="http://schemas.microsoft.com/office/powerpoint/2010/main" val="340048936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08641-4768-3735-ED8B-2B66C44C8882}"/>
              </a:ext>
            </a:extLst>
          </p:cNvPr>
          <p:cNvSpPr>
            <a:spLocks noGrp="1"/>
          </p:cNvSpPr>
          <p:nvPr>
            <p:ph type="title"/>
          </p:nvPr>
        </p:nvSpPr>
        <p:spPr/>
        <p:txBody>
          <a:bodyPr/>
          <a:lstStyle/>
          <a:p>
            <a:r>
              <a:rPr lang="en-IN"/>
              <a:t>पञ्चाङ्गम्</a:t>
            </a:r>
          </a:p>
        </p:txBody>
      </p:sp>
      <p:sp>
        <p:nvSpPr>
          <p:cNvPr id="3" name="Content Placeholder 2">
            <a:extLst>
              <a:ext uri="{FF2B5EF4-FFF2-40B4-BE49-F238E27FC236}">
                <a16:creationId xmlns:a16="http://schemas.microsoft.com/office/drawing/2014/main" id="{CB1115AD-A3C7-6713-FFE2-854930CA5660}"/>
              </a:ext>
            </a:extLst>
          </p:cNvPr>
          <p:cNvSpPr>
            <a:spLocks noGrp="1"/>
          </p:cNvSpPr>
          <p:nvPr>
            <p:ph idx="1"/>
          </p:nvPr>
        </p:nvSpPr>
        <p:spPr/>
        <p:txBody>
          <a:bodyPr/>
          <a:lstStyle/>
          <a:p>
            <a:r>
              <a:rPr lang="en-IN"/>
              <a:t>यदा सूर्योदयः मघानक्षत्रे आगच्छति स्म तदेवं वर्षस्य प्रथमं दिनम्।</a:t>
            </a:r>
          </a:p>
          <a:p>
            <a:r>
              <a:rPr lang="en-IN"/>
              <a:t>सूर्यः ३६६ दिनेषु २७ नक्षत्रणि प्रविष्टवान्। ततः १ वर्षः = ३६६ दिनानि।</a:t>
            </a:r>
          </a:p>
          <a:p>
            <a:r>
              <a:rPr lang="en-IN"/>
              <a:t>१० सूर्य-अयनानि = १३४ चन्द्र-अयनानि = ५ सूर्य-ताराचक्राणि = ६७ चन्द्र-ताराचक्राणि।</a:t>
            </a:r>
          </a:p>
          <a:p>
            <a:r>
              <a:rPr lang="en-IN"/>
              <a:t>महासलिले तिथेः उपयोगः नास्ति। ‘अयनं’ ‘ऋतुं’ ‘मासं’ ‘पक्षं’ ‘नक्षत्रं’ करणमाश्रित्य गणना क्रियते।</a:t>
            </a:r>
          </a:p>
        </p:txBody>
      </p:sp>
      <p:sp>
        <p:nvSpPr>
          <p:cNvPr id="4" name="Footer Placeholder 3">
            <a:extLst>
              <a:ext uri="{FF2B5EF4-FFF2-40B4-BE49-F238E27FC236}">
                <a16:creationId xmlns:a16="http://schemas.microsoft.com/office/drawing/2014/main" id="{6E946FEA-ABD5-EDF0-2C25-F6B7B3344914}"/>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34781BD9-509D-E487-D08A-F7ADEA1BECCE}"/>
              </a:ext>
            </a:extLst>
          </p:cNvPr>
          <p:cNvSpPr>
            <a:spLocks noGrp="1"/>
          </p:cNvSpPr>
          <p:nvPr>
            <p:ph type="sldNum" sz="quarter" idx="12"/>
          </p:nvPr>
        </p:nvSpPr>
        <p:spPr/>
        <p:txBody>
          <a:bodyPr/>
          <a:lstStyle/>
          <a:p>
            <a:fld id="{5AFE2CDC-18D4-4E7A-A4BC-D5EDA5D6481E}" type="slidenum">
              <a:rPr lang="en-IN" smtClean="0"/>
              <a:pPr/>
              <a:t>112</a:t>
            </a:fld>
            <a:endParaRPr lang="en-IN"/>
          </a:p>
        </p:txBody>
      </p:sp>
    </p:spTree>
    <p:extLst>
      <p:ext uri="{BB962C8B-B14F-4D97-AF65-F5344CB8AC3E}">
        <p14:creationId xmlns:p14="http://schemas.microsoft.com/office/powerpoint/2010/main" val="18001019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BABE0-7D2E-1A48-60D0-4867765C2EF9}"/>
              </a:ext>
            </a:extLst>
          </p:cNvPr>
          <p:cNvSpPr>
            <a:spLocks noGrp="1"/>
          </p:cNvSpPr>
          <p:nvPr>
            <p:ph type="title"/>
          </p:nvPr>
        </p:nvSpPr>
        <p:spPr/>
        <p:txBody>
          <a:bodyPr/>
          <a:lstStyle/>
          <a:p>
            <a:r>
              <a:rPr lang="en-IN"/>
              <a:t>तिथिः</a:t>
            </a:r>
          </a:p>
        </p:txBody>
      </p:sp>
      <p:sp>
        <p:nvSpPr>
          <p:cNvPr id="3" name="Content Placeholder 2">
            <a:extLst>
              <a:ext uri="{FF2B5EF4-FFF2-40B4-BE49-F238E27FC236}">
                <a16:creationId xmlns:a16="http://schemas.microsoft.com/office/drawing/2014/main" id="{56B87FCC-DF53-036A-33EC-66FF814917F0}"/>
              </a:ext>
            </a:extLst>
          </p:cNvPr>
          <p:cNvSpPr>
            <a:spLocks noGrp="1"/>
          </p:cNvSpPr>
          <p:nvPr>
            <p:ph idx="1"/>
          </p:nvPr>
        </p:nvSpPr>
        <p:spPr/>
        <p:txBody>
          <a:bodyPr>
            <a:normAutofit/>
          </a:bodyPr>
          <a:lstStyle/>
          <a:p>
            <a:r>
              <a:rPr lang="en-IN"/>
              <a:t>१ अहोरात्रे = ३० मुहूर्तानि।</a:t>
            </a:r>
          </a:p>
          <a:p>
            <a:r>
              <a:rPr lang="en-IN"/>
              <a:t>१ पक्षः </a:t>
            </a:r>
            <a:r>
              <a:rPr lang="en-IN">
                <a:latin typeface="Google Sans"/>
              </a:rPr>
              <a:t>= </a:t>
            </a:r>
            <a:r>
              <a:rPr lang="en-IN"/>
              <a:t>१५ दिनानि (ते स्थिराणि इति वैदिकप्रयोगम्)।</a:t>
            </a:r>
          </a:p>
          <a:p>
            <a:r>
              <a:rPr lang="en-IN"/>
              <a:t>१ मासः = ३० तिथयः = २८-३० अहोरात्राणि (अस्थिराणि)।</a:t>
            </a:r>
          </a:p>
          <a:p>
            <a:r>
              <a:rPr lang="en-IN"/>
              <a:t>तैत्तिरीयब्राह्मणे ६० सज्ञावाचकशब्दैः ३० तिथीनां नामानि दत्तानि सन्ति।</a:t>
            </a:r>
          </a:p>
          <a:p>
            <a:r>
              <a:rPr lang="en-IN"/>
              <a:t>अनन्तरं ३० तिथयः = ३० अहोरात्राणि (एकैकस्य ३० मुहूर्तम्) = १२४ लवाः इति योजितवन्तः।</a:t>
            </a:r>
          </a:p>
        </p:txBody>
      </p:sp>
      <p:sp>
        <p:nvSpPr>
          <p:cNvPr id="4" name="Footer Placeholder 3">
            <a:extLst>
              <a:ext uri="{FF2B5EF4-FFF2-40B4-BE49-F238E27FC236}">
                <a16:creationId xmlns:a16="http://schemas.microsoft.com/office/drawing/2014/main" id="{4AA44964-A7FD-3E6C-F1D7-AC1931224640}"/>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3EE26A3B-DB54-C98B-2BBA-9465F7E2B988}"/>
              </a:ext>
            </a:extLst>
          </p:cNvPr>
          <p:cNvSpPr>
            <a:spLocks noGrp="1"/>
          </p:cNvSpPr>
          <p:nvPr>
            <p:ph type="sldNum" sz="quarter" idx="12"/>
          </p:nvPr>
        </p:nvSpPr>
        <p:spPr/>
        <p:txBody>
          <a:bodyPr/>
          <a:lstStyle/>
          <a:p>
            <a:fld id="{5AFE2CDC-18D4-4E7A-A4BC-D5EDA5D6481E}" type="slidenum">
              <a:rPr lang="en-IN" smtClean="0"/>
              <a:pPr/>
              <a:t>113</a:t>
            </a:fld>
            <a:endParaRPr lang="en-IN"/>
          </a:p>
        </p:txBody>
      </p:sp>
    </p:spTree>
    <p:extLst>
      <p:ext uri="{BB962C8B-B14F-4D97-AF65-F5344CB8AC3E}">
        <p14:creationId xmlns:p14="http://schemas.microsoft.com/office/powerpoint/2010/main" val="307865616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64CD1-0FC0-B34A-7CC0-0D195E11A0FC}"/>
              </a:ext>
            </a:extLst>
          </p:cNvPr>
          <p:cNvSpPr>
            <a:spLocks noGrp="1"/>
          </p:cNvSpPr>
          <p:nvPr>
            <p:ph type="title"/>
          </p:nvPr>
        </p:nvSpPr>
        <p:spPr/>
        <p:txBody>
          <a:bodyPr/>
          <a:lstStyle/>
          <a:p>
            <a:r>
              <a:rPr lang="en-IN"/>
              <a:t>करणम्</a:t>
            </a:r>
          </a:p>
        </p:txBody>
      </p:sp>
      <p:sp>
        <p:nvSpPr>
          <p:cNvPr id="3" name="Content Placeholder 2">
            <a:extLst>
              <a:ext uri="{FF2B5EF4-FFF2-40B4-BE49-F238E27FC236}">
                <a16:creationId xmlns:a16="http://schemas.microsoft.com/office/drawing/2014/main" id="{9FBED95E-2ADA-6F7A-2D72-EC86EBABE323}"/>
              </a:ext>
            </a:extLst>
          </p:cNvPr>
          <p:cNvSpPr>
            <a:spLocks noGrp="1"/>
          </p:cNvSpPr>
          <p:nvPr>
            <p:ph idx="1"/>
          </p:nvPr>
        </p:nvSpPr>
        <p:spPr>
          <a:xfrm>
            <a:off x="5791198" y="2194560"/>
            <a:ext cx="5715001" cy="4024125"/>
          </a:xfrm>
        </p:spPr>
        <p:txBody>
          <a:bodyPr/>
          <a:lstStyle/>
          <a:p>
            <a:r>
              <a:rPr lang="en-IN"/>
              <a:t>तिथेः अस्थिरगूणस्य स्पष्टीकरणार्थं करणं योजितवन्तः। </a:t>
            </a:r>
          </a:p>
          <a:p>
            <a:r>
              <a:rPr lang="en-IN"/>
              <a:t>३० तिथयः = ११ करणनि (४ स्थिराणि, ७ चराणि)।</a:t>
            </a:r>
          </a:p>
          <a:p>
            <a:r>
              <a:rPr lang="en-IN"/>
              <a:t>शुक्लपक्षस्य प्रथमादिनं सर्वदा किंस्तुघ्नकरनात् आरभ्यते – स्थिरम्।</a:t>
            </a:r>
          </a:p>
          <a:p>
            <a:r>
              <a:rPr lang="en-IN"/>
              <a:t>कृष्णपक्षस्य अन्तिमरात्री अन्तिमदिनं अमावास्यरात्री सर्वदा शकुनी चतुष्पात् नाग करणानि भवन्ति – स्थिराणि।</a:t>
            </a:r>
          </a:p>
          <a:p>
            <a:r>
              <a:rPr lang="en-IN"/>
              <a:t>अन्यानि दिनानि रात्रयः च बाव-बालव-कौलव-तैतिल-गर-वणिज-विष्टि इति चरकरणानि भवन्ति।</a:t>
            </a:r>
          </a:p>
        </p:txBody>
      </p:sp>
      <p:sp>
        <p:nvSpPr>
          <p:cNvPr id="4" name="Footer Placeholder 3">
            <a:extLst>
              <a:ext uri="{FF2B5EF4-FFF2-40B4-BE49-F238E27FC236}">
                <a16:creationId xmlns:a16="http://schemas.microsoft.com/office/drawing/2014/main" id="{1D7EC1E3-0F62-B45D-E5DC-1E48383F0586}"/>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
        <p:nvSpPr>
          <p:cNvPr id="5" name="Slide Number Placeholder 4">
            <a:extLst>
              <a:ext uri="{FF2B5EF4-FFF2-40B4-BE49-F238E27FC236}">
                <a16:creationId xmlns:a16="http://schemas.microsoft.com/office/drawing/2014/main" id="{A083AC4A-FE6B-C1F3-9E05-F97FCF43DF12}"/>
              </a:ext>
            </a:extLst>
          </p:cNvPr>
          <p:cNvSpPr>
            <a:spLocks noGrp="1"/>
          </p:cNvSpPr>
          <p:nvPr>
            <p:ph type="sldNum" sz="quarter" idx="12"/>
          </p:nvPr>
        </p:nvSpPr>
        <p:spPr/>
        <p:txBody>
          <a:bodyPr/>
          <a:lstStyle/>
          <a:p>
            <a:fld id="{5AFE2CDC-18D4-4E7A-A4BC-D5EDA5D6481E}" type="slidenum">
              <a:rPr lang="en-IN" smtClean="0"/>
              <a:pPr/>
              <a:t>114</a:t>
            </a:fld>
            <a:endParaRPr lang="en-IN"/>
          </a:p>
        </p:txBody>
      </p:sp>
      <p:pic>
        <p:nvPicPr>
          <p:cNvPr id="7" name="Picture 6">
            <a:extLst>
              <a:ext uri="{FF2B5EF4-FFF2-40B4-BE49-F238E27FC236}">
                <a16:creationId xmlns:a16="http://schemas.microsoft.com/office/drawing/2014/main" id="{57B489CA-AB42-44A0-D657-5F83ABDCC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35" y="0"/>
            <a:ext cx="5444746" cy="6492874"/>
          </a:xfrm>
          <a:prstGeom prst="rect">
            <a:avLst/>
          </a:prstGeom>
        </p:spPr>
      </p:pic>
    </p:spTree>
    <p:extLst>
      <p:ext uri="{BB962C8B-B14F-4D97-AF65-F5344CB8AC3E}">
        <p14:creationId xmlns:p14="http://schemas.microsoft.com/office/powerpoint/2010/main" val="133764413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FCBA8-665A-5FE2-FB02-77E55385B7DC}"/>
              </a:ext>
            </a:extLst>
          </p:cNvPr>
          <p:cNvSpPr>
            <a:spLocks noGrp="1"/>
          </p:cNvSpPr>
          <p:nvPr>
            <p:ph type="title"/>
          </p:nvPr>
        </p:nvSpPr>
        <p:spPr>
          <a:xfrm>
            <a:off x="0" y="753533"/>
            <a:ext cx="12192000" cy="2992557"/>
          </a:xfrm>
        </p:spPr>
        <p:txBody>
          <a:bodyPr>
            <a:normAutofit/>
          </a:bodyPr>
          <a:lstStyle/>
          <a:p>
            <a:r>
              <a:rPr lang="en-IN">
                <a:solidFill>
                  <a:srgbClr val="FFFF00"/>
                </a:solidFill>
              </a:rPr>
              <a:t>॥ १०७॥ </a:t>
            </a:r>
            <a:r>
              <a:rPr lang="en-IN"/>
              <a:t>इत्येतत् ज्योतिषाङ्गं महता सलिलार्णवादि प्रजासंभवनात् इति। अतः अस्य शास्त्रस्य महत्सलिलम् एतत् हि पुण्यं यशस्यम् आयुष्यं कल्मषनाशनं सर्वसंशयानां व्याकरणम्। नापुत्राय प्रदेयम्। एतत् विज्ञानपरमम्। इति॥</a:t>
            </a:r>
          </a:p>
        </p:txBody>
      </p:sp>
      <p:sp>
        <p:nvSpPr>
          <p:cNvPr id="3" name="Slide Number Placeholder 2">
            <a:extLst>
              <a:ext uri="{FF2B5EF4-FFF2-40B4-BE49-F238E27FC236}">
                <a16:creationId xmlns:a16="http://schemas.microsoft.com/office/drawing/2014/main" id="{FE058E4F-6D7A-C7BA-7840-0969C15EB926}"/>
              </a:ext>
            </a:extLst>
          </p:cNvPr>
          <p:cNvSpPr>
            <a:spLocks noGrp="1"/>
          </p:cNvSpPr>
          <p:nvPr>
            <p:ph type="sldNum" sz="quarter" idx="12"/>
          </p:nvPr>
        </p:nvSpPr>
        <p:spPr/>
        <p:txBody>
          <a:bodyPr/>
          <a:lstStyle/>
          <a:p>
            <a:fld id="{5AFE2CDC-18D4-4E7A-A4BC-D5EDA5D6481E}" type="slidenum">
              <a:rPr lang="en-IN" smtClean="0"/>
              <a:t>115</a:t>
            </a:fld>
            <a:endParaRPr lang="en-IN"/>
          </a:p>
        </p:txBody>
      </p:sp>
      <p:sp>
        <p:nvSpPr>
          <p:cNvPr id="4" name="Footer Placeholder 3">
            <a:extLst>
              <a:ext uri="{FF2B5EF4-FFF2-40B4-BE49-F238E27FC236}">
                <a16:creationId xmlns:a16="http://schemas.microsoft.com/office/drawing/2014/main" id="{E3CF4218-68AA-74CB-34D9-2F99AFC0DEA9}"/>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40053307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2512-5AA7-8291-D24B-A10918102DDC}"/>
              </a:ext>
            </a:extLst>
          </p:cNvPr>
          <p:cNvSpPr>
            <a:spLocks noGrp="1"/>
          </p:cNvSpPr>
          <p:nvPr>
            <p:ph type="title"/>
          </p:nvPr>
        </p:nvSpPr>
        <p:spPr/>
        <p:txBody>
          <a:bodyPr/>
          <a:lstStyle/>
          <a:p>
            <a:r>
              <a:rPr lang="en-IN">
                <a:solidFill>
                  <a:srgbClr val="FFFF00"/>
                </a:solidFill>
              </a:rPr>
              <a:t>॥ १०८॥ </a:t>
            </a:r>
            <a:r>
              <a:rPr lang="en-IN"/>
              <a:t>वृद्धगार्गीये ज्योतिषे सलिलं नामाध्यायः॥</a:t>
            </a:r>
          </a:p>
        </p:txBody>
      </p:sp>
      <p:sp>
        <p:nvSpPr>
          <p:cNvPr id="3" name="Slide Number Placeholder 2">
            <a:extLst>
              <a:ext uri="{FF2B5EF4-FFF2-40B4-BE49-F238E27FC236}">
                <a16:creationId xmlns:a16="http://schemas.microsoft.com/office/drawing/2014/main" id="{E9C508BC-CEFD-52B4-2397-31EDEBCEB553}"/>
              </a:ext>
            </a:extLst>
          </p:cNvPr>
          <p:cNvSpPr>
            <a:spLocks noGrp="1"/>
          </p:cNvSpPr>
          <p:nvPr>
            <p:ph type="sldNum" sz="quarter" idx="12"/>
          </p:nvPr>
        </p:nvSpPr>
        <p:spPr/>
        <p:txBody>
          <a:bodyPr/>
          <a:lstStyle/>
          <a:p>
            <a:fld id="{5AFE2CDC-18D4-4E7A-A4BC-D5EDA5D6481E}" type="slidenum">
              <a:rPr lang="en-IN" smtClean="0"/>
              <a:t>116</a:t>
            </a:fld>
            <a:endParaRPr lang="en-IN"/>
          </a:p>
        </p:txBody>
      </p:sp>
      <p:sp>
        <p:nvSpPr>
          <p:cNvPr id="4" name="Footer Placeholder 3">
            <a:extLst>
              <a:ext uri="{FF2B5EF4-FFF2-40B4-BE49-F238E27FC236}">
                <a16:creationId xmlns:a16="http://schemas.microsoft.com/office/drawing/2014/main" id="{A1600FDA-EC46-D34C-6A27-BFB7036FA6A3}"/>
              </a:ext>
            </a:extLst>
          </p:cNvPr>
          <p:cNvSpPr>
            <a:spLocks noGrp="1"/>
          </p:cNvSpPr>
          <p:nvPr>
            <p:ph type="ftr" sz="quarter" idx="11"/>
          </p:nvPr>
        </p:nvSpPr>
        <p:spPr/>
        <p:txBody>
          <a:bodyPr/>
          <a:lstStyle/>
          <a:p>
            <a:r>
              <a:rPr lang="en-IN"/>
              <a:t>महासलिलम् </a:t>
            </a:r>
            <a:r>
              <a:rPr lang="en-IN" sz="1400"/>
              <a:t>(</a:t>
            </a:r>
            <a:r>
              <a:rPr lang="hi-IN" sz="1400"/>
              <a:t>दीप्ति हरिहरण्</a:t>
            </a:r>
            <a:r>
              <a:rPr lang="en-IN" sz="1400"/>
              <a:t>)</a:t>
            </a:r>
          </a:p>
        </p:txBody>
      </p:sp>
    </p:spTree>
    <p:extLst>
      <p:ext uri="{BB962C8B-B14F-4D97-AF65-F5344CB8AC3E}">
        <p14:creationId xmlns:p14="http://schemas.microsoft.com/office/powerpoint/2010/main" val="698661705"/>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Custom 2">
      <a:majorFont>
        <a:latin typeface="Sanskrit Text"/>
        <a:ea typeface=""/>
        <a:cs typeface="Sanskrit Text"/>
      </a:majorFont>
      <a:minorFont>
        <a:latin typeface="Sanskrit Text"/>
        <a:ea typeface=""/>
        <a:cs typeface="Sanskrit Text"/>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4949</TotalTime>
  <Words>8328</Words>
  <Application>Microsoft Office PowerPoint</Application>
  <PresentationFormat>Widescreen</PresentationFormat>
  <Paragraphs>721</Paragraphs>
  <Slides>116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116</vt:i4>
      </vt:variant>
    </vt:vector>
  </HeadingPairs>
  <TitlesOfParts>
    <vt:vector size="122" baseType="lpstr">
      <vt:lpstr>Arial</vt:lpstr>
      <vt:lpstr>Calibri</vt:lpstr>
      <vt:lpstr>Cambria Math</vt:lpstr>
      <vt:lpstr>Google Sans</vt:lpstr>
      <vt:lpstr>Sanskrit Text</vt:lpstr>
      <vt:lpstr>Vapor Trail</vt:lpstr>
      <vt:lpstr>महासलिलम्</vt:lpstr>
      <vt:lpstr>ग्रन्थपरिचयः</vt:lpstr>
      <vt:lpstr>मघादिकल्पः</vt:lpstr>
      <vt:lpstr>॥ १॥ अथाथो महासलिलम् अनुव्याख्यास्यामः इति ह स्माह भगवान्॥</vt:lpstr>
      <vt:lpstr>PowerPoint Presentation</vt:lpstr>
      <vt:lpstr>॥ २॥ भागीरथ्याः सुरजलवाहिन्याः पुण्यथीर्थायाः त्रिभुवनभाविन्याः महर्षिसिद्धिसेवितायाः तीरे अमर्त्यम् उग्रतपसं सर्वज्ञं सर्वदर्शिनं वीतपाप्मानम् अनन्तविज्ञानम् आङ्गीरसं महर्षिं वृद्धगर्गं हुताग्निहोत्रं कृतजाप्यमङ्गलम् अपतभयत्रिमोहप्रसन्नम् अमरसमम् आश्रमस्थमासीनम् अभिसमीक्ष्य अथ महर्षिः विश्वामित्रो महातपाश्च अभिगम्य सर्वं चानुपूर्वं स्पृष्ट्वा उपविश्य सुखं कथान्तरे प्रश्नविदमनुपप्रच्छ आङ्गीरसम्॥</vt:lpstr>
      <vt:lpstr>॥ ३॥ भगवन् सर्वदर्शी त्वं महांश्च संशयः प्रादुर्भूतः शृणु। अथ इमाः प्रजाः स्थावरजङ्गमाः तथा द्यौरन्तरिक्षं पृथिवी च। तत्र कथमियं पृथिवी प्रादुर्बभूव। कस्माच्चेयं पृथिवी। क्व वा तिष्ठति। कथं वान्तरिक्षम्। कथं वा द्यौः॥ ॥ ४॥ कथं वा स्थावरजङ्गमानि भूतानि। कथं च उत्पन्ननि। सर्वाणि एव च महाभूतानि पञ्च तेषां किम् उग्रे सम्भूतम्॥ ॥ ५॥ तथा च समुद्राः कथं कति वा। कथं तेषां समुद्रत्वं सरितश्च॥ ॥ ६॥ कथं सर्वे गिरयश्चोत्पन्नाः। पर्वतानां वा कथं पर्वतत्वम्। गिरीणां वा कथं गिरित्वम्॥ ॥ ७॥ कथं च इमे नानाप्रकाराः तिर्यग्गतयो वाताः भवन्ति॥</vt:lpstr>
      <vt:lpstr>॥ ८॥ कथं वा वर्षन्ति अभ्राणि वा धारयन्ति॥ ॥ ९॥ कथं च इह एते व्याधीवीरुधश्च। कथं विरूढाः। कथं वनस्पतयः पुष्यन्ति फलन्ति वा गृह्णन्ति॥ ॥ १०॥ कथमिमौ सूर्याचन्द्रमसौ उदयेते गच्छतो वा। कथं क्व विनिमज्जतः*। किं वैतयोः रश्म्यः परिसङ्ख्यायन्ते। कथं वा चन्द्रमसो वृद्धह्रासौ वा। को वैतमाप्यायते ह्रासयते वा। कथं वा चन्द्रमसश्चन्द्रत्वम्। कथं शशाङ्कः। किं वाप्येतत् शशाङ्कसंस्थितलक्ष्म चन्द्रमण्डलमध्ये। किं वा आदित्यस्य आदित्यत्वं सूर्यत्वं वा॥ ॥ ११॥ कथं वा अहोरात्रे वा अनयोः पूर्वमहः रात्रिर्वा। कथं प्रकाशत्वं दिवसरात्रेः वा प्रथमत्वम्। कथं चेमौ पक्षौ। को अनयोः पूर्वपक्षः शुक्लः कृष्णो वा॥ </vt:lpstr>
      <vt:lpstr>॥ १२॥ सूर्यचन्द्रमसौ वा कियत्यन्तरेण वा तिष्ठतः पृथिव्या। ग्रहा वा तिष्ठन्ति कथं चैषां ग्रहत्वं शुक्रबृहस्पत्यङ्गारकबुधशनैश्चरादीनां वा। कथं वा अस्तमयन्ति उदयन्ति वा। कथं वा उपहिंसन्ति। कति विधं वा पीडयन्ति आप्यायन्ति वा। कथं वेमे सपृष्टाः किमर्थम्। केव वा शुक्रस्य शुक्रत्वम्। बृहस्पतेः बृहस्पतिता। शनैश्चरस्य शनैश्चरत्वम्। अङ्गारकस्य अङ्गारकत्वम्। बुधस्य बुधत्वं वा। कति च एषाम् एकैकस्य रश्मयः परिसंख्यायन्ते। किं वा वर्णप्रकृतां पुष्यन्ति। रूक्षत्वं स्निग्धत्वं वा। कथं च अन्योन्येन समागच्छन्ति वा कतिविधं वा अन्योन्येन समागच्छन्ति योध्यन्ते कतिविधं च अन्योन्यं घ्नन्ति वा। को वैषां बलवत्तरः॥</vt:lpstr>
      <vt:lpstr>॥ १३॥ कथं वा अयं राहुः सूर्याचन्द्रमसौ गृह्णीते। वर्णत्वात् विदर्शयति को। वैषम्यं कस्य वा कुतो वा गृह्णीते। क्व वा प्रतिवसत्यन्तर्हितः॥ ॥ १४॥ कथं वा इमे धूमकेतवः प्रादुर्भूताः। कतिवा एते परिसंख्यायन्ते। किं चैषां वर्णसङ्ख्यानं शिखापरिमाणं वा। के दृश्यन्ते। के अन्तर्हिताः तिष्ठन्ति वा॥ ॥ १५॥ कथं वेमे मेघाः भवन्ति। कुतो वा जलमानयित्वा वर्षन्ति। कथं वा पतन्ति। कथं वा अन्यत्र वर्षम्। कथं चान्यत्र न आतपं तपति। को वा एतान् अन्तरिक्ष धारयति। कथं वा नानाप्रकाराः वर्ण्याः पुष्यन्ति अभ्राणि। कथं वाप्यशनिः पतति। करका वा वारि वा वर्षन्ति वा। कथं वा धाराः सम्भवन्ति। को वा अत्रहेतुः॥</vt:lpstr>
      <vt:lpstr>॥ १६॥ कथं वा विद्युत् चरति प्रकाशते वा। कुतो वा विद्युत्। किञ्चैतत् शक्रधनुषां रूपवर्णाः सम्भवन्ति। कथं प्रतिसूर्यकोदयते मत्स्योवा अथ ऐरावतो वा। कुतोप्येतत् सर्वं कुरुते। कथं वा इमे मेघाः पूर्वदक्षिणाः दक्षिणपश्चिमाः पश्चिमोत्तराः उत्तरपूर्वाश्चेति दिशः। अथं वा निर्घातो निपतति। निर्घातः कुतः सम्भवति॥ ॥ १७॥ पृथिवीं वेमाः कः चालयति। किमर्थं वा पृथिव्याः कम्पो वा भवति। को वैनां मुञ्चति॥ ॥ १८॥ कथं वा मन्दप्रभाङ्गारिणी वा दूरगतिर्वा। कथं वा सन्ध्या। कस्मात् इमे एकवत्। कथं चेमा दिशो दीप्यन्ते। को वै दीपयति॥</vt:lpstr>
      <vt:lpstr>॥ १९॥ कथं वा सूर्याचन्द्रमसोः ग्रहाणां परिवेषाः॥ ॥ २०॥ कति चैतानि नक्षत्राणी। कथमेषां नक्षत्रत्वम्। कथं वा सोमे समावसन्ति। किं चैषां दैवतप्रयोजनम्॥ ॥ २१॥ कथं वा सोमसंयुतानि कर्मण्यानि भवन्ति। अन्यैर्ग्रहैः संयुक्तानि अकर्मण्यानि। किम् इदाणीं कथं वा दीपयति॥ ॥ २२॥ कथं वा ऋतवः। कति वा शीतोष्णवर्षादयो विकाराः। को वैतत् कुरुते। कथं वाह्नो रात्रेः वा वृद्धिह्रासौ॥ ॥ २३॥ संवत्सरर्तु-पर्वग्रह-नक्षत्र-मुहूर्त-करणानां वा किं प्रमाणम् आदिः वा॥</vt:lpstr>
      <vt:lpstr>॥ २४॥ कथं वेमे सप्तर्षयः पर्यागच्छन्ति भृग्वगस्त्यमृगगव्याधादयश्च॥ ॥ २५॥ कथं वा तारकाः। कति वा। कथं वा तारकाणां तारकत्वम्। परिमाणं कथम्॥ ॥ २६॥ कथं वा चतुष्पात् पक्षिणः कीटपिपीलिकाः॥ ॥ २७॥ कथं वा देव-दैत्य-यक्ष-रक्ष-पितृ-पिशाच-नाग-सुपर्ण-गन्धर्वा-प्सरसश्च॥ ॥ २८॥ किं वा पृथिव्याः परिमाणमन्तरिक्षस्य वा। दिवो वा रात्रेर्वा। समुद्रस्य वा मारुतस्य वा। पञ्च महाभूतानाः वा। आनुपूर्व्या यद्यस्य सत्यानृतलक्षणशः वा। एतत्सर्वम् अशेषतो ब्रुवतु भवान्॥</vt:lpstr>
      <vt:lpstr>॥ २९॥ इति वृद्धगार्गीये महासलिले प्रश्ननिर्देशो नाम अध्यायः॥</vt:lpstr>
      <vt:lpstr>॥ ३०॥ अत ऊर्ध्वं भाष्यं वक्ष्ये॥</vt:lpstr>
      <vt:lpstr>॥ ३१॥ अथ भगवान् अग्नीषोमप्रभावः परमर्षिः अप्रमेयज्ञानः सर्वज्ञः सर्वदर्शी होवाच आनुपूर्व्या पृष्टे गर्गः। प्रश्नमिदं समुद्रमिव दुर्विगाह्यं सकृतात्मना च परमदुर्विज्ञेयम् अभिसमाधाय आत्मानं सम्यगभिनिश्चित्य, भो विश्वामित्र महानयं भवता संशयः प्रोक्तः। सर्वदुर्वचव्यापि सर्वस्यास्य जगतः प्रभवश्च अव्ययस्य चेष्टा च वैतदकृतात्मना अशक्यं प्रष्टुं विज्ञातुं वा। तद्भवानपि मनाक्सर्वमेव यथोद्दिष्टमानुपूर्व्या शृणोतु भवानितः॥</vt:lpstr>
      <vt:lpstr>सृष्टिः</vt:lpstr>
      <vt:lpstr>॥ ३२॥ सलिलमिवासीदन्धे तमसि निरामये लोके तत्राण्डं दिव्यरूपमद्भुतं सम्बभूव। अण्डं महत्प्रमाणमितश्चेतश्च सन्धावति तत्र ब्रह्मा आत्मानमसृजत्। तत्र द्विधा अण्डमभवत्। तस्य च यदधस्तात् कपालं तत् प्रथितम्। तस्य चेयं पृथिवी। यदुपरिष्टात् सा द्यौः। यत्तयोः अन्तरम् एनामपि ईक्ष्यते क्षितिं च अन्तरस्थिताम् अत्र वा क्षीयन्ते सर्व एव भूतग्रामाः इत्येतत् एवमन्तरिक्षम्॥</vt:lpstr>
      <vt:lpstr>PowerPoint Presentation</vt:lpstr>
      <vt:lpstr>॥ ३३॥ सोवाच भूरिति भुवम्। भुवरिति अन्तरिक्षम्। सुवरिति दिवम्। स च पूर्वमेव तेजसा अग्निम् असृजत। ततस्तस्मात् पूर्वं ज्वलितार्चिः जुह्वन् ततो भृगुरजायत। तत्र अङ्गिराः समभवत्। तस्मिन् स्वाहाकारे आङ्गिरसमसृजत। स च पुनः प्रज्वाल्य अग्निं जुहोति। अस्मिन् स्वाहाकारे कश्यपः सोजायत। तत्र अङ्गिराः समभवत्। तस्मिन् स्वाहाकारे वसिष्ठपक्षः अजायत। पञ्चमे स्वाहाकारे गौरजायत। षष्ठे स्वाहाकारे तेजः। सप्तमे स्वाहाकारे वसन्तम् असृजत ब्राह्मणांश्च वक्त्रात्। अष्टमे स्वाहाकारे ग्रीष्ममसृजत राजन्यांश्च दौर्भ्याम्। नवमे स्वाहाकारे वर्षा असृजत तदूरुभ्यां च वैश्यान्। दशमे स्वाहाकारे शरदम् असृजत पादयोश्च शूद्रान्। एकादशे स्वाहाकारे हेमन्तशिशिरौ उभौ सृज्येते॥</vt:lpstr>
      <vt:lpstr>PowerPoint Presentation</vt:lpstr>
      <vt:lpstr>॥ ३४ ॥ त्वग्वाता अजायत। तस्य ललाटे स्वेदः प्रादुरासीत्। तत्र अजुहोत्। तस्मिन् स्वाहाकारे मेषः पशुः अजायत। तस्य रोमाणि उत्पाद्य अजुहोत्। तस्मिन् स्वाहाकारे व्रीहियवादयः ओषध्यो ग्रीष्माणि अक्षुद्राः सवृक्षतृणलताः समभवन्॥ ॥ ३५॥ पञ्चमहाभूतान् असृजदानुपूर्व्यात्। स पूर्वम् आकाशं मारुतं अग्निं आपः पृथिवीं च सम्यगभिविनिश्चित्य चिन्तामापेदे। सृष्टानि एतानि पञ्चमहाभूतानि। परमज्ञान- समन्विताः च सर्व एव प्रजाविशेषाः। प्रजापतिः इदानीं स्रष्टव्य इति॥</vt:lpstr>
      <vt:lpstr>PowerPoint Presentation</vt:lpstr>
      <vt:lpstr>॥ ३६॥ स प्रजापतिरसृजत। प्रचेतसः पुत्रमसृजत् दक्षो नाम। तस्य इदानीं दुहितरः षष्टिरासन्। तासामिमाः प्रजाः स्थावरजङ्गमाः तथा देव-दैत्य-यक्ष-राक्षस-गन्धर्व-किन्नर-महोरग-नाग-सुपर्ण-गन्धर्वाप्सरसश्च सर्वा एव प्रजाविशेषाः, प्राग्विशेषाः, प्राग्वेलाश्च समुद्रानसृजत्। समुद्रवक्ष्येषु भूतानि इति। ॥ ३७॥ समुद्राः सागरक्षीरोदं रत्नकरान् सर्वान् प्रदक्षिणं संसक्तोदांश्चतुर्थं च वालुकासमुद्रम् अम्भसा विवर्जितं, सरितश्च सर्वाः असृजत्, एकोत्तरं नदीसहस्रम्। अशोष्याणां पुण्यानां कल्मषनाशनीनां तासां सरस्वती श्रेष्ठतमा। समुद्राश्च वनानि न परिवर्तितव्यम्, इति सोवाच। पञ्चनद्यः गङ्गा च सप्तधा। विसृष्टैषा सप्तधा॥</vt:lpstr>
      <vt:lpstr>PowerPoint Presentation</vt:lpstr>
      <vt:lpstr>भूगोलः</vt:lpstr>
      <vt:lpstr>॥ ३८॥ षट्कमहापर्वताः हिमवन्तं हेमकूटं माल्यवन्तं नीलं शृङ्गवन्तं गन्धमादनम्। एवमन्यांश्च गिरीन् पर्वतांश्च, भूमेः आवरणार्थम्। येषु मण्डलाः ते अग्निगिरयः। येतु पर्वता अधः ऊर्ध्वम् उत्पतिताः, ते पञ्चता पर्ववन्तो ह्येते। सर्व एव वैते ज्येष्ठाः प्रजापतेः पुत्राः॥ ॥ ३९॥ तेषाम् अन्तरेण द्विपानां पर्वतशतानि। तेषां च पृथिव्याश्च मध्ये मेरुः नाम काञ्चनो गिरिः अजायत। षडशीति योजनसहस्राणि उच्छ्रितः तद्वत् विस्तृतः। तस्य च पूर्वतः प्राग्ज्योतिषो नाम महाद्वीपः। दक्षिणतो जम्बूद्वीपो नाम। पश्चिमतः केतुमाला। उत्तराःकुरव उत्तरतः। सर्वेचैतेमहाद्वीपाः पृथिव्यां परस्परेण गम्याः॥</vt:lpstr>
      <vt:lpstr>PowerPoint Presentation</vt:lpstr>
      <vt:lpstr>॥ ४०॥ बृहत्वात् न हि अन्तरिक्षभूमिभ्यां परिसंख्यानमस्ति। तिर्यगूर्ध्वं वायवादेव हि, ऊर्ध्वं पृथिवी तिर्यक्, तावदेवमन्तरिक्षम्। एतत् वितत अण्डकपालस्य अपायधर्मात् द्वीपाद्योतनकालसिद्ध्यर्थं ब्रह्मज्ञानाम्भसि मनसा सोमार्कौ उत्पादितौ। तौ च प्रदक्षिणम् अनुपर्यागच्छतः। सर्वाणि एव ज्योतींषि असंख्यानि स्वैः स्वैः विमानैः यथासारं वायुवशात् पर्यागच्छन्ति। ॥ ४१॥ कालविभागसिद्ध्यर्थं सर्वांश्चरुतो द्विपान् भावयतः सोमार्कौ अस्तमयतः उदयतो वा मेरुणा तु छन्नौ न प्रकाशेते। ततो रात्रीनाम प्रनष्टार्का मेरुच्छायया भवति॥</vt:lpstr>
      <vt:lpstr>PowerPoint Presentation</vt:lpstr>
      <vt:lpstr>॥ ४२॥ विमुक्तो तु मेरुणा अर्के दिवसो भवति। यच्च रात्र्यह्नोः सन्धिः सा पूर्वा सन्ध्या। यस्तु दिनरात्र्योः सन्धिः सा पश्चिमा। एवं सन्ध्या नाम द्विरात्रिका भवति। एवं च सर्वेषां द्वीपानां पूर्वेण उदयति अर्कः पश्चिमेन अस्तमेति॥ ॥ ४३॥ सर्वेषां द्वीपानाम् उत्तरेण मेरुः। ध्रुवं ज्योतिः अचलं मेरोः मूर्ध्नि प्रतिष्ठितम्। तद्धि ब्रह्मणा पूर्वं संस्थाप्य ध्रुवं यस्मिन् हि एतत् अवसक्तं ज्योतिश्चक्रम् अजस्रं परिवर्तते। तेषां च यत्र उदयते अर्को, सा तेषां पूर्वा दिक्। एवम् उदयास्तमनमध्याह्नरात्राः संविभजते सर्वा पृथिवी॥</vt:lpstr>
      <vt:lpstr>PowerPoint Presentation</vt:lpstr>
      <vt:lpstr>चन्द्रार्कौ ऋतुचक्रञ्च</vt:lpstr>
      <vt:lpstr>॥ ४४॥ सोमार्कौ षडशीतियोजनसहस्राणि एव तपतः पृथिव्याम्। एकैकस्य मण्डलं च अनयोः पृथिवीभावनं सप्तषष्टियोजनविष्कम्भम्। रश्मिसहस्रं सूर्यस्य। द्विगुणं सोमस्य। अग्निरात्मा सूर्यः चन्द्रमा अपात्मा। शीतरश्मिः चन्द्रमाः घर्मरश्मिः आदित्यः। द्विधा चेमाः प्रजाः, सौम्याश्च आग्नेयाश्च स्थावरजङ्गमाश्च। नीचैः चरति आदित्यः, उच्चैः चरति चन्द्रमाः, मण्डलम् अनुपर्यागच्छतः॥</vt:lpstr>
      <vt:lpstr>PowerPoint Presentation</vt:lpstr>
      <vt:lpstr>॥ ४५॥ अत आदित्यः उदितः उत्तरपूर्वतः यदागच्छति चैतावा पूर्वां प्राप्नोति इति अर्थः। प्राचीपूर्वादिशः प्रदक्षिणम् अनुगच्छति इति दक्षिणा। अत्र च अस्तङ्गतः पूर्वा गमिष्यति गच्छति इति वा प्रतीचीदक्षिणा। यां पश्चात्कालं प्राप्नुवन्ति इति पश्चिमा। यां चोत्तराकालं प्राप्नुवन्ति इति उत्तरा। अयनाभ्यां दक्षिणोत्तरे प्रष्टव्ये। एताम् एव च दिगन्तरसर्गयोः विदिश इति उच्यन्ते। तस्मात् पूर्वप्रवर्तनात् पूर्वा यद्दक्षिण्या दक्षिणा पश्चात् गमनात् पश्छिमा इति। उद्गमना च उत्तरा प्रत्येतव्या। आदित्यसम्प्रयोगश्च दिशां विपर्ययशो भवति॥</vt:lpstr>
      <vt:lpstr>PowerPoint Presentation</vt:lpstr>
      <vt:lpstr>॥ ४६॥ आदित्य एव च वनस्पतयः पुष्पापयति फलापयति च सर्वाश्च ओषध्यो वीरुधश्च। गतिविशेषात् तस्य च उत्तरदक्षिणे च अयने भवतः। ते च अनुपरिसरञ्छीतोष्णवर्षादीनि निष्पादयति तान् ऋतूंश्च। एवं हि कालो ज्योतिषाम् आदिमूलश्च। संवत्सर-अयनर्तु-मास-पक्ष-अहोरात्राणि निष्पादयित्वा सर्वेषां च कर्मकालानां कलालवसंज्ञितानां कलनेन च अस्तमनोदयौ कुर्वति इत्यर्थः॥ ॥ ४७॥ कालस्तथा गच्छन् उत्तरम् अयनं, स्वषङ्भिः मासैः यदयं आदत्ते रसांश्च ओषधीनां, तदस्य आदानात् आदित्यत्वम्। तत्र दक्षिणेन गच्छन्यदापः सूते रसांश्च ओषधीनां, तदस्य सवनात् सूर्यत्वम्। तद्गतिविशेषाच्च दक्षिणकाष्ठागतस्य शिशिरो भवति। विप्रकर्षात् अयनमध्यस्थस्य वसन्तः युक्तोष्णशीतः। उत्तरकाष्ठागतस्य आभ्यन्तरपरिसरणात् ग्रीष्मो भवति॥</vt:lpstr>
      <vt:lpstr>PowerPoint Presentation</vt:lpstr>
      <vt:lpstr>॥ ४८॥ यश्च एते त्रिभिः ऋतुभिः तेजः वसुधातलात् आदत्ते भगवान् आदित्यः तैः इत्य दक्षिणायनाग्रेषु मुञ्चति, अथः वर्षाः। शरद्दक्षिणायनमध्ये। हेमन्तो भवति। एवम् आदित्यगतिविशेषात् अयनपरिसरणाच्च कालं ऋतवश्च अभिनिवर्तयंतः॥ ॥ ४९॥ ऋतवश्च ओषध्यः वीरुधश्च पाचयन्ति। ऋतुविशेषाच्च दिनरात्र्योः वृद्धिह्रासौ अभिनिष्पद्यतः। तयोश्च अहः पूर्वं च अहः तत् उत्तरायणं पूर्वपक्षः। पक्षाद्या रात्रिश्च एव रात्रिः। या च रात्रिः तत् दक्षिणायनं कृष्णपक्षश्च। एतयोश्च वर्गयोः पूर्वः दैवः। उत्तरोह्यासुरः, सः पश्चिमः पक्षः॥</vt:lpstr>
      <vt:lpstr>PowerPoint Presentation</vt:lpstr>
      <vt:lpstr>॥ ५०॥ कुरुते शुक्लं कृष्णं वृद्ध्या ह्रसेन हि चन्द्रमाः। तद्देवाः पूर्वपक्षम् ईहन्ते। तस्य एताः पञ्चकलाः पञ्चमीषु उपपीयन्ते। द्वितीयाः पञ्चकलाः दशमीशु उपपीयन्ते। तृतीयाः पञ्चकलाः पञ्चदशीषु उपपीयन्ते। षोडशी अवशिष्यते॥  ॥ ५१॥ ससपूर्णा अवसरति इति पौर्णमासी आस्यात्। तद्देव असुरपक्षे भक्ष्यन्ते। सः भक्ष्यमाणः स्वयोनिवत् शस्य-आप-ओषधि-वनस्पति-ब्राह्मणान् गाश्च, एतेषु वसति। तत् अमावास्याया अमावास्यत्वम्। तस्मात् सन्नय्यने अमावास्यां सन्नयति, सान्नाय्यत्वं भवति। स सन्नातो परे पश्चात् दृश्यते। तद्दर्शस्य दर्शत्वं भवति॥</vt:lpstr>
      <vt:lpstr>PowerPoint Presentation</vt:lpstr>
      <vt:lpstr>॥ ५२॥ मुखमेतत् प्रजापतेः यत् दर्शपौर्णमासम्। एवम् आपूर्यमाणक्षीयमाणश्च सोमः पूर्णतिथिः पौर्णमासं कालो भवति, निवर्तयति। स्वेन मानेन तस्य एव क्षयो वृद्धिश्च अभिनिर्दिश्यते। सौम्यत्वाच्चैष सोमः अत्र वर्धते।  ॥ ५३॥ श्रितः यतः चन्द्रमा लक्ष्मात् शशाङ्कः। यश्च एष तच्छशसंस्थितमक्ष्मो वै चन्द्रसंकुलमध्ये दृश्यते। सा च द्वितीया शुक्लत्वम्। तत् वरुणाश्च आप एतामध्य एषा पृथिव्या कृतं चन्द्रमण्डलमध्ये समाकृतिः॥</vt:lpstr>
      <vt:lpstr>PowerPoint Presentation</vt:lpstr>
      <vt:lpstr>ग्रहाः ज्योतींशि च</vt:lpstr>
      <vt:lpstr>॥ ५४॥ वेदोक्तानां ग्रहाणाम् अष्टशतं संख्यायते। तत्र एकशतं केतूनां पठ्यते। सोमार्कौ पञ्च च ताराग्रहाः, तस्मत् अष्टशता संख्यायते। निग्रहार्थं च ग्रहाः प्रजानां देवैः उत्पादिताः। तेश्च निग्रहार्थम् उत्पन्नाः, तत् ग्रहाणां ग्रहत्वम्॥</vt:lpstr>
      <vt:lpstr>PowerPoint Presentation</vt:lpstr>
      <vt:lpstr>॥ ५५॥ तत्र पञ्च ताराग्रहाणि अभिनिर्दिक्ष्यामः। शुक्रस्त्वेषां प्रथमम्। अथास्य स्युः शुक्लवर्णरश्मयः षोडश। आप्त च वै सूर्याचन्द्रमसोः तिष्ठति। शुक्रः स्वकर्मणा उशनसः पुत्रः प्रादुर्भूतः। शुक्रः प्राग्द्वारश्च एषः क्षत्रियाणां पठ्यते॥  ॥ ५६॥ पुत्रः अङ्गिरसः बृहत् वा अन्यः द्वादशरश्मिः बृहस्पतिः। बृहता तपसा समुद्भूतः इत्यतः बृहस्पतिः। उत्तरद्वारश्च एषः ब्राह्मणानां पठ्यते॥ ॥ ५७॥ प्रजातः ताम्रवर्णः नवरश्मिः अग्निप्रभवो वक्रगतिः अङ्गारक इति। विरोचते इति एषः अङ्गारकः। पश्चात् द्वारः स एव शूद्राणां पठ्यते॥ ॥ ५८॥ सूर्यपुत्रः पञ्चरश्मिः कृष्णवर्णः शनैः चरति इति शनैश्चरः दक्षिणद्वारश्च एषः वैश्यानां पठयते॥ ॥ ५९॥ अथातः पञ्चमं बुधम् अनुव्याख्यास्यामः। सोमपुत्रः सप्तरश्मिः बुधः बोधनः बुद्धिबोधाय इति। पूर्वापूर्वनिवृत्तानि वा कर्माणि इत्यतः बुधः सर्वत्र सर्वद्वारश्च एष येन ग्रहेण सम्पृक्तः भवति तत्कर्म भजते॥ </vt:lpstr>
      <vt:lpstr>PowerPoint Presentation</vt:lpstr>
      <vt:lpstr>॥ ६०॥ अथ अपरः आगन्तुः मृत्युपुत्रः महातमसात्मकः राहुः उग्रंतपः तप्तवान्। तस्मै ब्रह्मा प्रीतः वरदः, चन्द्रादित्यौ ग्रसिष्यसि न त्वेतौ जरयिष्यसि। स वै षण्मास्ये पर्वणि युगपत् उपतिष्ठति। शरीरम् अकृत्वा शिरोवर्णान् विदर्शयन् बहुभिः च वर्णसंस्थानैः ग्रहणमोक्षाभ्यां हिंसति प्रजाः॥ ॥ ६१॥ भीमरूपः उदग्रो ग्रहो धूम्रवर्णः एकशिखः विभावसोः पुत्रः। धूम्रवर्णस्य शिखया च उपधूमयते नक्षत्राणि इति अतः धूमकेतुः। केतुर्हि, वालानां भावाभावम् उपस्थितम् इत्यर्थः॥</vt:lpstr>
      <vt:lpstr>PowerPoint Presentation</vt:lpstr>
      <vt:lpstr>PowerPoint Presentation</vt:lpstr>
      <vt:lpstr>॥ ६२॥ केतवः तेषां च एकोत्तरं शतं परिसंख्यायते। तेषां च मृत्योः पुत्राः षड्विंशः श्वेतवर्णः चतुर्हस्ताः तेषां शिखाः पठ्यन्ते। षोडश अग्निपुत्रा रक्तवर्णाः त्रिहस्ताः तेषां शिखाः पठ्यन्ते। पञ्चविंशति सूर्यपुत्राः कञ्चनाभाः पञ्चहस्यताः तेषां शिखाः पठ्यन्ते। प्राङ्मुखा भूमिपुत्राः त्रयोदश पांसुवर्णाः। प्रजापत्याः सप्त महाशिखाः रक्तवर्णाः। चत्वारः ब्रह्मदण्डपुत्राः नानारूपवर्णाः संस्थानवैकृताः। सर्व एव बहुधाजाताः प्रजायाः विनाशकाले दर्शयन्ति इत्याह गर्गः॥ ॥ ६३॥ एते हि उदय-स्थान-धूपन-संस्पर्शैः नक्षत्राणि उपसृजन्ति। सर्व एव नैऋते सूर्यस्य अभितः चराः। न च एषाम् उदयास्तमनदर्शनानि इत्याह गर्गः॥ भागुरिस्त्वाह मत्तीति।  तत्वं नियतमेतेपि च मेरुं पर्यागच्छन्ति। सूर्यरश्मीन् वहमानाः सूर्यमुक्ताः दृश्यन्ते॥</vt:lpstr>
      <vt:lpstr>PowerPoint Presentation</vt:lpstr>
      <vt:lpstr>PowerPoint Presentation</vt:lpstr>
      <vt:lpstr>॥ ६४॥ नभसि मेरुपरिमाणात् च ऊर्ध्वाधः पञ्चाशद्योजना सूर्यगतिः। सूर्यगत्या च एकपञ्चाशतं सौराङ्गारकबुधकेतवः। ततः चतुःषष्टिभिरूर्ध्वं चन्द्रमा नभसोह्यधः। तस्यापि च परेण पञ्च पञ्चाशतिभिः शुक्रबृहस्पत्योः गतिः। ततः चतुःषष्टिभिः योजनैः ध्रुवं पूर्वं ज्योतिषाम् उपरि प्रतिष्ठितम्। एवं सति नक्षत्रतारागणा यथा सारं स्वैः स्वैः विमानैः पर्यागच्छन्ति वायुवशात् मेरुध्रुवं ज्योतिषाम् अल्पम् अनल्पार्थम्॥</vt:lpstr>
      <vt:lpstr>PowerPoint Presentation</vt:lpstr>
      <vt:lpstr>॥ ६५॥ या च एषा त्रिंशदगस्त्यसप्तर्षिप्रभृतयः, सर्वा एव च ताराः, एतानि सुकृतिनां स्थानानि। स्वमण्डलगुणपरिभोगः तेषां द्योतते य एषा तारा च लक्ष्यते। यथा मण्डलपरिग्रहगुणत्वाच्च ज्योतिषाम् उच्चनीचत्वाच्च अनुबृहन्मध्यमानि तारकप्रमाणानि लक्ष्यन्ते। परिग्रहगुणाच्च यस्य आयतं तावन्मण्डलपरिग्रहः॥ ॥ ६६॥  यथा प्रधानाश्च ज्योतिषां प्रमाणानि वक्ष्यामः। दशयोजनविष्कंभः शुक्रो, नवयोजनो बृहस्पतिः। अष्टयोजनकः अङ्गारकः। सप्तयोजनविष्कंभः शनैश्चरः। बुधः पञ्चयोजनकः॥</vt:lpstr>
      <vt:lpstr>PowerPoint Presentation</vt:lpstr>
      <vt:lpstr>॥ ६७॥ कृत्तिका-स्वाति-श्रवण-अभिजित्‌-वारुण-अगस्त्याः षड्योजनाः। सप्तयोजनाः सप्तर्षयः। रोहिणी-पुनर्वसु-त्वाष्ट्र-श्रविष्ठा-ज्येष्ठा-अहिर्बुध्न्य-ताराः पञ्चयोजनाः। शेषा नक्षत्रताराः चतुर्योजनाः। असङ्ख्याताः ताराः अन्याः। तासां तु काश्चित् अर्धयोजनविस्तीर्णविष्कंभाः। काश्चित् क्रोशद्विक्रोश संचिताः। यासां तु अल्पो मण्डलपरिग्रहः ताः न दृश्यन्ते। न च तासां परिसंख्यानमस्ति॥ ॥ ६८॥ अवपततीनां च आरोहतीनां चक्रवत्वात् पुण्यक्षयात् हि ताराणाम् अनुपतनम्। आरोहणं सुकृतत्वात्। न हि ताराणाम् अन्तोस्ति पततीनाम् आरोहतीनां वा। तस्मान्न तासां परिसंख्यानमस्ति॥</vt:lpstr>
      <vt:lpstr>PowerPoint Presentation</vt:lpstr>
      <vt:lpstr>॥ ६९॥ केतवस्तु अप्रमेयाः प्रमाणतः। शिखा हि तेषां प्राधान्यम्। राहोः वक्त्रसङ्घातः सोमस्य प्रमाणाः। स तु तमसान्वितं न द्योतते॥ ॥ ७०॥ सर्व एव ज्योतिर्गणाःअजस्रं परिवर्तन्ते चक्रवत् प्रदक्षिणम्। दिनवान् अर्कतेजसा न दृश्यते। गत्यन्तरविशेषात् तु सर्वज्योतींषि आदित्यं प्रविशन्ति। भास्करसन्निकृष्टानि च भानुप्रभातिप्रच्छादितानि दृश्यन्ते। विमुक्तानि च आदित्यप्रभाभिः उदितानि इति अभिधीयन्ते॥</vt:lpstr>
      <vt:lpstr>PowerPoint Presentation</vt:lpstr>
      <vt:lpstr>॥ ७१॥ गतिविशेषात् ग्रहाणाम् आदित्यवशाच्च उदयास्तमयप्रवासाः। तथा परस्परसोमनक्षत्रैश्च सह समागमाः। तथा परस्परसव्यप्रादक्षिण्यैकीभावात् आदित्यवशात् एव युध्यन्ते ग्रहाः, परस्परेण च अन्योन्यं घ्नन्ति। जगतः ग्रहनक्षत्रभक्तीनां भावाभावनिदर्शनार्थं सर्व एवैते ग्रहाः परुषाः विवर्णाः प्रध्वस्ताः रूक्षाः विरश्मयः दक्षिणमार्गस्थाः यथा वै नक्षत्रम्। एभिः मर्ममानाः पीड्यन्ते भूतानि, यथाक्षेत्रवर्णाश्रितानि इत्याह गर्गः॥</vt:lpstr>
      <vt:lpstr>PowerPoint Presentation</vt:lpstr>
      <vt:lpstr>जलशास्त्रं भूविज्ञानञ्च</vt:lpstr>
      <vt:lpstr>॥ ७२॥ यथा त्विमे मेघाः प्रादुर्भवन्ति तत्र व्याख्यास्यामः। आकाशात् वायुः प्रादुर्भवति। स वै दिवं च अन्तरिक्षं पृथिवीं च समीरयति। अभ्राणि उद्धरति। तानि प्रर्यमाणानि प्रवर्षन् एषु वर्षमाणेषु इतश्चेतश्च भूतलम् आपः आप्लावयन्ति। ताभिश्च आप्लाविते भूतले बीजानि उप्त्वा पाचयन्ति। तानि पक्वानि यथा आहारं भूतानि अदन्ति। तन्मूलं शुक्रं भवति। तत् प्रजननं काले विसृजति। स वै गर्भो भवति। तन्मूलाः प्रजा इत्याह वसिष्ठः॥ ॥ ७३॥ मारुतः तिर्यग्गतित्वात् हुताशनं उज्ज्वलयति। ऊर्ध्वगतिर्हि अग्निः प्राणिनाम् उपकाराय। उर्ध्वगतित्वात् देवताङ्गहविषा संयुज्य आदित्यं तर्पयति, यदि वा वनसमर्थत्वात् भवति। तस्य प्रज्वलतः ऊर्ध्वधूमात् उत्पततः, स च आन्तरिक्षो वायुः तिर्यग्गतित्वात् श्लीतः क्रियते। तानि अभ्राणि भवन्ति॥</vt:lpstr>
      <vt:lpstr>PowerPoint Presentation</vt:lpstr>
      <vt:lpstr>॥ ७४॥ वायुः एव तिर्यग्गतित्वात् वारयते, तीर्यप्रमाणात् द्विधा वायुः मेघान् नाशयेत्। इति एष कृष्णात्रेयः। पृथिव्यां ह्यूष्मारजश्च मूतः पर्वताच्च उदकं च धूमश्च वातसमीरिताः ऊर्ध्वम् उत्पतन्ति। तैजसत्वाच्च अन्तरिक्षे सूर्यरश्मिभिः सञ्चाल्यमानाः तु आकाशे सङ्घातं गच्छन्ति। तानि अभ्राणि प्रादुर्भवन्ति॥ ॥ ७५॥ वायुना च संवीज्यमानाः प्यायन्ते। तानि अन्तरिक्षम् अवपतन्ति। सूर्यस्त्वेनां रश्मिभिः उदकम् आनयित्वा सर्वतः पूरयति। वायुना संयुक्तैः हिमरश्मिभिः भास्करे अपः ऊर्ध्वम् आरोपयति यथा उत्पलनालेन। ऊर्ध्वं वायुसंयुक्तेन तानि च उदकपूर्णानि सूर्यः रश्मिभिः वारयते तपति च॥</vt:lpstr>
      <vt:lpstr>PowerPoint Presentation</vt:lpstr>
      <vt:lpstr>॥ ७६॥ ज्योतिषां च आपो मैथुनं वायुवशात्। परिसरणगतः आदित्यः शतक्रतुम् आदिशति वर्षेति। शतक्रतुः पर्जन्यम् आदिशति वर्षेति। पर्जन्यः मारुतम् आदिशति वर्षेति। एते हि वृष्टिप्रदातारः सूर्यचन्द्रपर्जन्याः। तानि च मारुतेन प्रेर्यमाणानि धार्यमाणानि च अभ्राणि आविशन्ति। तानि मरुद्भिः आदिष्टानि प्रवर्षन्ति। आपः ह्यन्तरिक्षे सङ्घातः, वायुना भिन्नः गुरुत्वात् द्रवत्वात् च अधः पतन्ति। तत् वर्षम् इति अभिधीयते॥</vt:lpstr>
      <vt:lpstr>PowerPoint Presentation</vt:lpstr>
      <vt:lpstr>॥ ७७॥ यदा तु तत्र अनिलः समेथ्य निर्मथ्यते ततः तानि अभ्राणि सहसा क्षिप्यन्ते। मेघमारुतौ च अन्तरिक्षेण भगवान् आदित्यः रश्मिभिः तिर्यक् प्रणयते। सा विद्युत् संभवति तिर्यक्ताङ्गारिणी च। तासां च निर्मथ्यमानानां महावायुना गर्जतीनां तेजः आपोह्यग्निः स्तनयित्नुः भवति। यदि तु अतिनिर्मथ्यते ततः अशिनः प्रज्वालितो माहेश्वरो भूमौ निपतति इत्याह गर्गः। एवं मेघानां पञ्चेश्वरात्मकः सङ्घातो भवति। पार्थिवशरीरम् आकाशात् मारुतस्त नितात्प्लवते। विद्युदग्नेरद्भ्यश्च उदकं मारुतश्चैव आदित्यरश्मिभिः सम्पृक्तो वर्णान् नानाप्रकारान् निष्पादयते॥</vt:lpstr>
      <vt:lpstr>PowerPoint Presentation</vt:lpstr>
      <vt:lpstr>॥ ७८॥ मारुतवच्च मन्दं शीघ्रं वा वर्षति। तथाप्यभ्रम् अयतीति। यत्रयत्रवता मारुतोपरंस्यति तत्रतत्र वर्षति। यत्र सम्बध्यति तत्र इन्द्रकार्मुकं भवति इत्याह गर्गः। तत् वियदाधारो हि। तदा मत्स्यश्च प्रतिसूर्यकश्च भवति। वायुवशात् एव नानारचनावकीर्यमाणानि अभ्राण्युपशाम्यन्ति। यास्तु सूरसन्निकृष्टाः आपः वायुविशेषान्न पतन्ति, ताः सौर्येण तेजसा अपहन्यन्ते। तेन करकाः सम्भवन्ति। ते निपतन्तो पतन्ति। तेषां तु पतितानां भौमेन तेजसा विलयनं भवति इत्याह गर्गः॥</vt:lpstr>
      <vt:lpstr>PowerPoint Presentation</vt:lpstr>
      <vt:lpstr>॥ ७९॥ बृहस्पतिशुक्रदिवाकराः तु अन्ये एते सर्व एव च ग्रहाः भावाभावं निर्देशतो याति निर्देशति इत्याह गर्हः॥ ॥ ८०॥ संहता मारुताः सर्वतो मुखाः, सर्वासु दिक्षु वान्ति, नीचैः चोच्चैः मन्दं शीघ्रं च। सूर्यरश्मिभिः तु पृच्यमानानि च अत्यन्तर्हिताः धुन्वन्ति स्थावरजङ्गमानि भूतानि। न चैषां शरीराणि दृश्यन्ते। सर्वगतित्वाच्चैते सर्व तुष्ट-इष्टतो निवर्तन्ति॥ ॥ ८१॥ सन्ध्यां पुनः आदित्यो दीपयति। तथा दिशासु दिग्मोहो भवति। नानाप्रकारान् वर्नान् अभ्रांश्च पुष्यन्ति। विकारात् ऐरावतेन्द्रधनुः प्रतिसूर्यकः तु, अभ्राणां च वर्णाकृतिविकाराः सर्वम् आदित्यरश्मिविकारात् भवति। आदित्य-गत्या चैव दिवसस्य रात्रेश्च, अहोरात्रयोः सन्धिः भवति, सा सन्ध्या। तस्मात् सन्ध्या उच्यते॥</vt:lpstr>
      <vt:lpstr>PowerPoint Presentation</vt:lpstr>
      <vt:lpstr>॥ ८२॥ यावान् आदित्यो रात्रौ दिवा वा परिवर्तमानो मेरुं वायुना सह समाविशति, स तावानेव सोग्निं रमति। रश्मिभिः संपीडते रश्मिभूतस्तेजसा सह वायुना प्रधावति। सा उल्का भवति। वायुवशात् प्रधावती महीं वान्तरिक्षे मन्दप्रभावा। तथा अङ्गारिणी दूरशनिः मन्दगतिः वा सर्वभूतानि उपतापयन्ति इति। भावाभावनिदर्शनार्थम् इत्याह गर्गः॥</vt:lpstr>
      <vt:lpstr>PowerPoint Presentation</vt:lpstr>
      <vt:lpstr>॥ ८३॥ पृथिवीमिमां चत्वारः महीधराः स्ववीर्येण पालयन्ति। इन्द्रश्च अग्निश्च वायुश्च अपांपतिरिति भवन्ति। स्थानं भवति इत्याह गर्गः। वसिष्ठस्त्वाह इति हि स्वात्मप्रतिष्ठितत्वात्। प्रतिष्ठितम् आकाशम्। प्रतिष्ठिताः आपः। अप्सु सत्यं च प्रतिष्ठितम्। तेन पृथिवी। नस्यो __* यदा कर्णवायुरना __* पृथिवीं धारयन्ति। सेयमनिलोद्धता कम्पति दर्शनार्थम् इति॥ ॥ ८४॥ यदा अन्तरिक्षे वायुः शीघ्रो प्रतिहतः अनिलः पतत्यधशः निर्घातः भवति इत्याह गर्गः॥ ॥ ८५॥ सूर्याचन्द्रमसोस्त्विमे ग्रहाणां परिवेषाः सर्वे रश्मिविकारात् ह्रस्वाः महान्तो वा खण्डखण्डमण्डलाः शुभाशुभानुलक्षणाः वा लोकं सन्दर्शयन्ति इत्याह गर्गः॥</vt:lpstr>
      <vt:lpstr>PowerPoint Presentation</vt:lpstr>
      <vt:lpstr>नक्षत्राणि</vt:lpstr>
      <vt:lpstr>॥ ८६॥ प्रजापतेः तु दक्षस्य दुहितरः सप्तविंशतिम् अष्टाविंशतिम् अन्ये मन्यन्ते। ताः सर्वाः आवृत्य द्रव्यवत्यः सोमाय प्रयच्छता धर्मं चरस्व सर्वासु संवर्तस्व इति। स तथा इति उवाच, पुत्र इति, परमम् इति, उवाच। सोमः तु आसां इदाणीम् अतीव रोचिष्मती दर्शनीया च सती रोहिणी तस्यां वै रोहिण्यां कामाभिभूतः सोमः रोहिण्याम् एव अवसत् नेतरासु॥ ॥ ८७॥ ततः अन्याः दक्षसुताः सर्वाः समेत्य प्रजापतिशकासम् अगच्छन्। इमाः वै भवता सर्वाः सदृशी भवतः दुहितरः सर्वाश्च आस्म भगवतः सोमाय दत्ताः। सोमः अस्मान्नातिमात्रं बुभूषति। रोहिण्याम् एव वसति। सवै प्रजापतिः अब्रवीत् अयमानयामि सोमम्। स सोममानाय्य भगवानुवाच। शुश्रूषमाणाः सम्यक्सर्वाः इमाः पत्न्यः ब्रुवन्ते नास्मासु सोमः समं वर्तत इति। चन्द्रमा अब्रवीत् सममहं सर्वासु वर्तामि नातिचरामि इति॥</vt:lpstr>
      <vt:lpstr>PowerPoint Presentation</vt:lpstr>
      <vt:lpstr>॥ ८८॥ अथ चन्द्रमसम् उवाच भगवान्प्रजापतिः अनृतवागसीति। तस्मात्त्वां राजयक्ष्मा ग्रहः ग्रहीष्यतीति। रोहिणीं च अब्रुवन् मा अभिचारं वर्तस्व इति भगिन्यः। तस्मात्सोमः राजयक्षमणा गृहीतः। सोमः निरस्रवत् पराभवच्च। सः प्रजापतिं अभ्यवगच्छन् इतोर्ध्वं तानि च ऋक्षाणि नक्षत्रं प्रसीदतु भगवान् विसृष्टवान् अयं इच्छामि इति अब्रवीत्। ततः सपत्न्यः भगवान् स्यात् इति। स सोमः ततः प्रभृति __* सर्वासु वर्तते अहोरात्रम्॥</vt:lpstr>
      <vt:lpstr>PowerPoint Presentation</vt:lpstr>
      <vt:lpstr>॥ ८९॥ सप्तदशकलां प्रजापतिश्च अस्मै वैश्वदेवं चरुं निर्वापयति अमावास्याम्। तेन आप्यायितः सान्नाय्यं दर्शपौर्णमास्यं च अतः कुर्वति। नेत्वेतानि नक्षत्राणि क्षीयन्ते। तेन नक्षत्रं भवति। कर्मविभागं नक्षत्रत्वं भवति। प्रयोजनं च नक्षत्राणाम् अनुव्याख्यास्यामः॥</vt:lpstr>
      <vt:lpstr>PowerPoint Presentation</vt:lpstr>
      <vt:lpstr>॥ ९०॥ दक्षेण हि प्रजापतिना दुहितरः सप्तविंशति नक्षत्राणि सोमाय राज्ञे दत्तानि। स च उक्तः समम् एतासु वर्तितव्यम्। एतासां योगं च जगतो ध्रुव-उग्र-क्षिप्र-साधारण-मृदु-चर-दारुणानां कर्मणां कस्त्वया नक्षत्रयुक्तेन अनुष्ठेयानि निष्पादयितव्याश्च इति। सर्वकर्मणां हि सोमसंयुक्ताक्षत्रं योनिः। सोमयुक्तं च नक्षत्रं कर्मण्यं भवति। सोमयुक्तैश्च नक्षत्रैः जगतः सर्वकर्मणाम् इज्यानां च आरम्भो भविष्यति। ह्येतदर्थं ह्येतो मया दुहितरः तव दत्ताः इति॥ ॥ ९१॥  ततः सोम उवाच। एवम् अस्तु। अथ तु भगवन्नेतास्तव दुहितरः तुल्यदाक्षिण्याः। अहम् अपि च सौम्यत्वात्सोमः। कर्मणां च उग्र-क्षिप्र-ध्रुव-दारुण-मृदु-चर-साधारणानां कर्मकालाः जगतो निवर्तयितव्याः। कथम् अत्र मया अनुष्ठेयम् इति॥</vt:lpstr>
      <vt:lpstr>PowerPoint Presentation</vt:lpstr>
      <vt:lpstr>॥ ९२॥ प्रजापतिः उवाच। विकरणधर्मेण एतासो तृष्य इते काले समुपागच्छन्यस्याः येन विकरणविशेन उपस्थातासीः, स तस्याः दैवतम् इति संज्ञितं भविष्यति। यादृक् दैवतपरिग्रहो भविष्यति तादृशानि कर्माणि भविष्यन्ति। न हि एषां दैवतं गतिश्च। किं तु जगतः कर्मनिष्पादनार्थं नक्षत्रम् उपसर्पस्व इति॥</vt:lpstr>
      <vt:lpstr>PowerPoint Presentation</vt:lpstr>
      <vt:lpstr>॥ ९३॥ एवम् अस्तु इति च उक्त्वा सोमः कृत्तिकासु मध्ये अग्निर्भूत्वा उपतिष्ठति। कृत्तिका अग्निदैवतं कर्म अभिचारं भवति। कृत्तिकाश्च अग्निदैवत्या इति जगति प्रथिता। दैवतसंश्रयात् च आग्नेयानि तीक्ष्णानि च अतः कृत्तिकासु कर्माणि सिद्ध्यन्ति॥ ॥ ९४॥ एवं प्रजापतिः भूत्वा रोहिणीम् उपतस्थे। तस्मात् रोहिणी प्राजापत्या। ध्रुवाणि च अतः रोहिण्यायोगे कर्माणि सिद्ध्यन्ति ध्रुवो हि प्रजापतिः॥ ॥ ९५॥ एवमेव येन येन विकरणविशेषेण सोमो नक्षत्रम् उपस्थितवान् तत्तस्य नक्षत्रस्य दैवतम्। दैवताश्रयाश्च कर्मणां नानाविधाश्च कर्मकालाः निष्पादिताः। एवं कर्मविभागो नाम कर्मता च नक्षत्राणां दैवतप्रयोजनं च॥</vt:lpstr>
      <vt:lpstr>PowerPoint Presentation</vt:lpstr>
      <vt:lpstr>॥ ९६॥ सर्वेषु च एतेषु नक्षत्रेषु स्त्री-पुंसक-लिङ्गानि निपतन्ति। यथा पुष्यः इति पुल्लिङ्ग-नक्षत्रे न पुंसकलिङ्गम्। सर्वाणि एतानि नक्षत्राणि स्त्रियः एव। तु एतानि जगति संज्ञां लभन्ते। सोमदैवतानि सर्वाणि। पतिर्हि दैवतं स्त्रीणां भवति। सोमपत्यश्च एताः यदपि अन्यई ग्रहैः संयुक्तानि अकर्मण्यानि भवति। तद्व्याख्यास्यामः॥ ॥ ९७॥ सोमस्त्वेतानि नक्षत्राणि सोमात्मकत्वात् उपसेव्यमानानि च आप्यायति। योगे घर्मतेजस्त्वादानात् आदित्यो नक्षत्रतेजांसि आदत्ते। तस्मात् आदित्यसंयुक्तं नक्षत्रम् अकर्मण्यं भवति॥</vt:lpstr>
      <vt:lpstr>PowerPoint Presentation</vt:lpstr>
      <vt:lpstr>॥ ९८॥ सर्व एव एते सूर्य-बृहस्पति-अङ्गारक-बुध-शुक्र-शनैश्चर-राहु-केतवो नक्षत्राणाम् उपसर्गात् दैवतोपुष्टाः। एते नक्षत्राणि संस्पर्शोदयास्तमन-स्थान-कोप-मर्दन-धूपनैः उपसृजन्ति। तथा निर्घात-कम्पोल्का-परिवेष-तमांसि शब्द-कम्पन-ताडन-संरोध-वैवर्ण्य-प्रभानाशनैः उपसृजन्ति॥ ॥ ९९॥ नक्षत्रेषु च पीड्यमानेषु नक्षत्रदैवतकर्मजन्मसंश्रितानां कर्मणां वा उपसर्गः भवति। न च एते ग्रहाः नक्षत्रेषु सोमः भवन्ति॥</vt:lpstr>
      <vt:lpstr>PowerPoint Presentation</vt:lpstr>
      <vt:lpstr>॥ १००॥ मार्गगत्या चारविशेषात्तुः यस्य यस्य नक्षत्रस्य यं यं कालम् अभितः तिष्ठन्ति तं तं कालं नक्षत्रम् उपसृजन्ति। स्वकीयैः पूर्वोक्तैः यथा च खल्वर्थापचयः पुरुषापचारनिमित्तं करणम् अपेक्ष्य अपराधानुरूपं तीक्ष्णा दृष्टिः निरीक्षण-अवभर्त्सन-तर्जन-परिवेषण-वध-बन्ध-परिक्लेशन-अर्थहरणैश्चपरुषात् संयोजनां जारयन्ति। तथैव ग्रहाः परिचारक्रुद्धाः सम्यक्प्रवृत्ताः निःप्रतापाः वा श्रितेषु नक्षत्रेषु पीडाम् अनेकाकारविधम् अनुग्रहं वा प्रयुञ्जते॥</vt:lpstr>
      <vt:lpstr>PowerPoint Presentation</vt:lpstr>
      <vt:lpstr>॥ १०१॥ तत्र खलु ग्रहाणां नक्षत्रेषु एकादशविधं पीडास्थानं भवति। तद्यथा। पार्थित-अवेक्षित-प्रयुक्ता-प्रेषिता-द्वारि-उपरि-क्रीडित-आम्रेडित-अपसव्यगमन-आक्रान्त-आहतानि। ज्योतिषां पञ्चविधं तु अनुगृह्णन्ते। ग्रहाः नक्षत्राणि प्रदक्षिणान्तरिताः प्रसीदितानि विमोक्षसम्यगुपस्थानैः च इति। तस्मात् सूर्यनिर्घातादिभिः उपसर्गैः विप्रयुक्ते अशुभगणान्वितेषु सोमसंयुक्तेषु नक्षत्रेषु कर्मारम्भाः न सिध्यन्ति। न ग्रहसंयुक्तेषु कर्मण्यं हि ग्रहादिभिः उपसर्गैः संयुक्तं नक्षत्रं भवति। एवम् एव वा एते बुध-शनैश्चर-अङ्गारक-बृहस्पति-शुक्र-राहुकेतवः वीर्यतः उत्तरोत्तरं बलवत्तराः॥</vt:lpstr>
      <vt:lpstr>PowerPoint Presentation</vt:lpstr>
      <vt:lpstr>॥ १०२॥ सर्वचैषां नक्षत्राणां कर्मसु कृत्तिकाः प्रथमम् आचक्षते। श्रविष्ठा तु संख्यया पूर्वलग्नानाम्। अनुराधा पश्चिमनिघ्नानाम्। रोहिणी सर्वनक्षत्राणाम्। मघा सौर्याणां सौम्यानां च अयननक्षत्राणाम्। सर्वासां च षडशीतीनाम् आदिः श्रविष्ठा। पञ्चवर्षस्य युगस्य आदिः संवत्सरः। वसन्तः ऋतूनाम्। माघो मासानाम्। पक्षाणां शुक्लः। अयनानाम् उत्तरम्। दिवसानां शुक्लप्रतिपत्। मुहूर्तानां रौद्रः। करणानां किंस्तुघ्नः। ग्रहाणां सूर्यः। ताराणां ध्रुवः॥ ॥ १०३॥ कोटिसहस्राणि च दश नित्यता दृश्यन्ते ताराः। चैताः वपुषा संयुक्ताः इति। तारयन्ति वा गगनतलां स्वैः कर्मस्वभावैः लोके इति ताराः॥</vt:lpstr>
      <vt:lpstr>PowerPoint Presentation</vt:lpstr>
      <vt:lpstr>पञ्चाङ्गम्</vt:lpstr>
      <vt:lpstr>॥ १०४॥ त्रयः ऋतवः इत्याह कृष्णात्रेयः। स षड्गर्गः। द्वादश इति नारदः। चतुर्विंशति इत्याह भागुरिः। त्रीणि च शतानि षट्षष्टानि इत्याह क्रोष्टुकिः। सर्वेह्येते ऋतम् ऊचुः। सर्वेह्येते महातपसः॥ ॥ १०५॥ सूर्यस्त्वान्तरं च प्रदक्षिणं भुवनम् उपरिक्रामन्मेरुं प्रदक्षिणं करोति। पर्येति मेरोः हि त्रीणि शिरांसि काञ्चनानि दक्षिणोत्तरमध्यगानि। तान्येतानि परिक्रामन् शीतं चोष्णं च वर्षं च करोति विवस्वान्॥</vt:lpstr>
      <vt:lpstr>PowerPoint Presentation</vt:lpstr>
      <vt:lpstr>॥ १०६॥ संख्याः। यज्ञे संख्यायांपञ्चसंवत्सराः। दश सूर्यायनानि। चतुस्त्रिंशच्चान्द्रायणशतं भवति। षण्मासात् सविता उद्गच्छति। षण्मासान् दक्षिणतः उदगयनं देवानां पुण्यम्। दक्षिणायनम् असुराणाम्। तस्मात् उदगयनस्थे सवितरि ब्रह्मक्षत्रस्य सर्वासाम् ईज्यानाम् आरम्भो भवति इत्याहुः वेदावेदविदः च सर्वे॥</vt:lpstr>
      <vt:lpstr>PowerPoint Presentation</vt:lpstr>
      <vt:lpstr>पञ्चाङ्गम्</vt:lpstr>
      <vt:lpstr>तिथिः</vt:lpstr>
      <vt:lpstr>करणम्</vt:lpstr>
      <vt:lpstr>॥ १०७॥ इत्येतत् ज्योतिषाङ्गं महता सलिलार्णवादि प्रजासंभवनात् इति। अतः अस्य शास्त्रस्य महत्सलिलम् एतत् हि पुण्यं यशस्यम् आयुष्यं कल्मषनाशनं सर्वसंशयानां व्याकरणम्। नापुत्राय प्रदेयम्। एतत् विज्ञानपरमम्। इति॥</vt:lpstr>
      <vt:lpstr>॥ १०८॥ वृद्धगार्गीये ज्योतिषे सलिलं नामाध्यायः॥</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Deepti Hariharan</dc:creator>
  <cp:lastModifiedBy>Deepti Hariharan</cp:lastModifiedBy>
  <cp:revision>1086</cp:revision>
  <dcterms:created xsi:type="dcterms:W3CDTF">2025-02-26T12:37:38Z</dcterms:created>
  <dcterms:modified xsi:type="dcterms:W3CDTF">2025-04-05T13:06:07Z</dcterms:modified>
</cp:coreProperties>
</file>